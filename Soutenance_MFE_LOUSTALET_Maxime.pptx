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 – ACCROCHE / 45s] Bonjour à toutes et à tous. Madame, Monsieur les membres du jury, je vous remercie de votre présence. Je m'appelle Maxime Loustalet et je vais vous présenter mon mémoire de fin d'études, réalisé sous la direction de Victor Combes.</a:t>
            </a:r>
          </a:p>
          <a:p/>
          <a:p>
            <a:r>
              <a:t>Ce travail porte sur l'intégration de l'intelligence artificielle dans les PME : entre opportunités perçues et freins organisationnels. Je l'ai construit à partir d'un cas concret, celui d'Arla Groupe, la PME du bâtiment dans laquelle j'effectue mon alternance.</a:t>
            </a:r>
          </a:p>
          <a:p/>
          <a:p>
            <a:r>
              <a:t>CONSEIL : restez debout, souriez, regardez le jury, ne lisez pas la diapo. Annoncez la durée : « Ma présentation durera une vingtaine de minutes, je resterai ensuite à votre disposition pour vos questions. »</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[0:45 – PLAN / 45s] Ma présentation suivra six temps.</a:t>
            </a:r>
          </a:p>
          <a:p/>
          <a:p>
            <a:r>
              <a:t>1) Je poserai le CONTEXTE et la problématique. 2) J'exposerai le CADRE THÉORIQUE et les propositions qui en découlent. 3) Je présenterai ma MÉTHODOLOGIE empirique. 4) J'analyserai les RÉSULTATS autour de mes trois questions de recherche. 5) J'en tirerai les APPORTS scientifiques et mes PRÉCONISATIONS managériales. 6) Je conclurai sur l'apport professionnel, les limites et les perspectives.</a:t>
            </a:r>
          </a:p>
          <a:p/>
          <a:p>
            <a:r>
              <a:t>ASTUCE : ce plan sert de « carte » — le jury doit savoir où vous l'emmenez. Ne vous y attardez pas.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[1:30 – TRANSITION / 10s] Commençons par le contexte et la problématique.</a:t>
            </a:r>
          </a:p>
          <a:p/>
          <a:p>
            <a:r>
              <a:t>Les diapositives de section servent de respiration : annoncez simplement « Premier temps : le contexte et la problématique » et enchaînez.</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[1:40 – CONTEXTE / 1min30] Pourquoi ce sujet, et pourquoi maintenant ?</a:t>
            </a:r>
          </a:p>
          <a:p/>
          <a:p>
            <a:r>
              <a:t>D'un côté, nous vivons une bascule technologique inédite. L'IA générative — ChatGPT, Copilot, Gamma — est entrée dans le quotidien de travail en moins de deux ans. Elle s'inscrit dans le mouvement de l'Industrie 4.0, dans la continuité des révolutions industrielles. Les chiffres donnent le vertige : selon Rouas et Al Meriouh (2025), d'ici 2030 l'IA pourrait peser près de 14 % du PIB mondial, environ 15 000 milliards de dollars. C'est devenu un levier stratégique de productivité et de compétitivité.</a:t>
            </a:r>
          </a:p>
          <a:p/>
          <a:p>
            <a:r>
              <a:t>MAIS — et c'est là mon angle — la PME est un cas particulier. Elle représente près de 90 % des entreprises dans le monde et reste le moteur de l'emploi et des territoires. Or elle dispose de ressources limitées, son dirigeant est au cœur des décisions, sa structure est souple, et elle est fortement marquée par ses traditions et sa culture. L'IA y arrive donc dans des conditions très différentes de celles d'un grand groupe.</a:t>
            </a:r>
          </a:p>
          <a:p/>
          <a:p>
            <a:r>
              <a:t>C'est cette TENSION — opportunités perçues d'un côté, freins organisationnels de l'autre — qui fonde mon travail.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[3:10 – TERRAIN + PROBLÉMATIQUE / 1min30] Mon terrain, c'est Arla Groupe, une PME du bâtiment : maçonnerie, construction métallique, bureau d'études. On y trouve des métiers très variés — des dirigeants, des métreurs-deviseurs, des conducteurs de travaux, des commerciaux, des RH, et des équipes de terrain.</a:t>
            </a:r>
          </a:p>
          <a:p/>
          <a:p>
            <a:r>
              <a:t>Le point de départ est un constat concret : plusieurs salariés utilisent DÉJÀ l'IA — ChatGPT, Copilot, Gamma — dans leurs missions. Mais cet usage est individuel, spontané, non encadré et non partagé. Chacun fait « dans son coin ».</a:t>
            </a:r>
          </a:p>
          <a:p/>
          <a:p>
            <a:r>
              <a:t>De ce constat découle ma problématique [la lire lentement, en la montrant] : « Comment les PME peuvent-elles intégrer l'IA et les technologies numériques tout en tenant compte de leurs ressources limitées, de leur structure organisationnelle et de leur culture d'entreprise ? »</a:t>
            </a:r>
          </a:p>
          <a:p/>
          <a:p>
            <a:r>
              <a:t>Pour y répondre, je l'ai déclinée en TROIS questions de recherche : la perception de l'IA, les freins rencontrés, et le rôle des spécificités propres aux PME.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[4:40 – TRANSITION / 10s] J'en viens à mon cadre théorique, en deux volets : d'abord la PME comme objet organisationnel, ensuite l'IA comme levier et défi. J'en tirerai des propositions de recherche.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[4:50 – CADRE PME / 2min] Premier volet : qu'est-ce qu'une PME, du point de vue organisationnel ?</a:t>
            </a:r>
          </a:p>
          <a:p/>
          <a:p>
            <a:r>
              <a:t>Sur le plan de la DÉFINITION, on retient les critères européens rappelés par Oriot et Misiaszek (2012) : moins de 250 salariés, un chiffre d'affaires sous 50 millions d'euros. Mais au-delà des chiffres, Nassou et Bennani (2024) montrent que la PME a une structure simple, peu formalisée.</a:t>
            </a:r>
          </a:p>
          <a:p/>
          <a:p>
            <a:r>
              <a:t>Deuxième idée forte : la PROXIMITÉ. Le dirigeant est impliqué dans le quotidien, les décisions sont rapides et centralisées. Torrès (1999) parle de « proximité organisationnelle » : c'est un atout relationnel majeur, une caractéristique qui définit la PME.</a:t>
            </a:r>
          </a:p>
          <a:p/>
          <a:p>
            <a:r>
              <a:t>Troisième idée : la CULTURE et les TRADITIONS. Schein (2015) définit la culture comme un ensemble de valeurs partagées qui orientent les décisions et la manière de faire face au changement. Et dans les métiers artisanaux, Blanchard et Albert-Cromarias (2022) distinguent l'artisan « de métier », attaché à son savoir-faire, et l'artisan « entrepreneurial », tourné vers la gestion et la croissance.</a:t>
            </a:r>
          </a:p>
          <a:p/>
          <a:p>
            <a:r>
              <a:t>J'en tire une première PROPOSITION : ces spécificités — dirigeant, proximité, traditions — façonnent la façon dont la PME accueille ou freine une innovation comme l'IA.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[6:50 – CADRE IA / 2min] Deuxième volet : l'IA elle-même, telle que la traite la littérature. Elle a deux visages.</a:t>
            </a:r>
          </a:p>
          <a:p/>
          <a:p>
            <a:r>
              <a:t>Côté OPPORTUNITÉS : Radoui et Cherradi (2025) montrent que la transformation digitale améliore la performance organisationnelle sur les plans financier, économique et social. Bennour et Oukassi (2025) insistent sur l'analyse prédictive et l'agilité : anticiper la demande, ajuster la stratégie. Et bien sûr l'automatisation des tâches répétitives à faible valeur ajoutée.</a:t>
            </a:r>
          </a:p>
          <a:p/>
          <a:p>
            <a:r>
              <a:t>Côté FREINS et MENACES : Kokina et al. (2025) et Duarte (2025) pointent la qualité des données, le manque de compétences et la difficulté d'intégration au système d'information existant. S'y ajoutent des enjeux éthiques — biais, opacité des algorithmes, confidentialité. Et une analyse que je trouve particulièrement fine, celle de Soro Torna (2024) : le vrai risque de l'IA serait humain — dépendance cognitive, perte d'autonomie. L'IA agirait comme un « amplificateur des vulnérabilités humaines ».</a:t>
            </a:r>
          </a:p>
          <a:p/>
          <a:p>
            <a:r>
              <a:t>D'où ma deuxième PROPOSITION : l'adoption de l'IA ne se joue pas que sur la technologie, mais autant sur des facteurs humains, organisationnels et culturels. C'est exactement ce que mon étude va tester sur le terrain.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[8:50 – SYNTHÈSE / 1min] En synthèse, la littérature dessine une DOUBLE dynamique.</a:t>
            </a:r>
          </a:p>
          <a:p/>
          <a:p>
            <a:r>
              <a:t>D'un côté, la PME a des LEVIERS : sa flexibilité, sa proximité relationnelle, sa réactivité, un dirigeant qui peut jouer un rôle moteur. De l'autre, des FREINS : des ressources limitées, un déficit de compétences, le poids des traditions, et souvent l'absence d'un cadre commun.</a:t>
            </a:r>
          </a:p>
          <a:p/>
          <a:p>
            <a:r>
              <a:t>De cette tension, je tire trois PROPOSITIONS, une par question de recherche. Pour la QR1, je fais l'hypothèse que la perception de l'IA dépend surtout du métier et de l'usage réel, pas seulement de l'âge. Pour la QR2, que les freins sont pluriels et varient selon les profils. Pour la QR3, que les spécificités de la PME — dirigeant, proximité, traditions — conditionnent l'adoption.</a:t>
            </a:r>
          </a:p>
          <a:p/>
          <a:p>
            <a:r>
              <a:t>Ce sont ces trois propositions que mon étude de terrain va confronter à la réalité.</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[9:50 – TRANSITION / 10s] Voyons maintenant comment j'ai construit mon étude de terrain.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[10:00 – MÉTHODOLOGIE / 2min] J'ai choisi une approche QUALITATIVE EXPLORATOIRE. Pourquoi ? Parce que ma problématique porte sur des perceptions, des freins, des dynamiques humaines. Comme le dit Jando (2024), le qualitatif permet d'explorer le « pourquoi » et le « comment » des comportements — ce qu'aucun chiffre ne donne.</a:t>
            </a:r>
          </a:p>
          <a:p/>
          <a:p>
            <a:r>
              <a:t>Concrètement : j'ai mené 8 entretiens semi-directifs, avec une trame de 10 questions ouvertes, tous enregistrés. J'ai ensuite transcrit — environ 5 heures de travail — puis extrait les verbatims les plus significatifs pour les confronter à mes trois questions de recherche.</a:t>
            </a:r>
          </a:p>
          <a:p/>
          <a:p>
            <a:r>
              <a:t>Le point clé, c'est l'ÉCHANTILLONNAGE RAISONNÉ. J'ai croisé deux dimensions. D'abord trois familles de profils : les dirigeants pour la vision stratégique ; le bureau — commercial, administratif, RH — pour l'usage concret ; et le terrain — chefs d'équipe, ouvriers — pour les métiers les moins digitalisés. Ensuite trois tranches d'âge, pour capter d'éventuelles différences générationnelles.</a:t>
            </a:r>
          </a:p>
          <a:p/>
          <a:p>
            <a:r>
              <a:t>FORCES : on recueille un avis « à chaud », en profondeur. LIMITES, que j'assume : échantillon restreint, une seule entreprise, résultats non généralisables et une part de subjectivité. J'y reviendrai en conclusion.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[12:00 – TRANSITION / 10s] J'en arrive au cœur de mon travail : les résultats, question de recherche par question de recherche, en dialogue constant avec la littérature.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[12:10 – QR1 PERCEPTION / 2min] Première question : comment les salariés perçoivent-ils l'IA ?</a:t>
            </a:r>
          </a:p>
          <a:p/>
          <a:p>
            <a:r>
              <a:t>Le résultat clé : la perception est globalement POSITIVE, mais l'usage reste isolé.</a:t>
            </a:r>
          </a:p>
          <a:p/>
          <a:p>
            <a:r>
              <a:t>Premier point, unanime : le GAIN DE TEMPS. Tous ceux qui l'utilisent y voient un moyen de se recentrer sur les tâches à valeur ajoutée. La directrice commerciale parle d'« arrêter de faire de la bureautique basique ». Cela valide directement Bennour et Oukassi (2025).</a:t>
            </a:r>
          </a:p>
          <a:p/>
          <a:p>
            <a:r>
              <a:t>Deuxième point, plus surprenant : les non-utilisateurs — un ouvrier de 57 ans, un dirigeant de 63 ans — ne REJETTENT pas l'IA. Ils disent ne pas la connaître, ne pas en voir l'utilité dans leur métier. Ce n'est pas de l'hostilité.</a:t>
            </a:r>
          </a:p>
          <a:p/>
          <a:p>
            <a:r>
              <a:t>Troisième point : la vraie ligne de partage, c'est le MÉTIER. Le travail de bureau est automatisable, le terrain beaucoup moins — je cite l'ouvrier : « le béton ne se verse pas de lui-même ».</a:t>
            </a:r>
          </a:p>
          <a:p/>
          <a:p>
            <a:r>
              <a:t>Quatrième point : l'âge joue, mais ne suffit pas. Un cadre observe que « certains jeunes restent très attachés à leurs habitudes ». Cela nuance la lecture purement générationnelle.</a:t>
            </a:r>
          </a:p>
          <a:p/>
          <a:p>
            <a:r>
              <a:t>Enfin, l'usage est INDIVIDUEL et non concerté : chacun utilise son outil sans savoir jusqu'où il a le droit — « c'est une affaire personnelle ». C'est exactement le déficit de structure collective décrit par Kokina et al. (2025). Ma première proposition est donc confirmée, avec une nuance : le métier compte encore plus que l'âge.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[14:10 – QR2 FREINS / 2min] Deuxième question : quels sont les freins ?</a:t>
            </a:r>
          </a:p>
          <a:p/>
          <a:p>
            <a:r>
              <a:t>Le résultat le plus marquant, c'est que le frein PRIORITAIRE n'est pas le même selon les profils — là où la littérature a tendance à homogénéiser les obstacles.</a:t>
            </a:r>
          </a:p>
          <a:p/>
          <a:p>
            <a:r>
              <a:t>Deux freins sont toutefois PARTAGÉS par tous : le besoin de formation et d'accompagnement — unanime, y compris chez ceux qui n'utilisent pas l'IA — et la contrainte financière, qu'il s'agisse des licences ou des développements sur mesure. Cela confirme Kokina et al. (2025) et Duarte (2025) sur le déficit de compétences.</a:t>
            </a:r>
          </a:p>
          <a:p/>
          <a:p>
            <a:r>
              <a:t>Ensuite, chaque profil a SON frein prioritaire : pour la RH, c'est l'appréhension psychologique, « la peur de ne pas être capable de maîtriser » ; pour l'assistant achat, le manque d'esprit critique face aux réponses chiffrées ; pour le conducteur de travaux, la confidentialité des données chantier.</a:t>
            </a:r>
          </a:p>
          <a:p/>
          <a:p>
            <a:r>
              <a:t>Un frein m'a particulièrement marqué car il est ABSENT de la littérature que j'ai mobilisée : le métreur-deviseur redoute une PERTE DE COMPÉTENCES à force de trop déléguer à l'IA. J'y reviendrai dans mes apports.</a:t>
            </a:r>
          </a:p>
          <a:p/>
          <a:p>
            <a:r>
              <a:t>La résistance au changement existe — « 40 ans qu'on travaille d'une certaine façon » — et renvoie à l'ancrage décrit par Schein (2015). Mais attention : ce n'est pas un rejet idéologique, c'est une vigilance professionnelle.</a:t>
            </a:r>
          </a:p>
          <a:p/>
          <a:p>
            <a:r>
              <a:t>Enfin, le frein le plus STRUCTUREL — l'absence de politique commune — est aussi le plus facile à lever. C'est le point de départ de mes préconisations.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[16:10 – QR3 SPÉCIFICITÉS PME / 2min] Troisième question : en quoi les spécificités de la PME jouent-elles ?</a:t>
            </a:r>
          </a:p>
          <a:p/>
          <a:p>
            <a:r>
              <a:t>Le résultat le plus net de toute mon étude : le RÔLE DU DIRIGEANT. Sur 8 entretiens, 8 le citent comme facteur déterminant — y compris un ouvrier non impliqué dans la stratégie. Le dirigeant lui-même le reconnaît : « si les dirigeants ne sont pas convaincus, le changement sera beaucoup plus lent. » Et un enseignement fort : un seul leader moteur peut suffire à enclencher la dynamique. Cela valide Nassou et Bennani (2024) et Torrès (1999).</a:t>
            </a:r>
          </a:p>
          <a:p/>
          <a:p>
            <a:r>
              <a:t>La PROXIMITÉ organisationnelle de Torrès joue double jeu : elle diffuse les bonnes pratiques par compagnonnage, mais elle peut aussi propager les résistances si un profil influent freine.</a:t>
            </a:r>
          </a:p>
          <a:p/>
          <a:p>
            <a:r>
              <a:t>La contrainte FINANCIÈRE est réelle mais différenciée : gérable pour les outils grand public — ChatGPT gratuit, Copilot dans le Pack Office — bloquante pour le sur-mesure. Un commercial du CODIR ajoute une dimension que je n'ai trouvée nulle part dans la littérature : le risque CONCURRENTIEL pour les PME qui n'investiraient pas.</a:t>
            </a:r>
          </a:p>
          <a:p/>
          <a:p>
            <a:r>
              <a:t>J'ai aussi observé une tension entre logique TOP-DOWN et aspiration PARTICIPATIVE : un salarié parle d'un « référendum, tous ensemble ». Dans une PME à équipes jeunes, l'autorité seule ne suffit pas.</a:t>
            </a:r>
          </a:p>
          <a:p/>
          <a:p>
            <a:r>
              <a:t>Enfin, sur les TRADITIONS : personne ne rejette l'IA au nom du métier. Elles sont le contexte de l'adoption, pas un mur. Je propose de parler d'« adoption sélective », ce qui complète Blanchard et Albert-Cromarias (2022).</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[18:10 – APPORTS SCIENTIFIQUES / 1min30] Au-delà de la confirmation de mes propositions, mon terrain a fait émerger CINQ résultats que le modèle théorique n'anticipait pas — c'est la contribution originale de mon travail.</a:t>
            </a:r>
          </a:p>
          <a:p/>
          <a:p>
            <a:r>
              <a:t>Un : la distance des non-utilisateurs est une VIGILANCE professionnelle temporaire, pas un refus. Deux : un SEUL dirigeant moteur suffit à lancer la dynamique — inutile de convaincre tout le monde d'emblée. Trois : un frein peu documenté, la peur d'une PERTE DE COMPÉTENCES par sur-délégation à l'IA. Quatre : une dimension CONCURRENTIELLE — ne pas investir devient un désavantage compétitif. Cinq : la tradition n'est pas un obstacle mais un CADRE — je parle d'« adoption sélective », métier par métier.</a:t>
            </a:r>
          </a:p>
          <a:p/>
          <a:p>
            <a:r>
              <a:t>Ce sont ces apports qui justifient l'intérêt scientifique du mémoire, et ils débouchent directement sur mes recommandations.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[19:40 – TRANSITION / 10s] Ces résultats m'ont permis de formuler trois préconisations concrètes, directement actionnables par la direction d'Arla Groupe.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[19:50 – PRÉCONISATIONS / 2min] Mes trois préconisations répondent chacune à un frein identifié sur le terrain.</a:t>
            </a:r>
          </a:p>
          <a:p/>
          <a:p>
            <a:r>
              <a:t>PRÉCONISATION 1 : structurer une politique commune, pilotée par un référent IA interne. Concrètement : choisir un ou deux outils communs à tous, nommer un coordinateur — l'informaticien récemment recruté, cité par plusieurs salariés — et définir des règles claires de confidentialité. Cela répond au frein structurel : l'absence de cadre commun.</a:t>
            </a:r>
          </a:p>
          <a:p/>
          <a:p>
            <a:r>
              <a:t>PRÉCONISATION 2 : une formation DIFFÉRENCIÉE, fondée sur deux exigences remontées du terrain : d'abord démontrer des gains rapides et concrets — les « quick wins » propres à chaque métier — ensuite s'appuyer sur le compagnonnage : identifier les collaborateurs à l'aise, en faire des AMBASSADEURS. C'est peu coûteux et adapté à une PME. Cela répond au frein de la formation et des compétences.</a:t>
            </a:r>
          </a:p>
          <a:p/>
          <a:p>
            <a:r>
              <a:t>PRÉCONISATION 3 : une démarche PARTICIPATIVE. La direction impulse une vision claire — pourquoi l'IA, pour quels objectifs, à quel rythme — mais co-construit avec les équipes, en ouvrant un espace de dialogue qui respecte les identités métier. Cela résout la tension entre top-down et adhésion.</a:t>
            </a:r>
          </a:p>
          <a:p/>
          <a:p>
            <a:r>
              <a:t>Ces trois leviers forment un plan cohérent, réaliste, à la portée d'une PME comme Arla Groupe.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[21:50 – APPORT PROFESSIONNEL / 1min] Je voudrais insister sur ce que ce mémoire m'apporte, personnellement et professionnellement — car c'est un critère d'évaluation à part entière.</a:t>
            </a:r>
          </a:p>
          <a:p/>
          <a:p>
            <a:r>
              <a:t>D'abord, une vraie posture de CONDUITE DU CHANGEMENT : j'ai compris qu'une technologie ne s'impose pas, elle s'accompagne, s'explique, se co-construit. Ensuite, des compétences d'ANALYSE : conduire des entretiens, écouter vraiment, structurer des verbatims, faire dialoguer la théorie et le terrain.</a:t>
            </a:r>
          </a:p>
          <a:p/>
          <a:p>
            <a:r>
              <a:t>Surtout, ce travail débouche sur un LIVRABLE directement actionnable : mes trois préconisations, je peux les porter concrètement chez Arla Groupe, où je suis en alternance. Enfin, il me donne une vision stratégique du numérique qui nourrit mon projet professionnel : accompagner la transformation digitale des organisations.</a:t>
            </a:r>
          </a:p>
          <a:p/>
          <a:p>
            <a:r>
              <a:t>Ce mémoire n'est donc pas un exercice théorique : c'est un outil que je vais réellement utiliser.</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[22:50 – CONCLUSION / 1min30] Pour conclure, je reviens à ma problématique.</a:t>
            </a:r>
          </a:p>
          <a:p/>
          <a:p>
            <a:r>
              <a:t>LA RÉPONSE : l'adoption de l'IA dans une PME dépend autant de facteurs HUMAINS qu'ORGANISATIONNELS. Et surtout, les spécificités de la PME — le rôle du dirigeant, la proximité, les traditions — ne sont pas un frein insurmontable : ce sont le CADRE dont il faut tenir compte pour réussir l'intégration.</a:t>
            </a:r>
          </a:p>
          <a:p/>
          <a:p>
            <a:r>
              <a:t>Quatre FACTEURS CLÉS ressortent : le rôle du dirigeant, la proximité entre salariés, les contraintes financières et la force des identités professionnelles.</a:t>
            </a:r>
          </a:p>
          <a:p/>
          <a:p>
            <a:r>
              <a:t>Je reste lucide sur les LIMITES : 8 entretiens, une seule entreprise, des résultats non généralisables, une part de subjectivité, et une photographie à un instant donné.</a:t>
            </a:r>
          </a:p>
          <a:p/>
          <a:p>
            <a:r>
              <a:t>D'où mon OUVERTURE : prolonger ce travail par une étude QUANTITATIVE auprès de l'ensemble des salariés d'Arla Groupe, pour hiérarchiser les freins et prioriser les préconisations selon les besoins réels de l'entreprise.</a:t>
            </a:r>
          </a:p>
          <a:p/>
          <a:p>
            <a:r>
              <a:t>Je vous remercie de votre attention.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[24:20 – CLÔTURE] « Je vous remercie de votre attention et je suis à votre disposition pour vos questions. »</a:t>
            </a:r>
          </a:p>
          <a:p/>
          <a:p>
            <a:r>
              <a:t>CONSEIL FINAL : marquez un temps d'arrêt, souriez, et laissez le jury ouvrir l'échange. Gardez en tête les questions probables : Pourquoi le qualitatif et pas le quantitatif ? Comment garantir l'objectivité avec 8 entretiens ? Vos préconisations sont-elles chiffrées / calendairisées ? Le ROI de l'IA pour Arla ? Le RGPD et la confidentialité des données chantier ? Comment gérez-vous votre propre position d'alternant (biais d'implication) ? Restez calme, reformulez la question, appuyez-vous sur vos verbatims.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56032"/>
          </a:xfrm>
          <a:prstGeom prst="rect">
            <a:avLst/>
          </a:prstGeom>
          <a:solidFill>
            <a:srgbClr val="E4A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989320"/>
            <a:ext cx="12191695" cy="868680"/>
          </a:xfrm>
          <a:prstGeom prst="rect">
            <a:avLst/>
          </a:prstGeom>
          <a:solidFill>
            <a:srgbClr val="16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5989320"/>
            <a:ext cx="12191695" cy="45720"/>
          </a:xfrm>
          <a:prstGeom prst="rect">
            <a:avLst/>
          </a:prstGeom>
          <a:solidFill>
            <a:srgbClr val="E4A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784080" y="1097280"/>
            <a:ext cx="2011680" cy="45720"/>
          </a:xfrm>
          <a:prstGeom prst="rect">
            <a:avLst/>
          </a:prstGeom>
          <a:solidFill>
            <a:srgbClr val="2E6E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051560"/>
            <a:ext cx="10515600" cy="457200"/>
          </a:xfrm>
          <a:prstGeom prst="rect">
            <a:avLst/>
          </a:prstGeom>
          <a:noFill/>
        </p:spPr>
        <p:txBody>
          <a:bodyPr wrap="square" anchor="t" lIns="0" rIns="0" tIns="0" bIns="0">
            <a:spAutoFit/>
          </a:bodyPr>
          <a:lstStyle/>
          <a:p>
            <a:pPr algn="l">
              <a:lnSpc>
                <a:spcPct val="100000"/>
              </a:lnSpc>
              <a:spcBef>
                <a:spcPts val="0"/>
              </a:spcBef>
              <a:spcAft>
                <a:spcPts val="0"/>
              </a:spcAft>
            </a:pPr>
            <a:r>
              <a:rPr sz="1350" b="1" i="0">
                <a:solidFill>
                  <a:srgbClr val="E4A11B"/>
                </a:solidFill>
                <a:latin typeface="Calibri"/>
              </a:rPr>
              <a:t>SOUTENANCE DE MÉMOIRE DE FIN D'ÉTUDES  ·  MASTER 2</a:t>
            </a:r>
          </a:p>
        </p:txBody>
      </p:sp>
      <p:sp>
        <p:nvSpPr>
          <p:cNvPr id="8" name="TextBox 7"/>
          <p:cNvSpPr txBox="1"/>
          <p:nvPr/>
        </p:nvSpPr>
        <p:spPr>
          <a:xfrm>
            <a:off x="822960" y="1783080"/>
            <a:ext cx="10607040" cy="2103120"/>
          </a:xfrm>
          <a:prstGeom prst="rect">
            <a:avLst/>
          </a:prstGeom>
          <a:noFill/>
        </p:spPr>
        <p:txBody>
          <a:bodyPr wrap="square" anchor="t" lIns="0" rIns="0" tIns="0" bIns="0">
            <a:spAutoFit/>
          </a:bodyPr>
          <a:lstStyle/>
          <a:p>
            <a:pPr algn="l">
              <a:lnSpc>
                <a:spcPct val="100000"/>
              </a:lnSpc>
              <a:spcBef>
                <a:spcPts val="0"/>
              </a:spcBef>
              <a:spcAft>
                <a:spcPts val="200"/>
              </a:spcAft>
            </a:pPr>
            <a:r>
              <a:rPr sz="4100" b="1" i="0">
                <a:solidFill>
                  <a:srgbClr val="FFFFFF"/>
                </a:solidFill>
                <a:latin typeface="Calibri"/>
              </a:rPr>
              <a:t>L'intégration de l'intelligence</a:t>
            </a:r>
          </a:p>
          <a:p>
            <a:pPr algn="l">
              <a:lnSpc>
                <a:spcPct val="100000"/>
              </a:lnSpc>
              <a:spcBef>
                <a:spcPts val="0"/>
              </a:spcBef>
              <a:spcAft>
                <a:spcPts val="200"/>
              </a:spcAft>
            </a:pPr>
            <a:r>
              <a:rPr sz="4100" b="1" i="0">
                <a:solidFill>
                  <a:srgbClr val="FFFFFF"/>
                </a:solidFill>
                <a:latin typeface="Calibri"/>
              </a:rPr>
              <a:t>artificielle dans les PME</a:t>
            </a:r>
          </a:p>
        </p:txBody>
      </p:sp>
      <p:sp>
        <p:nvSpPr>
          <p:cNvPr id="9" name="TextBox 8"/>
          <p:cNvSpPr txBox="1"/>
          <p:nvPr/>
        </p:nvSpPr>
        <p:spPr>
          <a:xfrm>
            <a:off x="822960" y="3611880"/>
            <a:ext cx="10424160" cy="822960"/>
          </a:xfrm>
          <a:prstGeom prst="rect">
            <a:avLst/>
          </a:prstGeom>
          <a:noFill/>
        </p:spPr>
        <p:txBody>
          <a:bodyPr wrap="square" anchor="t" lIns="0" rIns="0" tIns="0" bIns="0">
            <a:spAutoFit/>
          </a:bodyPr>
          <a:lstStyle/>
          <a:p>
            <a:pPr algn="l">
              <a:lnSpc>
                <a:spcPct val="100000"/>
              </a:lnSpc>
              <a:spcBef>
                <a:spcPts val="0"/>
              </a:spcBef>
              <a:spcAft>
                <a:spcPts val="400"/>
              </a:spcAft>
            </a:pPr>
            <a:r>
              <a:rPr sz="2000" b="0" i="1">
                <a:solidFill>
                  <a:srgbClr val="CFDAE8"/>
                </a:solidFill>
                <a:latin typeface="Calibri"/>
              </a:rPr>
              <a:t>Entre opportunités perçues et freins organisationnels</a:t>
            </a:r>
          </a:p>
          <a:p>
            <a:pPr algn="l">
              <a:lnSpc>
                <a:spcPct val="100000"/>
              </a:lnSpc>
              <a:spcBef>
                <a:spcPts val="0"/>
              </a:spcBef>
              <a:spcAft>
                <a:spcPts val="400"/>
              </a:spcAft>
            </a:pPr>
            <a:r>
              <a:rPr sz="1550" b="0" i="1">
                <a:solidFill>
                  <a:srgbClr val="9FB0C4"/>
                </a:solidFill>
                <a:latin typeface="Calibri"/>
              </a:rPr>
              <a:t>Le cas de l'intégration de nouveaux outils numériques au sein d'Arla Groupe</a:t>
            </a:r>
          </a:p>
        </p:txBody>
      </p:sp>
      <p:sp>
        <p:nvSpPr>
          <p:cNvPr id="10" name="TextBox 9"/>
          <p:cNvSpPr txBox="1"/>
          <p:nvPr/>
        </p:nvSpPr>
        <p:spPr>
          <a:xfrm>
            <a:off x="822960" y="6144768"/>
            <a:ext cx="7863840" cy="548640"/>
          </a:xfrm>
          <a:prstGeom prst="rect">
            <a:avLst/>
          </a:prstGeom>
          <a:noFill/>
        </p:spPr>
        <p:txBody>
          <a:bodyPr wrap="square" anchor="t" lIns="0" rIns="0" tIns="0" bIns="0">
            <a:spAutoFit/>
          </a:bodyPr>
          <a:lstStyle/>
          <a:p>
            <a:pPr algn="l">
              <a:lnSpc>
                <a:spcPct val="100000"/>
              </a:lnSpc>
              <a:spcBef>
                <a:spcPts val="0"/>
              </a:spcBef>
              <a:spcAft>
                <a:spcPts val="0"/>
              </a:spcAft>
            </a:pPr>
            <a:r>
              <a:rPr sz="1250" b="1" i="0">
                <a:solidFill>
                  <a:srgbClr val="FFFFFF"/>
                </a:solidFill>
                <a:latin typeface="Calibri"/>
              </a:rPr>
              <a:t>Auteur : </a:t>
            </a:r>
            <a:r>
              <a:rPr sz="1250" b="0" i="0">
                <a:solidFill>
                  <a:srgbClr val="CFDAE8"/>
                </a:solidFill>
                <a:latin typeface="Calibri"/>
              </a:rPr>
              <a:t>Maxime LOUSTALET</a:t>
            </a:r>
            <a:r>
              <a:rPr sz="1250" b="1" i="0">
                <a:solidFill>
                  <a:srgbClr val="FFFFFF"/>
                </a:solidFill>
                <a:latin typeface="Calibri"/>
              </a:rPr>
              <a:t>      Directeur de recherche : </a:t>
            </a:r>
            <a:r>
              <a:rPr sz="1250" b="0" i="0">
                <a:solidFill>
                  <a:srgbClr val="CFDAE8"/>
                </a:solidFill>
                <a:latin typeface="Calibri"/>
              </a:rPr>
              <a:t>Victor COMBES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371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46304" cy="1371600"/>
          </a:xfrm>
          <a:prstGeom prst="rect">
            <a:avLst/>
          </a:prstGeom>
          <a:solidFill>
            <a:srgbClr val="E4A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310896"/>
            <a:ext cx="10515600" cy="365760"/>
          </a:xfrm>
          <a:prstGeom prst="rect">
            <a:avLst/>
          </a:prstGeom>
          <a:noFill/>
        </p:spPr>
        <p:txBody>
          <a:bodyPr wrap="square" anchor="t" lIns="0" rIns="0" tIns="0" bIns="0">
            <a:spAutoFit/>
          </a:bodyPr>
          <a:lstStyle/>
          <a:p>
            <a:pPr algn="l">
              <a:lnSpc>
                <a:spcPct val="100000"/>
              </a:lnSpc>
              <a:spcBef>
                <a:spcPts val="0"/>
              </a:spcBef>
              <a:spcAft>
                <a:spcPts val="0"/>
              </a:spcAft>
            </a:pPr>
            <a:r>
              <a:rPr sz="1250" b="1" i="0">
                <a:solidFill>
                  <a:srgbClr val="2E6E9E"/>
                </a:solidFill>
                <a:latin typeface="Calibri"/>
              </a:rPr>
              <a:t>FIL CONDUCTEUR DE LA PRÉSENTATION</a:t>
            </a:r>
          </a:p>
        </p:txBody>
      </p:sp>
      <p:sp>
        <p:nvSpPr>
          <p:cNvPr id="6" name="TextBox 5"/>
          <p:cNvSpPr txBox="1"/>
          <p:nvPr/>
        </p:nvSpPr>
        <p:spPr>
          <a:xfrm>
            <a:off x="685800" y="576072"/>
            <a:ext cx="10881360" cy="640080"/>
          </a:xfrm>
          <a:prstGeom prst="rect">
            <a:avLst/>
          </a:prstGeom>
          <a:noFill/>
        </p:spPr>
        <p:txBody>
          <a:bodyPr wrap="square" anchor="t" lIns="0" rIns="0" tIns="0" bIns="0">
            <a:spAutoFit/>
          </a:bodyPr>
          <a:lstStyle/>
          <a:p>
            <a:pPr algn="l">
              <a:lnSpc>
                <a:spcPct val="100000"/>
              </a:lnSpc>
              <a:spcBef>
                <a:spcPts val="0"/>
              </a:spcBef>
              <a:spcAft>
                <a:spcPts val="0"/>
              </a:spcAft>
            </a:pPr>
            <a:r>
              <a:rPr sz="2700" b="1" i="0">
                <a:solidFill>
                  <a:srgbClr val="0E2A47"/>
                </a:solidFill>
                <a:latin typeface="Calibri"/>
              </a:rPr>
              <a:t>Plan de la soutenance</a:t>
            </a:r>
          </a:p>
        </p:txBody>
      </p:sp>
      <p:sp>
        <p:nvSpPr>
          <p:cNvPr id="7" name="Rectangle 6"/>
          <p:cNvSpPr/>
          <p:nvPr/>
        </p:nvSpPr>
        <p:spPr>
          <a:xfrm>
            <a:off x="713232" y="1207008"/>
            <a:ext cx="777240" cy="50292"/>
          </a:xfrm>
          <a:prstGeom prst="rect">
            <a:avLst/>
          </a:prstGeom>
          <a:solidFill>
            <a:srgbClr val="E4A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85800" y="1600200"/>
            <a:ext cx="5257800" cy="1207008"/>
          </a:xfrm>
          <a:prstGeom prst="roundRect">
            <a:avLst>
              <a:gd name="adj" fmla="val 4500"/>
            </a:avLst>
          </a:prstGeom>
          <a:solidFill>
            <a:srgbClr val="FFFFFF"/>
          </a:solidFill>
          <a:ln w="12700">
            <a:solidFill>
              <a:srgbClr val="D7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1600200"/>
            <a:ext cx="109728" cy="1207008"/>
          </a:xfrm>
          <a:prstGeom prst="rect">
            <a:avLst/>
          </a:prstGeom>
          <a:solidFill>
            <a:srgbClr val="E4A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41832" y="1783080"/>
            <a:ext cx="1005840" cy="822960"/>
          </a:xfrm>
          <a:prstGeom prst="rect">
            <a:avLst/>
          </a:prstGeom>
          <a:noFill/>
        </p:spPr>
        <p:txBody>
          <a:bodyPr wrap="square" anchor="t" lIns="0" rIns="0" tIns="0" bIns="0">
            <a:spAutoFit/>
          </a:bodyPr>
          <a:lstStyle/>
          <a:p>
            <a:pPr algn="l">
              <a:lnSpc>
                <a:spcPct val="100000"/>
              </a:lnSpc>
              <a:spcBef>
                <a:spcPts val="0"/>
              </a:spcBef>
              <a:spcAft>
                <a:spcPts val="0"/>
              </a:spcAft>
            </a:pPr>
            <a:r>
              <a:rPr sz="3400" b="1" i="0">
                <a:solidFill>
                  <a:srgbClr val="E1E7EF"/>
                </a:solidFill>
                <a:latin typeface="Calibri"/>
              </a:rPr>
              <a:t>01</a:t>
            </a:r>
          </a:p>
        </p:txBody>
      </p:sp>
      <p:sp>
        <p:nvSpPr>
          <p:cNvPr id="11" name="TextBox 10"/>
          <p:cNvSpPr txBox="1"/>
          <p:nvPr/>
        </p:nvSpPr>
        <p:spPr>
          <a:xfrm>
            <a:off x="1828800" y="1783080"/>
            <a:ext cx="3931920" cy="457200"/>
          </a:xfrm>
          <a:prstGeom prst="rect">
            <a:avLst/>
          </a:prstGeom>
          <a:noFill/>
        </p:spPr>
        <p:txBody>
          <a:bodyPr wrap="square" anchor="t" lIns="0" rIns="0" tIns="0" bIns="0">
            <a:spAutoFit/>
          </a:bodyPr>
          <a:lstStyle/>
          <a:p>
            <a:pPr algn="l">
              <a:lnSpc>
                <a:spcPct val="100000"/>
              </a:lnSpc>
              <a:spcBef>
                <a:spcPts val="0"/>
              </a:spcBef>
              <a:spcAft>
                <a:spcPts val="0"/>
              </a:spcAft>
            </a:pPr>
            <a:r>
              <a:rPr sz="1650" b="1" i="0">
                <a:solidFill>
                  <a:srgbClr val="0E2A47"/>
                </a:solidFill>
                <a:latin typeface="Calibri"/>
              </a:rPr>
              <a:t>Contexte &amp; problématique</a:t>
            </a:r>
          </a:p>
        </p:txBody>
      </p:sp>
      <p:sp>
        <p:nvSpPr>
          <p:cNvPr id="12" name="TextBox 11"/>
          <p:cNvSpPr txBox="1"/>
          <p:nvPr/>
        </p:nvSpPr>
        <p:spPr>
          <a:xfrm>
            <a:off x="1828800" y="2258568"/>
            <a:ext cx="3977639" cy="457200"/>
          </a:xfrm>
          <a:prstGeom prst="rect">
            <a:avLst/>
          </a:prstGeom>
          <a:noFill/>
        </p:spPr>
        <p:txBody>
          <a:bodyPr wrap="square" anchor="t" lIns="0" rIns="0" tIns="0" bIns="0">
            <a:spAutoFit/>
          </a:bodyPr>
          <a:lstStyle/>
          <a:p>
            <a:pPr algn="l">
              <a:lnSpc>
                <a:spcPct val="100000"/>
              </a:lnSpc>
              <a:spcBef>
                <a:spcPts val="0"/>
              </a:spcBef>
              <a:spcAft>
                <a:spcPts val="0"/>
              </a:spcAft>
            </a:pPr>
            <a:r>
              <a:rPr sz="1150" b="0" i="0">
                <a:solidFill>
                  <a:srgbClr val="55607A"/>
                </a:solidFill>
                <a:latin typeface="Calibri"/>
              </a:rPr>
              <a:t>Un enjeu d'actualité, un terrain, une question de recherche</a:t>
            </a:r>
          </a:p>
        </p:txBody>
      </p:sp>
      <p:sp>
        <p:nvSpPr>
          <p:cNvPr id="13" name="Rounded Rectangle 12"/>
          <p:cNvSpPr/>
          <p:nvPr/>
        </p:nvSpPr>
        <p:spPr>
          <a:xfrm>
            <a:off x="685800" y="3017520"/>
            <a:ext cx="5257800" cy="1207008"/>
          </a:xfrm>
          <a:prstGeom prst="roundRect">
            <a:avLst>
              <a:gd name="adj" fmla="val 4500"/>
            </a:avLst>
          </a:prstGeom>
          <a:solidFill>
            <a:srgbClr val="FFFFFF"/>
          </a:solidFill>
          <a:ln w="12700">
            <a:solidFill>
              <a:srgbClr val="D7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85800" y="3017520"/>
            <a:ext cx="109728" cy="1207008"/>
          </a:xfrm>
          <a:prstGeom prst="rect">
            <a:avLst/>
          </a:prstGeom>
          <a:solidFill>
            <a:srgbClr val="E4A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41832" y="3200400"/>
            <a:ext cx="1005840" cy="822960"/>
          </a:xfrm>
          <a:prstGeom prst="rect">
            <a:avLst/>
          </a:prstGeom>
          <a:noFill/>
        </p:spPr>
        <p:txBody>
          <a:bodyPr wrap="square" anchor="t" lIns="0" rIns="0" tIns="0" bIns="0">
            <a:spAutoFit/>
          </a:bodyPr>
          <a:lstStyle/>
          <a:p>
            <a:pPr algn="l">
              <a:lnSpc>
                <a:spcPct val="100000"/>
              </a:lnSpc>
              <a:spcBef>
                <a:spcPts val="0"/>
              </a:spcBef>
              <a:spcAft>
                <a:spcPts val="0"/>
              </a:spcAft>
            </a:pPr>
            <a:r>
              <a:rPr sz="3400" b="1" i="0">
                <a:solidFill>
                  <a:srgbClr val="E1E7EF"/>
                </a:solidFill>
                <a:latin typeface="Calibri"/>
              </a:rPr>
              <a:t>02</a:t>
            </a:r>
          </a:p>
        </p:txBody>
      </p:sp>
      <p:sp>
        <p:nvSpPr>
          <p:cNvPr id="16" name="TextBox 15"/>
          <p:cNvSpPr txBox="1"/>
          <p:nvPr/>
        </p:nvSpPr>
        <p:spPr>
          <a:xfrm>
            <a:off x="1828800" y="3200400"/>
            <a:ext cx="3931920" cy="457200"/>
          </a:xfrm>
          <a:prstGeom prst="rect">
            <a:avLst/>
          </a:prstGeom>
          <a:noFill/>
        </p:spPr>
        <p:txBody>
          <a:bodyPr wrap="square" anchor="t" lIns="0" rIns="0" tIns="0" bIns="0">
            <a:spAutoFit/>
          </a:bodyPr>
          <a:lstStyle/>
          <a:p>
            <a:pPr algn="l">
              <a:lnSpc>
                <a:spcPct val="100000"/>
              </a:lnSpc>
              <a:spcBef>
                <a:spcPts val="0"/>
              </a:spcBef>
              <a:spcAft>
                <a:spcPts val="0"/>
              </a:spcAft>
            </a:pPr>
            <a:r>
              <a:rPr sz="1650" b="1" i="0">
                <a:solidFill>
                  <a:srgbClr val="0E2A47"/>
                </a:solidFill>
                <a:latin typeface="Calibri"/>
              </a:rPr>
              <a:t>Cadre théorique &amp; propositions</a:t>
            </a:r>
          </a:p>
        </p:txBody>
      </p:sp>
      <p:sp>
        <p:nvSpPr>
          <p:cNvPr id="17" name="TextBox 16"/>
          <p:cNvSpPr txBox="1"/>
          <p:nvPr/>
        </p:nvSpPr>
        <p:spPr>
          <a:xfrm>
            <a:off x="1828800" y="3675887"/>
            <a:ext cx="3977639" cy="457200"/>
          </a:xfrm>
          <a:prstGeom prst="rect">
            <a:avLst/>
          </a:prstGeom>
          <a:noFill/>
        </p:spPr>
        <p:txBody>
          <a:bodyPr wrap="square" anchor="t" lIns="0" rIns="0" tIns="0" bIns="0">
            <a:spAutoFit/>
          </a:bodyPr>
          <a:lstStyle/>
          <a:p>
            <a:pPr algn="l">
              <a:lnSpc>
                <a:spcPct val="100000"/>
              </a:lnSpc>
              <a:spcBef>
                <a:spcPts val="0"/>
              </a:spcBef>
              <a:spcAft>
                <a:spcPts val="0"/>
              </a:spcAft>
            </a:pPr>
            <a:r>
              <a:rPr sz="1150" b="0" i="0">
                <a:solidFill>
                  <a:srgbClr val="55607A"/>
                </a:solidFill>
                <a:latin typeface="Calibri"/>
              </a:rPr>
              <a:t>PME, culture, IA : ce que dit la littérature</a:t>
            </a:r>
          </a:p>
        </p:txBody>
      </p:sp>
      <p:sp>
        <p:nvSpPr>
          <p:cNvPr id="18" name="Rounded Rectangle 17"/>
          <p:cNvSpPr/>
          <p:nvPr/>
        </p:nvSpPr>
        <p:spPr>
          <a:xfrm>
            <a:off x="685800" y="4434840"/>
            <a:ext cx="5257800" cy="1207008"/>
          </a:xfrm>
          <a:prstGeom prst="roundRect">
            <a:avLst>
              <a:gd name="adj" fmla="val 4500"/>
            </a:avLst>
          </a:prstGeom>
          <a:solidFill>
            <a:srgbClr val="FFFFFF"/>
          </a:solidFill>
          <a:ln w="12700">
            <a:solidFill>
              <a:srgbClr val="D7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85800" y="4434840"/>
            <a:ext cx="109728" cy="1207008"/>
          </a:xfrm>
          <a:prstGeom prst="rect">
            <a:avLst/>
          </a:prstGeom>
          <a:solidFill>
            <a:srgbClr val="E4A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41832" y="4617720"/>
            <a:ext cx="1005840" cy="822960"/>
          </a:xfrm>
          <a:prstGeom prst="rect">
            <a:avLst/>
          </a:prstGeom>
          <a:noFill/>
        </p:spPr>
        <p:txBody>
          <a:bodyPr wrap="square" anchor="t" lIns="0" rIns="0" tIns="0" bIns="0">
            <a:spAutoFit/>
          </a:bodyPr>
          <a:lstStyle/>
          <a:p>
            <a:pPr algn="l">
              <a:lnSpc>
                <a:spcPct val="100000"/>
              </a:lnSpc>
              <a:spcBef>
                <a:spcPts val="0"/>
              </a:spcBef>
              <a:spcAft>
                <a:spcPts val="0"/>
              </a:spcAft>
            </a:pPr>
            <a:r>
              <a:rPr sz="3400" b="1" i="0">
                <a:solidFill>
                  <a:srgbClr val="E1E7EF"/>
                </a:solidFill>
                <a:latin typeface="Calibri"/>
              </a:rPr>
              <a:t>03</a:t>
            </a:r>
          </a:p>
        </p:txBody>
      </p:sp>
      <p:sp>
        <p:nvSpPr>
          <p:cNvPr id="21" name="TextBox 20"/>
          <p:cNvSpPr txBox="1"/>
          <p:nvPr/>
        </p:nvSpPr>
        <p:spPr>
          <a:xfrm>
            <a:off x="1828800" y="4617720"/>
            <a:ext cx="3931920" cy="457200"/>
          </a:xfrm>
          <a:prstGeom prst="rect">
            <a:avLst/>
          </a:prstGeom>
          <a:noFill/>
        </p:spPr>
        <p:txBody>
          <a:bodyPr wrap="square" anchor="t" lIns="0" rIns="0" tIns="0" bIns="0">
            <a:spAutoFit/>
          </a:bodyPr>
          <a:lstStyle/>
          <a:p>
            <a:pPr algn="l">
              <a:lnSpc>
                <a:spcPct val="100000"/>
              </a:lnSpc>
              <a:spcBef>
                <a:spcPts val="0"/>
              </a:spcBef>
              <a:spcAft>
                <a:spcPts val="0"/>
              </a:spcAft>
            </a:pPr>
            <a:r>
              <a:rPr sz="1650" b="1" i="0">
                <a:solidFill>
                  <a:srgbClr val="0E2A47"/>
                </a:solidFill>
                <a:latin typeface="Calibri"/>
              </a:rPr>
              <a:t>Méthodologie empirique</a:t>
            </a:r>
          </a:p>
        </p:txBody>
      </p:sp>
      <p:sp>
        <p:nvSpPr>
          <p:cNvPr id="22" name="TextBox 21"/>
          <p:cNvSpPr txBox="1"/>
          <p:nvPr/>
        </p:nvSpPr>
        <p:spPr>
          <a:xfrm>
            <a:off x="1828800" y="5093207"/>
            <a:ext cx="3977639" cy="457200"/>
          </a:xfrm>
          <a:prstGeom prst="rect">
            <a:avLst/>
          </a:prstGeom>
          <a:noFill/>
        </p:spPr>
        <p:txBody>
          <a:bodyPr wrap="square" anchor="t" lIns="0" rIns="0" tIns="0" bIns="0">
            <a:spAutoFit/>
          </a:bodyPr>
          <a:lstStyle/>
          <a:p>
            <a:pPr algn="l">
              <a:lnSpc>
                <a:spcPct val="100000"/>
              </a:lnSpc>
              <a:spcBef>
                <a:spcPts val="0"/>
              </a:spcBef>
              <a:spcAft>
                <a:spcPts val="0"/>
              </a:spcAft>
            </a:pPr>
            <a:r>
              <a:rPr sz="1150" b="0" i="0">
                <a:solidFill>
                  <a:srgbClr val="55607A"/>
                </a:solidFill>
                <a:latin typeface="Calibri"/>
              </a:rPr>
              <a:t>Étude qualitative — 8 entretiens semi-directifs</a:t>
            </a:r>
          </a:p>
        </p:txBody>
      </p:sp>
      <p:sp>
        <p:nvSpPr>
          <p:cNvPr id="23" name="Rounded Rectangle 22"/>
          <p:cNvSpPr/>
          <p:nvPr/>
        </p:nvSpPr>
        <p:spPr>
          <a:xfrm>
            <a:off x="6309360" y="1600200"/>
            <a:ext cx="5257800" cy="1207008"/>
          </a:xfrm>
          <a:prstGeom prst="roundRect">
            <a:avLst>
              <a:gd name="adj" fmla="val 4500"/>
            </a:avLst>
          </a:prstGeom>
          <a:solidFill>
            <a:srgbClr val="FFFFFF"/>
          </a:solidFill>
          <a:ln w="12700">
            <a:solidFill>
              <a:srgbClr val="D7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309360" y="1600200"/>
            <a:ext cx="109728" cy="1207008"/>
          </a:xfrm>
          <a:prstGeom prst="rect">
            <a:avLst/>
          </a:prstGeom>
          <a:solidFill>
            <a:srgbClr val="2E6E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65392" y="1783080"/>
            <a:ext cx="1005840" cy="822960"/>
          </a:xfrm>
          <a:prstGeom prst="rect">
            <a:avLst/>
          </a:prstGeom>
          <a:noFill/>
        </p:spPr>
        <p:txBody>
          <a:bodyPr wrap="square" anchor="t" lIns="0" rIns="0" tIns="0" bIns="0">
            <a:spAutoFit/>
          </a:bodyPr>
          <a:lstStyle/>
          <a:p>
            <a:pPr algn="l">
              <a:lnSpc>
                <a:spcPct val="100000"/>
              </a:lnSpc>
              <a:spcBef>
                <a:spcPts val="0"/>
              </a:spcBef>
              <a:spcAft>
                <a:spcPts val="0"/>
              </a:spcAft>
            </a:pPr>
            <a:r>
              <a:rPr sz="3400" b="1" i="0">
                <a:solidFill>
                  <a:srgbClr val="E1E7EF"/>
                </a:solidFill>
                <a:latin typeface="Calibri"/>
              </a:rPr>
              <a:t>04</a:t>
            </a:r>
          </a:p>
        </p:txBody>
      </p:sp>
      <p:sp>
        <p:nvSpPr>
          <p:cNvPr id="26" name="TextBox 25"/>
          <p:cNvSpPr txBox="1"/>
          <p:nvPr/>
        </p:nvSpPr>
        <p:spPr>
          <a:xfrm>
            <a:off x="7452360" y="1783080"/>
            <a:ext cx="3931920" cy="457200"/>
          </a:xfrm>
          <a:prstGeom prst="rect">
            <a:avLst/>
          </a:prstGeom>
          <a:noFill/>
        </p:spPr>
        <p:txBody>
          <a:bodyPr wrap="square" anchor="t" lIns="0" rIns="0" tIns="0" bIns="0">
            <a:spAutoFit/>
          </a:bodyPr>
          <a:lstStyle/>
          <a:p>
            <a:pPr algn="l">
              <a:lnSpc>
                <a:spcPct val="100000"/>
              </a:lnSpc>
              <a:spcBef>
                <a:spcPts val="0"/>
              </a:spcBef>
              <a:spcAft>
                <a:spcPts val="0"/>
              </a:spcAft>
            </a:pPr>
            <a:r>
              <a:rPr sz="1650" b="1" i="0">
                <a:solidFill>
                  <a:srgbClr val="0E2A47"/>
                </a:solidFill>
                <a:latin typeface="Calibri"/>
              </a:rPr>
              <a:t>Résultats &amp; analyse</a:t>
            </a:r>
          </a:p>
        </p:txBody>
      </p:sp>
      <p:sp>
        <p:nvSpPr>
          <p:cNvPr id="27" name="TextBox 26"/>
          <p:cNvSpPr txBox="1"/>
          <p:nvPr/>
        </p:nvSpPr>
        <p:spPr>
          <a:xfrm>
            <a:off x="7452360" y="2258568"/>
            <a:ext cx="3977639" cy="457200"/>
          </a:xfrm>
          <a:prstGeom prst="rect">
            <a:avLst/>
          </a:prstGeom>
          <a:noFill/>
        </p:spPr>
        <p:txBody>
          <a:bodyPr wrap="square" anchor="t" lIns="0" rIns="0" tIns="0" bIns="0">
            <a:spAutoFit/>
          </a:bodyPr>
          <a:lstStyle/>
          <a:p>
            <a:pPr algn="l">
              <a:lnSpc>
                <a:spcPct val="100000"/>
              </a:lnSpc>
              <a:spcBef>
                <a:spcPts val="0"/>
              </a:spcBef>
              <a:spcAft>
                <a:spcPts val="0"/>
              </a:spcAft>
            </a:pPr>
            <a:r>
              <a:rPr sz="1150" b="0" i="0">
                <a:solidFill>
                  <a:srgbClr val="55607A"/>
                </a:solidFill>
                <a:latin typeface="Calibri"/>
              </a:rPr>
              <a:t>Trois questions de recherche confrontées au terrain</a:t>
            </a:r>
          </a:p>
        </p:txBody>
      </p:sp>
      <p:sp>
        <p:nvSpPr>
          <p:cNvPr id="28" name="Rounded Rectangle 27"/>
          <p:cNvSpPr/>
          <p:nvPr/>
        </p:nvSpPr>
        <p:spPr>
          <a:xfrm>
            <a:off x="6309360" y="3017520"/>
            <a:ext cx="5257800" cy="1207008"/>
          </a:xfrm>
          <a:prstGeom prst="roundRect">
            <a:avLst>
              <a:gd name="adj" fmla="val 4500"/>
            </a:avLst>
          </a:prstGeom>
          <a:solidFill>
            <a:srgbClr val="FFFFFF"/>
          </a:solidFill>
          <a:ln w="12700">
            <a:solidFill>
              <a:srgbClr val="D7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309360" y="3017520"/>
            <a:ext cx="109728" cy="1207008"/>
          </a:xfrm>
          <a:prstGeom prst="rect">
            <a:avLst/>
          </a:prstGeom>
          <a:solidFill>
            <a:srgbClr val="2E6E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65392" y="3200400"/>
            <a:ext cx="1005840" cy="822960"/>
          </a:xfrm>
          <a:prstGeom prst="rect">
            <a:avLst/>
          </a:prstGeom>
          <a:noFill/>
        </p:spPr>
        <p:txBody>
          <a:bodyPr wrap="square" anchor="t" lIns="0" rIns="0" tIns="0" bIns="0">
            <a:spAutoFit/>
          </a:bodyPr>
          <a:lstStyle/>
          <a:p>
            <a:pPr algn="l">
              <a:lnSpc>
                <a:spcPct val="100000"/>
              </a:lnSpc>
              <a:spcBef>
                <a:spcPts val="0"/>
              </a:spcBef>
              <a:spcAft>
                <a:spcPts val="0"/>
              </a:spcAft>
            </a:pPr>
            <a:r>
              <a:rPr sz="3400" b="1" i="0">
                <a:solidFill>
                  <a:srgbClr val="E1E7EF"/>
                </a:solidFill>
                <a:latin typeface="Calibri"/>
              </a:rPr>
              <a:t>05</a:t>
            </a:r>
          </a:p>
        </p:txBody>
      </p:sp>
      <p:sp>
        <p:nvSpPr>
          <p:cNvPr id="31" name="TextBox 30"/>
          <p:cNvSpPr txBox="1"/>
          <p:nvPr/>
        </p:nvSpPr>
        <p:spPr>
          <a:xfrm>
            <a:off x="7452360" y="3200400"/>
            <a:ext cx="3931920" cy="457200"/>
          </a:xfrm>
          <a:prstGeom prst="rect">
            <a:avLst/>
          </a:prstGeom>
          <a:noFill/>
        </p:spPr>
        <p:txBody>
          <a:bodyPr wrap="square" anchor="t" lIns="0" rIns="0" tIns="0" bIns="0">
            <a:spAutoFit/>
          </a:bodyPr>
          <a:lstStyle/>
          <a:p>
            <a:pPr algn="l">
              <a:lnSpc>
                <a:spcPct val="100000"/>
              </a:lnSpc>
              <a:spcBef>
                <a:spcPts val="0"/>
              </a:spcBef>
              <a:spcAft>
                <a:spcPts val="0"/>
              </a:spcAft>
            </a:pPr>
            <a:r>
              <a:rPr sz="1650" b="1" i="0">
                <a:solidFill>
                  <a:srgbClr val="0E2A47"/>
                </a:solidFill>
                <a:latin typeface="Calibri"/>
              </a:rPr>
              <a:t>Apports &amp; préconisations</a:t>
            </a:r>
          </a:p>
        </p:txBody>
      </p:sp>
      <p:sp>
        <p:nvSpPr>
          <p:cNvPr id="32" name="TextBox 31"/>
          <p:cNvSpPr txBox="1"/>
          <p:nvPr/>
        </p:nvSpPr>
        <p:spPr>
          <a:xfrm>
            <a:off x="7452360" y="3675887"/>
            <a:ext cx="3977639" cy="457200"/>
          </a:xfrm>
          <a:prstGeom prst="rect">
            <a:avLst/>
          </a:prstGeom>
          <a:noFill/>
        </p:spPr>
        <p:txBody>
          <a:bodyPr wrap="square" anchor="t" lIns="0" rIns="0" tIns="0" bIns="0">
            <a:spAutoFit/>
          </a:bodyPr>
          <a:lstStyle/>
          <a:p>
            <a:pPr algn="l">
              <a:lnSpc>
                <a:spcPct val="100000"/>
              </a:lnSpc>
              <a:spcBef>
                <a:spcPts val="0"/>
              </a:spcBef>
              <a:spcAft>
                <a:spcPts val="0"/>
              </a:spcAft>
            </a:pPr>
            <a:r>
              <a:rPr sz="1150" b="0" i="0">
                <a:solidFill>
                  <a:srgbClr val="55607A"/>
                </a:solidFill>
                <a:latin typeface="Calibri"/>
              </a:rPr>
              <a:t>Contributions scientifiques et recommandations managériales</a:t>
            </a:r>
          </a:p>
        </p:txBody>
      </p:sp>
      <p:sp>
        <p:nvSpPr>
          <p:cNvPr id="33" name="Rounded Rectangle 32"/>
          <p:cNvSpPr/>
          <p:nvPr/>
        </p:nvSpPr>
        <p:spPr>
          <a:xfrm>
            <a:off x="6309360" y="4434840"/>
            <a:ext cx="5257800" cy="1207008"/>
          </a:xfrm>
          <a:prstGeom prst="roundRect">
            <a:avLst>
              <a:gd name="adj" fmla="val 4500"/>
            </a:avLst>
          </a:prstGeom>
          <a:solidFill>
            <a:srgbClr val="FFFFFF"/>
          </a:solidFill>
          <a:ln w="12700">
            <a:solidFill>
              <a:srgbClr val="D7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309360" y="4434840"/>
            <a:ext cx="109728" cy="1207008"/>
          </a:xfrm>
          <a:prstGeom prst="rect">
            <a:avLst/>
          </a:prstGeom>
          <a:solidFill>
            <a:srgbClr val="2E6E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65392" y="4617720"/>
            <a:ext cx="1005840" cy="822960"/>
          </a:xfrm>
          <a:prstGeom prst="rect">
            <a:avLst/>
          </a:prstGeom>
          <a:noFill/>
        </p:spPr>
        <p:txBody>
          <a:bodyPr wrap="square" anchor="t" lIns="0" rIns="0" tIns="0" bIns="0">
            <a:spAutoFit/>
          </a:bodyPr>
          <a:lstStyle/>
          <a:p>
            <a:pPr algn="l">
              <a:lnSpc>
                <a:spcPct val="100000"/>
              </a:lnSpc>
              <a:spcBef>
                <a:spcPts val="0"/>
              </a:spcBef>
              <a:spcAft>
                <a:spcPts val="0"/>
              </a:spcAft>
            </a:pPr>
            <a:r>
              <a:rPr sz="3400" b="1" i="0">
                <a:solidFill>
                  <a:srgbClr val="E1E7EF"/>
                </a:solidFill>
                <a:latin typeface="Calibri"/>
              </a:rPr>
              <a:t>06</a:t>
            </a:r>
          </a:p>
        </p:txBody>
      </p:sp>
      <p:sp>
        <p:nvSpPr>
          <p:cNvPr id="36" name="TextBox 35"/>
          <p:cNvSpPr txBox="1"/>
          <p:nvPr/>
        </p:nvSpPr>
        <p:spPr>
          <a:xfrm>
            <a:off x="7452360" y="4617720"/>
            <a:ext cx="3931920" cy="457200"/>
          </a:xfrm>
          <a:prstGeom prst="rect">
            <a:avLst/>
          </a:prstGeom>
          <a:noFill/>
        </p:spPr>
        <p:txBody>
          <a:bodyPr wrap="square" anchor="t" lIns="0" rIns="0" tIns="0" bIns="0">
            <a:spAutoFit/>
          </a:bodyPr>
          <a:lstStyle/>
          <a:p>
            <a:pPr algn="l">
              <a:lnSpc>
                <a:spcPct val="100000"/>
              </a:lnSpc>
              <a:spcBef>
                <a:spcPts val="0"/>
              </a:spcBef>
              <a:spcAft>
                <a:spcPts val="0"/>
              </a:spcAft>
            </a:pPr>
            <a:r>
              <a:rPr sz="1650" b="1" i="0">
                <a:solidFill>
                  <a:srgbClr val="0E2A47"/>
                </a:solidFill>
                <a:latin typeface="Calibri"/>
              </a:rPr>
              <a:t>Conclusion &amp; limites</a:t>
            </a:r>
          </a:p>
        </p:txBody>
      </p:sp>
      <p:sp>
        <p:nvSpPr>
          <p:cNvPr id="37" name="TextBox 36"/>
          <p:cNvSpPr txBox="1"/>
          <p:nvPr/>
        </p:nvSpPr>
        <p:spPr>
          <a:xfrm>
            <a:off x="7452360" y="5093207"/>
            <a:ext cx="3977639" cy="457200"/>
          </a:xfrm>
          <a:prstGeom prst="rect">
            <a:avLst/>
          </a:prstGeom>
          <a:noFill/>
        </p:spPr>
        <p:txBody>
          <a:bodyPr wrap="square" anchor="t" lIns="0" rIns="0" tIns="0" bIns="0">
            <a:spAutoFit/>
          </a:bodyPr>
          <a:lstStyle/>
          <a:p>
            <a:pPr algn="l">
              <a:lnSpc>
                <a:spcPct val="100000"/>
              </a:lnSpc>
              <a:spcBef>
                <a:spcPts val="0"/>
              </a:spcBef>
              <a:spcAft>
                <a:spcPts val="0"/>
              </a:spcAft>
            </a:pPr>
            <a:r>
              <a:rPr sz="1150" b="0" i="0">
                <a:solidFill>
                  <a:srgbClr val="55607A"/>
                </a:solidFill>
                <a:latin typeface="Calibri"/>
              </a:rPr>
              <a:t>Réponse, apport professionnel et perspectives</a:t>
            </a:r>
          </a:p>
        </p:txBody>
      </p:sp>
      <p:sp>
        <p:nvSpPr>
          <p:cNvPr id="38" name="TextBox 37"/>
          <p:cNvSpPr txBox="1"/>
          <p:nvPr/>
        </p:nvSpPr>
        <p:spPr>
          <a:xfrm>
            <a:off x="685800" y="6428232"/>
            <a:ext cx="7315200" cy="32004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9AA6B8"/>
                </a:solidFill>
                <a:latin typeface="Calibri"/>
              </a:rPr>
              <a:t>Maxime LOUSTALET  ·  Soutenance de mémoire  ·  Eklore-ed School of Management  ·  2025–2026</a:t>
            </a:r>
          </a:p>
        </p:txBody>
      </p:sp>
      <p:sp>
        <p:nvSpPr>
          <p:cNvPr id="39" name="TextBox 38"/>
          <p:cNvSpPr txBox="1"/>
          <p:nvPr/>
        </p:nvSpPr>
        <p:spPr>
          <a:xfrm>
            <a:off x="10881360" y="6428232"/>
            <a:ext cx="640080" cy="320040"/>
          </a:xfrm>
          <a:prstGeom prst="rect">
            <a:avLst/>
          </a:prstGeom>
          <a:noFill/>
        </p:spPr>
        <p:txBody>
          <a:bodyPr wrap="square" anchor="t" lIns="0" rIns="0" tIns="0" bIns="0">
            <a:spAutoFit/>
          </a:bodyPr>
          <a:lstStyle/>
          <a:p>
            <a:pPr algn="r">
              <a:lnSpc>
                <a:spcPct val="100000"/>
              </a:lnSpc>
              <a:spcBef>
                <a:spcPts val="0"/>
              </a:spcBef>
              <a:spcAft>
                <a:spcPts val="0"/>
              </a:spcAft>
            </a:pPr>
            <a:r>
              <a:rPr sz="900" b="1" i="0">
                <a:solidFill>
                  <a:srgbClr val="9AA6B8"/>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E4A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2148840"/>
            <a:ext cx="2194560" cy="54864"/>
          </a:xfrm>
          <a:prstGeom prst="rect">
            <a:avLst/>
          </a:prstGeom>
          <a:solidFill>
            <a:srgbClr val="E4A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2331720"/>
            <a:ext cx="10058400" cy="1280160"/>
          </a:xfrm>
          <a:prstGeom prst="rect">
            <a:avLst/>
          </a:prstGeom>
          <a:noFill/>
        </p:spPr>
        <p:txBody>
          <a:bodyPr wrap="square" anchor="t" lIns="0" rIns="0" tIns="0" bIns="0">
            <a:spAutoFit/>
          </a:bodyPr>
          <a:lstStyle/>
          <a:p>
            <a:pPr algn="l">
              <a:lnSpc>
                <a:spcPct val="100000"/>
              </a:lnSpc>
              <a:spcBef>
                <a:spcPts val="0"/>
              </a:spcBef>
              <a:spcAft>
                <a:spcPts val="0"/>
              </a:spcAft>
            </a:pPr>
            <a:r>
              <a:rPr sz="9200" b="1" i="0">
                <a:solidFill>
                  <a:srgbClr val="24466B"/>
                </a:solidFill>
                <a:latin typeface="Calibri"/>
              </a:rPr>
              <a:t>01</a:t>
            </a:r>
          </a:p>
        </p:txBody>
      </p:sp>
      <p:sp>
        <p:nvSpPr>
          <p:cNvPr id="6" name="TextBox 5"/>
          <p:cNvSpPr txBox="1"/>
          <p:nvPr/>
        </p:nvSpPr>
        <p:spPr>
          <a:xfrm>
            <a:off x="2743200" y="2514600"/>
            <a:ext cx="8595360" cy="1463040"/>
          </a:xfrm>
          <a:prstGeom prst="rect">
            <a:avLst/>
          </a:prstGeom>
          <a:noFill/>
        </p:spPr>
        <p:txBody>
          <a:bodyPr wrap="square" anchor="t" lIns="0" rIns="0" tIns="0" bIns="0">
            <a:spAutoFit/>
          </a:bodyPr>
          <a:lstStyle/>
          <a:p>
            <a:pPr algn="l">
              <a:lnSpc>
                <a:spcPct val="100000"/>
              </a:lnSpc>
              <a:spcBef>
                <a:spcPts val="0"/>
              </a:spcBef>
              <a:spcAft>
                <a:spcPts val="0"/>
              </a:spcAft>
            </a:pPr>
            <a:r>
              <a:rPr sz="4000" b="1" i="0">
                <a:solidFill>
                  <a:srgbClr val="FFFFFF"/>
                </a:solidFill>
                <a:latin typeface="Calibri"/>
              </a:rPr>
              <a:t>Contexte &amp; problématique</a:t>
            </a:r>
          </a:p>
        </p:txBody>
      </p:sp>
      <p:sp>
        <p:nvSpPr>
          <p:cNvPr id="7" name="TextBox 6"/>
          <p:cNvSpPr txBox="1"/>
          <p:nvPr/>
        </p:nvSpPr>
        <p:spPr>
          <a:xfrm>
            <a:off x="2788920" y="3611880"/>
            <a:ext cx="8412480" cy="731520"/>
          </a:xfrm>
          <a:prstGeom prst="rect">
            <a:avLst/>
          </a:prstGeom>
          <a:noFill/>
        </p:spPr>
        <p:txBody>
          <a:bodyPr wrap="square" anchor="t" lIns="0" rIns="0" tIns="0" bIns="0">
            <a:spAutoFit/>
          </a:bodyPr>
          <a:lstStyle/>
          <a:p>
            <a:pPr algn="l">
              <a:lnSpc>
                <a:spcPct val="100000"/>
              </a:lnSpc>
              <a:spcBef>
                <a:spcPts val="0"/>
              </a:spcBef>
              <a:spcAft>
                <a:spcPts val="0"/>
              </a:spcAft>
            </a:pPr>
            <a:r>
              <a:rPr sz="1600" b="0" i="1">
                <a:solidFill>
                  <a:srgbClr val="B8C6D8"/>
                </a:solidFill>
                <a:latin typeface="Calibri"/>
              </a:rPr>
              <a:t>Un enjeu d'actualité majeur, un terrain concret, une question de recherche</a:t>
            </a:r>
          </a:p>
        </p:txBody>
      </p:sp>
      <p:sp>
        <p:nvSpPr>
          <p:cNvPr id="8" name="TextBox 7"/>
          <p:cNvSpPr txBox="1"/>
          <p:nvPr/>
        </p:nvSpPr>
        <p:spPr>
          <a:xfrm>
            <a:off x="685800" y="6428232"/>
            <a:ext cx="7315200" cy="32004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A9CB5"/>
                </a:solidFill>
                <a:latin typeface="Calibri"/>
              </a:rPr>
              <a:t>Maxime LOUSTALET  ·  Soutenance de mémoire  ·  Eklore-ed School of Management  ·  2025–2026</a:t>
            </a:r>
          </a:p>
        </p:txBody>
      </p:sp>
      <p:sp>
        <p:nvSpPr>
          <p:cNvPr id="9" name="TextBox 8"/>
          <p:cNvSpPr txBox="1"/>
          <p:nvPr/>
        </p:nvSpPr>
        <p:spPr>
          <a:xfrm>
            <a:off x="10881360" y="6428232"/>
            <a:ext cx="640080" cy="320040"/>
          </a:xfrm>
          <a:prstGeom prst="rect">
            <a:avLst/>
          </a:prstGeom>
          <a:noFill/>
        </p:spPr>
        <p:txBody>
          <a:bodyPr wrap="square" anchor="t" lIns="0" rIns="0" tIns="0" bIns="0">
            <a:spAutoFit/>
          </a:bodyPr>
          <a:lstStyle/>
          <a:p>
            <a:pPr algn="r">
              <a:lnSpc>
                <a:spcPct val="100000"/>
              </a:lnSpc>
              <a:spcBef>
                <a:spcPts val="0"/>
              </a:spcBef>
              <a:spcAft>
                <a:spcPts val="0"/>
              </a:spcAft>
            </a:pPr>
            <a:r>
              <a:rPr sz="900" b="1" i="0">
                <a:solidFill>
                  <a:srgbClr val="8A9CB5"/>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371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46304" cy="1371600"/>
          </a:xfrm>
          <a:prstGeom prst="rect">
            <a:avLst/>
          </a:prstGeom>
          <a:solidFill>
            <a:srgbClr val="E4A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310896"/>
            <a:ext cx="10515600" cy="365760"/>
          </a:xfrm>
          <a:prstGeom prst="rect">
            <a:avLst/>
          </a:prstGeom>
          <a:noFill/>
        </p:spPr>
        <p:txBody>
          <a:bodyPr wrap="square" anchor="t" lIns="0" rIns="0" tIns="0" bIns="0">
            <a:spAutoFit/>
          </a:bodyPr>
          <a:lstStyle/>
          <a:p>
            <a:pPr algn="l">
              <a:lnSpc>
                <a:spcPct val="100000"/>
              </a:lnSpc>
              <a:spcBef>
                <a:spcPts val="0"/>
              </a:spcBef>
              <a:spcAft>
                <a:spcPts val="0"/>
              </a:spcAft>
            </a:pPr>
            <a:r>
              <a:rPr sz="1250" b="1" i="0">
                <a:solidFill>
                  <a:srgbClr val="2E6E9E"/>
                </a:solidFill>
                <a:latin typeface="Calibri"/>
              </a:rPr>
              <a:t>01 · CONTEXTE &amp; ACTUALITÉ</a:t>
            </a:r>
          </a:p>
        </p:txBody>
      </p:sp>
      <p:sp>
        <p:nvSpPr>
          <p:cNvPr id="6" name="TextBox 5"/>
          <p:cNvSpPr txBox="1"/>
          <p:nvPr/>
        </p:nvSpPr>
        <p:spPr>
          <a:xfrm>
            <a:off x="685800" y="576072"/>
            <a:ext cx="10881360" cy="640080"/>
          </a:xfrm>
          <a:prstGeom prst="rect">
            <a:avLst/>
          </a:prstGeom>
          <a:noFill/>
        </p:spPr>
        <p:txBody>
          <a:bodyPr wrap="square" anchor="t" lIns="0" rIns="0" tIns="0" bIns="0">
            <a:spAutoFit/>
          </a:bodyPr>
          <a:lstStyle/>
          <a:p>
            <a:pPr algn="l">
              <a:lnSpc>
                <a:spcPct val="100000"/>
              </a:lnSpc>
              <a:spcBef>
                <a:spcPts val="0"/>
              </a:spcBef>
              <a:spcAft>
                <a:spcPts val="0"/>
              </a:spcAft>
            </a:pPr>
            <a:r>
              <a:rPr sz="2700" b="1" i="0">
                <a:solidFill>
                  <a:srgbClr val="0E2A47"/>
                </a:solidFill>
                <a:latin typeface="Calibri"/>
              </a:rPr>
              <a:t>Une bascule technologique, un angle mort : la PME</a:t>
            </a:r>
          </a:p>
        </p:txBody>
      </p:sp>
      <p:sp>
        <p:nvSpPr>
          <p:cNvPr id="7" name="Rectangle 6"/>
          <p:cNvSpPr/>
          <p:nvPr/>
        </p:nvSpPr>
        <p:spPr>
          <a:xfrm>
            <a:off x="713232" y="1207008"/>
            <a:ext cx="777240" cy="50292"/>
          </a:xfrm>
          <a:prstGeom prst="rect">
            <a:avLst/>
          </a:prstGeom>
          <a:solidFill>
            <a:srgbClr val="E4A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85800" y="1600200"/>
            <a:ext cx="5257800" cy="4480560"/>
          </a:xfrm>
          <a:prstGeom prst="roundRect">
            <a:avLst>
              <a:gd name="adj" fmla="val 4500"/>
            </a:avLst>
          </a:prstGeom>
          <a:solidFill>
            <a:srgbClr val="ED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810512"/>
            <a:ext cx="4754880" cy="457200"/>
          </a:xfrm>
          <a:prstGeom prst="rect">
            <a:avLst/>
          </a:prstGeom>
          <a:noFill/>
        </p:spPr>
        <p:txBody>
          <a:bodyPr wrap="square" anchor="t" lIns="0" rIns="0" tIns="0" bIns="0">
            <a:spAutoFit/>
          </a:bodyPr>
          <a:lstStyle/>
          <a:p>
            <a:pPr algn="l">
              <a:lnSpc>
                <a:spcPct val="100000"/>
              </a:lnSpc>
              <a:spcBef>
                <a:spcPts val="0"/>
              </a:spcBef>
              <a:spcAft>
                <a:spcPts val="0"/>
              </a:spcAft>
            </a:pPr>
            <a:r>
              <a:rPr sz="1300" b="1" i="0">
                <a:solidFill>
                  <a:srgbClr val="2E6E9E"/>
                </a:solidFill>
                <a:latin typeface="Calibri"/>
              </a:rPr>
              <a:t>UNE VAGUE TECHNOLOGIQUE INÉDITE</a:t>
            </a:r>
          </a:p>
        </p:txBody>
      </p:sp>
      <p:sp>
        <p:nvSpPr>
          <p:cNvPr id="10" name="TextBox 9"/>
          <p:cNvSpPr txBox="1"/>
          <p:nvPr/>
        </p:nvSpPr>
        <p:spPr>
          <a:xfrm>
            <a:off x="960120" y="2331720"/>
            <a:ext cx="4754880" cy="3657600"/>
          </a:xfrm>
          <a:prstGeom prst="rect">
            <a:avLst/>
          </a:prstGeom>
          <a:noFill/>
        </p:spPr>
        <p:txBody>
          <a:bodyPr wrap="square" lIns="0" rIns="0" tIns="0" bIns="0">
            <a:spAutoFit/>
          </a:bodyPr>
          <a:lstStyle/>
          <a:p>
            <a:pPr>
              <a:lnSpc>
                <a:spcPct val="106000"/>
              </a:lnSpc>
              <a:spcBef>
                <a:spcPts val="0"/>
              </a:spcBef>
              <a:spcAft>
                <a:spcPts val="1100"/>
              </a:spcAft>
            </a:pPr>
            <a:r>
              <a:rPr sz="1400" b="1">
                <a:solidFill>
                  <a:srgbClr val="E4A11B"/>
                </a:solidFill>
                <a:latin typeface="Calibri"/>
              </a:rPr>
              <a:t>▪  </a:t>
            </a:r>
            <a:r>
              <a:rPr sz="1400" b="1">
                <a:solidFill>
                  <a:srgbClr val="1A2033"/>
                </a:solidFill>
                <a:latin typeface="Calibri"/>
              </a:rPr>
              <a:t>ChatGPT, Copilot, Gamma…</a:t>
            </a:r>
            <a:r>
              <a:rPr sz="1400" b="0">
                <a:solidFill>
                  <a:srgbClr val="55607A"/>
                </a:solidFill>
                <a:latin typeface="Calibri"/>
              </a:rPr>
              <a:t> l'IA générative s'installe dans le travail quotidien et modifie les usages.</a:t>
            </a:r>
          </a:p>
          <a:p>
            <a:pPr>
              <a:lnSpc>
                <a:spcPct val="106000"/>
              </a:lnSpc>
              <a:spcBef>
                <a:spcPts val="0"/>
              </a:spcBef>
              <a:spcAft>
                <a:spcPts val="1100"/>
              </a:spcAft>
            </a:pPr>
            <a:r>
              <a:rPr sz="1400" b="1">
                <a:solidFill>
                  <a:srgbClr val="E4A11B"/>
                </a:solidFill>
                <a:latin typeface="Calibri"/>
              </a:rPr>
              <a:t>▪  </a:t>
            </a:r>
            <a:r>
              <a:rPr sz="1400" b="1">
                <a:solidFill>
                  <a:srgbClr val="1A2033"/>
                </a:solidFill>
                <a:latin typeface="Calibri"/>
              </a:rPr>
              <a:t>Industrie 4.0</a:t>
            </a:r>
            <a:r>
              <a:rPr sz="1400" b="0">
                <a:solidFill>
                  <a:srgbClr val="55607A"/>
                </a:solidFill>
                <a:latin typeface="Calibri"/>
              </a:rPr>
              <a:t> : automatisation, données, IA — la continuité des révolutions industrielles (Rouas &amp; Al Meriouh, 2025).</a:t>
            </a:r>
          </a:p>
          <a:p>
            <a:pPr>
              <a:lnSpc>
                <a:spcPct val="106000"/>
              </a:lnSpc>
              <a:spcBef>
                <a:spcPts val="0"/>
              </a:spcBef>
              <a:spcAft>
                <a:spcPts val="1100"/>
              </a:spcAft>
            </a:pPr>
            <a:r>
              <a:rPr sz="1400" b="1">
                <a:solidFill>
                  <a:srgbClr val="E4A11B"/>
                </a:solidFill>
                <a:latin typeface="Calibri"/>
              </a:rPr>
              <a:t>▪  </a:t>
            </a:r>
            <a:r>
              <a:rPr sz="1400" b="1">
                <a:solidFill>
                  <a:srgbClr val="1A2033"/>
                </a:solidFill>
                <a:latin typeface="Calibri"/>
              </a:rPr>
              <a:t>D'ici 2030</a:t>
            </a:r>
            <a:r>
              <a:rPr sz="1400" b="0">
                <a:solidFill>
                  <a:srgbClr val="55607A"/>
                </a:solidFill>
                <a:latin typeface="Calibri"/>
              </a:rPr>
              <a:t> : l'IA pourrait représenter ≈ 14 % du PIB mondial, soit ≈ 15 000 Md$ (Rouas &amp; Al Meriouh, 2025).</a:t>
            </a:r>
          </a:p>
          <a:p>
            <a:pPr>
              <a:lnSpc>
                <a:spcPct val="106000"/>
              </a:lnSpc>
              <a:spcBef>
                <a:spcPts val="0"/>
              </a:spcBef>
              <a:spcAft>
                <a:spcPts val="1100"/>
              </a:spcAft>
            </a:pPr>
            <a:r>
              <a:rPr sz="1400" b="1">
                <a:solidFill>
                  <a:srgbClr val="E4A11B"/>
                </a:solidFill>
                <a:latin typeface="Calibri"/>
              </a:rPr>
              <a:t>▪  </a:t>
            </a:r>
            <a:r>
              <a:rPr sz="1400" b="1">
                <a:solidFill>
                  <a:srgbClr val="1A2033"/>
                </a:solidFill>
                <a:latin typeface="Calibri"/>
              </a:rPr>
              <a:t>Un levier stratégique</a:t>
            </a:r>
            <a:r>
              <a:rPr sz="1400" b="0">
                <a:solidFill>
                  <a:srgbClr val="55607A"/>
                </a:solidFill>
                <a:latin typeface="Calibri"/>
              </a:rPr>
              <a:t> de productivité, d'aide à la décision et de compétitivité.</a:t>
            </a:r>
          </a:p>
        </p:txBody>
      </p:sp>
      <p:sp>
        <p:nvSpPr>
          <p:cNvPr id="11" name="Rounded Rectangle 10"/>
          <p:cNvSpPr/>
          <p:nvPr/>
        </p:nvSpPr>
        <p:spPr>
          <a:xfrm>
            <a:off x="6217920" y="1600200"/>
            <a:ext cx="5257800" cy="4480560"/>
          </a:xfrm>
          <a:prstGeom prst="roundRect">
            <a:avLst>
              <a:gd name="adj" fmla="val 4500"/>
            </a:avLst>
          </a:prstGeom>
          <a:solidFill>
            <a:srgbClr val="FFFFFF"/>
          </a:solidFill>
          <a:ln w="12700">
            <a:solidFill>
              <a:srgbClr val="D7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17920" y="1600200"/>
            <a:ext cx="5257800" cy="109728"/>
          </a:xfrm>
          <a:prstGeom prst="roundRect">
            <a:avLst/>
          </a:prstGeom>
          <a:solidFill>
            <a:srgbClr val="E4A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0" y="1810512"/>
            <a:ext cx="4754880" cy="457200"/>
          </a:xfrm>
          <a:prstGeom prst="rect">
            <a:avLst/>
          </a:prstGeom>
          <a:noFill/>
        </p:spPr>
        <p:txBody>
          <a:bodyPr wrap="square" anchor="t" lIns="0" rIns="0" tIns="0" bIns="0">
            <a:spAutoFit/>
          </a:bodyPr>
          <a:lstStyle/>
          <a:p>
            <a:pPr algn="l">
              <a:lnSpc>
                <a:spcPct val="100000"/>
              </a:lnSpc>
              <a:spcBef>
                <a:spcPts val="0"/>
              </a:spcBef>
              <a:spcAft>
                <a:spcPts val="0"/>
              </a:spcAft>
            </a:pPr>
            <a:r>
              <a:rPr sz="1300" b="1" i="0">
                <a:solidFill>
                  <a:srgbClr val="C6860E"/>
                </a:solidFill>
                <a:latin typeface="Calibri"/>
              </a:rPr>
              <a:t>MAIS LA PME EST UN CAS À PART</a:t>
            </a:r>
          </a:p>
        </p:txBody>
      </p:sp>
      <p:sp>
        <p:nvSpPr>
          <p:cNvPr id="14" name="TextBox 13"/>
          <p:cNvSpPr txBox="1"/>
          <p:nvPr/>
        </p:nvSpPr>
        <p:spPr>
          <a:xfrm>
            <a:off x="6492240" y="2331720"/>
            <a:ext cx="4754880" cy="3657600"/>
          </a:xfrm>
          <a:prstGeom prst="rect">
            <a:avLst/>
          </a:prstGeom>
          <a:noFill/>
        </p:spPr>
        <p:txBody>
          <a:bodyPr wrap="square" lIns="0" rIns="0" tIns="0" bIns="0">
            <a:spAutoFit/>
          </a:bodyPr>
          <a:lstStyle/>
          <a:p>
            <a:pPr>
              <a:lnSpc>
                <a:spcPct val="106000"/>
              </a:lnSpc>
              <a:spcBef>
                <a:spcPts val="0"/>
              </a:spcBef>
              <a:spcAft>
                <a:spcPts val="1100"/>
              </a:spcAft>
            </a:pPr>
            <a:r>
              <a:rPr sz="1400" b="1">
                <a:solidFill>
                  <a:srgbClr val="E4A11B"/>
                </a:solidFill>
                <a:latin typeface="Calibri"/>
              </a:rPr>
              <a:t>▪  </a:t>
            </a:r>
            <a:r>
              <a:rPr sz="1400" b="1">
                <a:solidFill>
                  <a:srgbClr val="1A2033"/>
                </a:solidFill>
                <a:latin typeface="Calibri"/>
              </a:rPr>
              <a:t>≈ 90 % des entreprises mondiales</a:t>
            </a:r>
            <a:r>
              <a:rPr sz="1400" b="0">
                <a:solidFill>
                  <a:srgbClr val="55607A"/>
                </a:solidFill>
                <a:latin typeface="Calibri"/>
              </a:rPr>
              <a:t> et moteur de l'emploi et des territoires (Farsad, 2021).</a:t>
            </a:r>
          </a:p>
          <a:p>
            <a:pPr>
              <a:lnSpc>
                <a:spcPct val="106000"/>
              </a:lnSpc>
              <a:spcBef>
                <a:spcPts val="0"/>
              </a:spcBef>
              <a:spcAft>
                <a:spcPts val="1100"/>
              </a:spcAft>
            </a:pPr>
            <a:r>
              <a:rPr sz="1400" b="1">
                <a:solidFill>
                  <a:srgbClr val="E4A11B"/>
                </a:solidFill>
                <a:latin typeface="Calibri"/>
              </a:rPr>
              <a:t>▪  </a:t>
            </a:r>
            <a:r>
              <a:rPr sz="1400" b="1">
                <a:solidFill>
                  <a:srgbClr val="1A2033"/>
                </a:solidFill>
                <a:latin typeface="Calibri"/>
              </a:rPr>
              <a:t>Ressources limitées</a:t>
            </a:r>
            <a:r>
              <a:rPr sz="1400" b="0">
                <a:solidFill>
                  <a:srgbClr val="55607A"/>
                </a:solidFill>
                <a:latin typeface="Calibri"/>
              </a:rPr>
              <a:t> : financières, humaines et technologiques.</a:t>
            </a:r>
          </a:p>
          <a:p>
            <a:pPr>
              <a:lnSpc>
                <a:spcPct val="106000"/>
              </a:lnSpc>
              <a:spcBef>
                <a:spcPts val="0"/>
              </a:spcBef>
              <a:spcAft>
                <a:spcPts val="1100"/>
              </a:spcAft>
            </a:pPr>
            <a:r>
              <a:rPr sz="1400" b="1">
                <a:solidFill>
                  <a:srgbClr val="E4A11B"/>
                </a:solidFill>
                <a:latin typeface="Calibri"/>
              </a:rPr>
              <a:t>▪  </a:t>
            </a:r>
            <a:r>
              <a:rPr sz="1400" b="1">
                <a:solidFill>
                  <a:srgbClr val="1A2033"/>
                </a:solidFill>
                <a:latin typeface="Calibri"/>
              </a:rPr>
              <a:t>Dirigeant central</a:t>
            </a:r>
            <a:r>
              <a:rPr sz="1400" b="0">
                <a:solidFill>
                  <a:srgbClr val="55607A"/>
                </a:solidFill>
                <a:latin typeface="Calibri"/>
              </a:rPr>
              <a:t> et structure souple (Nassou &amp; Bennani, 2024).</a:t>
            </a:r>
          </a:p>
          <a:p>
            <a:pPr>
              <a:lnSpc>
                <a:spcPct val="106000"/>
              </a:lnSpc>
              <a:spcBef>
                <a:spcPts val="0"/>
              </a:spcBef>
              <a:spcAft>
                <a:spcPts val="1100"/>
              </a:spcAft>
            </a:pPr>
            <a:r>
              <a:rPr sz="1400" b="1">
                <a:solidFill>
                  <a:srgbClr val="E4A11B"/>
                </a:solidFill>
                <a:latin typeface="Calibri"/>
              </a:rPr>
              <a:t>▪  </a:t>
            </a:r>
            <a:r>
              <a:rPr sz="1400" b="1">
                <a:solidFill>
                  <a:srgbClr val="1A2033"/>
                </a:solidFill>
                <a:latin typeface="Calibri"/>
              </a:rPr>
              <a:t>Poids des traditions</a:t>
            </a:r>
            <a:r>
              <a:rPr sz="1400" b="0">
                <a:solidFill>
                  <a:srgbClr val="55607A"/>
                </a:solidFill>
                <a:latin typeface="Calibri"/>
              </a:rPr>
              <a:t> et culture d'entreprise (Schein, 2015 ; Torrès, 1999).</a:t>
            </a:r>
          </a:p>
        </p:txBody>
      </p:sp>
      <p:sp>
        <p:nvSpPr>
          <p:cNvPr id="15" name="TextBox 14"/>
          <p:cNvSpPr txBox="1"/>
          <p:nvPr/>
        </p:nvSpPr>
        <p:spPr>
          <a:xfrm>
            <a:off x="685800" y="6428232"/>
            <a:ext cx="7315200" cy="32004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9AA6B8"/>
                </a:solidFill>
                <a:latin typeface="Calibri"/>
              </a:rPr>
              <a:t>Maxime LOUSTALET  ·  Soutenance de mémoire  ·  Eklore-ed School of Management  ·  2025–2026</a:t>
            </a:r>
          </a:p>
        </p:txBody>
      </p:sp>
      <p:sp>
        <p:nvSpPr>
          <p:cNvPr id="16" name="TextBox 15"/>
          <p:cNvSpPr txBox="1"/>
          <p:nvPr/>
        </p:nvSpPr>
        <p:spPr>
          <a:xfrm>
            <a:off x="10881360" y="6428232"/>
            <a:ext cx="640080" cy="320040"/>
          </a:xfrm>
          <a:prstGeom prst="rect">
            <a:avLst/>
          </a:prstGeom>
          <a:noFill/>
        </p:spPr>
        <p:txBody>
          <a:bodyPr wrap="square" anchor="t" lIns="0" rIns="0" tIns="0" bIns="0">
            <a:spAutoFit/>
          </a:bodyPr>
          <a:lstStyle/>
          <a:p>
            <a:pPr algn="r">
              <a:lnSpc>
                <a:spcPct val="100000"/>
              </a:lnSpc>
              <a:spcBef>
                <a:spcPts val="0"/>
              </a:spcBef>
              <a:spcAft>
                <a:spcPts val="0"/>
              </a:spcAft>
            </a:pPr>
            <a:r>
              <a:rPr sz="900" b="1" i="0">
                <a:solidFill>
                  <a:srgbClr val="9AA6B8"/>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371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46304" cy="1371600"/>
          </a:xfrm>
          <a:prstGeom prst="rect">
            <a:avLst/>
          </a:prstGeom>
          <a:solidFill>
            <a:srgbClr val="E4A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310896"/>
            <a:ext cx="10515600" cy="365760"/>
          </a:xfrm>
          <a:prstGeom prst="rect">
            <a:avLst/>
          </a:prstGeom>
          <a:noFill/>
        </p:spPr>
        <p:txBody>
          <a:bodyPr wrap="square" anchor="t" lIns="0" rIns="0" tIns="0" bIns="0">
            <a:spAutoFit/>
          </a:bodyPr>
          <a:lstStyle/>
          <a:p>
            <a:pPr algn="l">
              <a:lnSpc>
                <a:spcPct val="100000"/>
              </a:lnSpc>
              <a:spcBef>
                <a:spcPts val="0"/>
              </a:spcBef>
              <a:spcAft>
                <a:spcPts val="0"/>
              </a:spcAft>
            </a:pPr>
            <a:r>
              <a:rPr sz="1250" b="1" i="0">
                <a:solidFill>
                  <a:srgbClr val="2E6E9E"/>
                </a:solidFill>
                <a:latin typeface="Calibri"/>
              </a:rPr>
              <a:t>01 · TERRAIN &amp; PROBLÉMATIQUE</a:t>
            </a:r>
          </a:p>
        </p:txBody>
      </p:sp>
      <p:sp>
        <p:nvSpPr>
          <p:cNvPr id="6" name="TextBox 5"/>
          <p:cNvSpPr txBox="1"/>
          <p:nvPr/>
        </p:nvSpPr>
        <p:spPr>
          <a:xfrm>
            <a:off x="685800" y="576072"/>
            <a:ext cx="10881360" cy="640080"/>
          </a:xfrm>
          <a:prstGeom prst="rect">
            <a:avLst/>
          </a:prstGeom>
          <a:noFill/>
        </p:spPr>
        <p:txBody>
          <a:bodyPr wrap="square" anchor="t" lIns="0" rIns="0" tIns="0" bIns="0">
            <a:spAutoFit/>
          </a:bodyPr>
          <a:lstStyle/>
          <a:p>
            <a:pPr algn="l">
              <a:lnSpc>
                <a:spcPct val="100000"/>
              </a:lnSpc>
              <a:spcBef>
                <a:spcPts val="0"/>
              </a:spcBef>
              <a:spcAft>
                <a:spcPts val="0"/>
              </a:spcAft>
            </a:pPr>
            <a:r>
              <a:rPr sz="2700" b="1" i="0">
                <a:solidFill>
                  <a:srgbClr val="0E2A47"/>
                </a:solidFill>
                <a:latin typeface="Calibri"/>
              </a:rPr>
              <a:t>Arla Groupe : un usage réel de l'IA, mais non encadré</a:t>
            </a:r>
          </a:p>
        </p:txBody>
      </p:sp>
      <p:sp>
        <p:nvSpPr>
          <p:cNvPr id="7" name="Rectangle 6"/>
          <p:cNvSpPr/>
          <p:nvPr/>
        </p:nvSpPr>
        <p:spPr>
          <a:xfrm>
            <a:off x="713232" y="1207008"/>
            <a:ext cx="777240" cy="50292"/>
          </a:xfrm>
          <a:prstGeom prst="rect">
            <a:avLst/>
          </a:prstGeom>
          <a:solidFill>
            <a:srgbClr val="E4A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85800" y="1572768"/>
            <a:ext cx="4709160" cy="4526280"/>
          </a:xfrm>
          <a:prstGeom prst="roundRect">
            <a:avLst>
              <a:gd name="adj" fmla="val 4500"/>
            </a:avLst>
          </a:prstGeom>
          <a:solidFill>
            <a:srgbClr val="FFFFFF"/>
          </a:solidFill>
          <a:ln w="12700">
            <a:solidFill>
              <a:srgbClr val="D7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85800" y="1572768"/>
            <a:ext cx="4709160" cy="109728"/>
          </a:xfrm>
          <a:prstGeom prst="roundRect">
            <a:avLst/>
          </a:prstGeom>
          <a:solidFill>
            <a:srgbClr val="2E6E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1783080"/>
            <a:ext cx="4297680" cy="457200"/>
          </a:xfrm>
          <a:prstGeom prst="rect">
            <a:avLst/>
          </a:prstGeom>
          <a:noFill/>
        </p:spPr>
        <p:txBody>
          <a:bodyPr wrap="square" anchor="t" lIns="0" rIns="0" tIns="0" bIns="0">
            <a:spAutoFit/>
          </a:bodyPr>
          <a:lstStyle/>
          <a:p>
            <a:pPr algn="l">
              <a:lnSpc>
                <a:spcPct val="100000"/>
              </a:lnSpc>
              <a:spcBef>
                <a:spcPts val="0"/>
              </a:spcBef>
              <a:spcAft>
                <a:spcPts val="0"/>
              </a:spcAft>
            </a:pPr>
            <a:r>
              <a:rPr sz="1300" b="1" i="0">
                <a:solidFill>
                  <a:srgbClr val="2E6E9E"/>
                </a:solidFill>
                <a:latin typeface="Calibri"/>
              </a:rPr>
              <a:t>LE TERRAIN — ARLA GROUPE</a:t>
            </a:r>
          </a:p>
        </p:txBody>
      </p:sp>
      <p:sp>
        <p:nvSpPr>
          <p:cNvPr id="11" name="TextBox 10"/>
          <p:cNvSpPr txBox="1"/>
          <p:nvPr/>
        </p:nvSpPr>
        <p:spPr>
          <a:xfrm>
            <a:off x="932688" y="2331720"/>
            <a:ext cx="4251960" cy="3657600"/>
          </a:xfrm>
          <a:prstGeom prst="rect">
            <a:avLst/>
          </a:prstGeom>
          <a:noFill/>
        </p:spPr>
        <p:txBody>
          <a:bodyPr wrap="square" lIns="0" rIns="0" tIns="0" bIns="0">
            <a:spAutoFit/>
          </a:bodyPr>
          <a:lstStyle/>
          <a:p>
            <a:pPr>
              <a:lnSpc>
                <a:spcPct val="106000"/>
              </a:lnSpc>
              <a:spcBef>
                <a:spcPts val="0"/>
              </a:spcBef>
              <a:spcAft>
                <a:spcPts val="1000"/>
              </a:spcAft>
            </a:pPr>
            <a:r>
              <a:rPr sz="1350" b="1">
                <a:solidFill>
                  <a:srgbClr val="E4A11B"/>
                </a:solidFill>
                <a:latin typeface="Calibri"/>
              </a:rPr>
              <a:t>▪  </a:t>
            </a:r>
            <a:r>
              <a:rPr sz="1350" b="1">
                <a:solidFill>
                  <a:srgbClr val="1A2033"/>
                </a:solidFill>
                <a:latin typeface="Calibri"/>
              </a:rPr>
              <a:t>PME du bâtiment</a:t>
            </a:r>
            <a:r>
              <a:rPr sz="1350" b="0">
                <a:solidFill>
                  <a:srgbClr val="55607A"/>
                </a:solidFill>
                <a:latin typeface="Calibri"/>
              </a:rPr>
              <a:t> : maçonnerie, construction métallique, bureau d'études.</a:t>
            </a:r>
          </a:p>
          <a:p>
            <a:pPr>
              <a:lnSpc>
                <a:spcPct val="106000"/>
              </a:lnSpc>
              <a:spcBef>
                <a:spcPts val="0"/>
              </a:spcBef>
              <a:spcAft>
                <a:spcPts val="1000"/>
              </a:spcAft>
            </a:pPr>
            <a:r>
              <a:rPr sz="1350" b="1">
                <a:solidFill>
                  <a:srgbClr val="E4A11B"/>
                </a:solidFill>
                <a:latin typeface="Calibri"/>
              </a:rPr>
              <a:t>▪  </a:t>
            </a:r>
            <a:r>
              <a:rPr sz="1350" b="1">
                <a:solidFill>
                  <a:srgbClr val="1A2033"/>
                </a:solidFill>
                <a:latin typeface="Calibri"/>
              </a:rPr>
              <a:t>Métiers variés</a:t>
            </a:r>
            <a:r>
              <a:rPr sz="1350" b="0">
                <a:solidFill>
                  <a:srgbClr val="55607A"/>
                </a:solidFill>
                <a:latin typeface="Calibri"/>
              </a:rPr>
              <a:t> : dirigeants, métreurs-deviseurs, conducteurs de travaux, commerciaux, RH, terrain.</a:t>
            </a:r>
          </a:p>
          <a:p>
            <a:pPr>
              <a:lnSpc>
                <a:spcPct val="106000"/>
              </a:lnSpc>
              <a:spcBef>
                <a:spcPts val="0"/>
              </a:spcBef>
              <a:spcAft>
                <a:spcPts val="1000"/>
              </a:spcAft>
            </a:pPr>
            <a:r>
              <a:rPr sz="1350" b="1">
                <a:solidFill>
                  <a:srgbClr val="E4A11B"/>
                </a:solidFill>
                <a:latin typeface="Calibri"/>
              </a:rPr>
              <a:t>▪  </a:t>
            </a:r>
            <a:r>
              <a:rPr sz="1350" b="1">
                <a:solidFill>
                  <a:srgbClr val="1A2033"/>
                </a:solidFill>
                <a:latin typeface="Calibri"/>
              </a:rPr>
              <a:t>Déjà des usages IA</a:t>
            </a:r>
            <a:r>
              <a:rPr sz="1350" b="0">
                <a:solidFill>
                  <a:srgbClr val="55607A"/>
                </a:solidFill>
                <a:latin typeface="Calibri"/>
              </a:rPr>
              <a:t> : ChatGPT, Copilot, Gamma dans les missions quotidiennes.</a:t>
            </a:r>
          </a:p>
          <a:p>
            <a:pPr>
              <a:lnSpc>
                <a:spcPct val="106000"/>
              </a:lnSpc>
              <a:spcBef>
                <a:spcPts val="0"/>
              </a:spcBef>
              <a:spcAft>
                <a:spcPts val="1000"/>
              </a:spcAft>
            </a:pPr>
            <a:r>
              <a:rPr sz="1350" b="1">
                <a:solidFill>
                  <a:srgbClr val="E4A11B"/>
                </a:solidFill>
                <a:latin typeface="Calibri"/>
              </a:rPr>
              <a:t>▪  </a:t>
            </a:r>
            <a:r>
              <a:rPr sz="1350" b="1">
                <a:solidFill>
                  <a:srgbClr val="1A2033"/>
                </a:solidFill>
                <a:latin typeface="Calibri"/>
              </a:rPr>
              <a:t>Le constat</a:t>
            </a:r>
            <a:r>
              <a:rPr sz="1350" b="0">
                <a:solidFill>
                  <a:srgbClr val="55607A"/>
                </a:solidFill>
                <a:latin typeface="Calibri"/>
              </a:rPr>
              <a:t> : un usage individuel, spontané, peu encadré et non partagé.</a:t>
            </a:r>
          </a:p>
        </p:txBody>
      </p:sp>
      <p:sp>
        <p:nvSpPr>
          <p:cNvPr id="12" name="Rounded Rectangle 11"/>
          <p:cNvSpPr/>
          <p:nvPr/>
        </p:nvSpPr>
        <p:spPr>
          <a:xfrm>
            <a:off x="5623560" y="1572768"/>
            <a:ext cx="5852160" cy="2788920"/>
          </a:xfrm>
          <a:prstGeom prst="roundRect">
            <a:avLst>
              <a:gd name="adj" fmla="val 4500"/>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623560" y="1572768"/>
            <a:ext cx="128016" cy="2788920"/>
          </a:xfrm>
          <a:prstGeom prst="rect">
            <a:avLst/>
          </a:prstGeom>
          <a:solidFill>
            <a:srgbClr val="E4A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89320" y="1810512"/>
            <a:ext cx="5303520" cy="365760"/>
          </a:xfrm>
          <a:prstGeom prst="rect">
            <a:avLst/>
          </a:prstGeom>
          <a:noFill/>
        </p:spPr>
        <p:txBody>
          <a:bodyPr wrap="square" anchor="t" lIns="0" rIns="0" tIns="0" bIns="0">
            <a:spAutoFit/>
          </a:bodyPr>
          <a:lstStyle/>
          <a:p>
            <a:pPr algn="l">
              <a:lnSpc>
                <a:spcPct val="100000"/>
              </a:lnSpc>
              <a:spcBef>
                <a:spcPts val="0"/>
              </a:spcBef>
              <a:spcAft>
                <a:spcPts val="0"/>
              </a:spcAft>
            </a:pPr>
            <a:r>
              <a:rPr sz="1300" b="1" i="0">
                <a:solidFill>
                  <a:srgbClr val="E4A11B"/>
                </a:solidFill>
                <a:latin typeface="Calibri"/>
              </a:rPr>
              <a:t>PROBLÉMATIQUE</a:t>
            </a:r>
          </a:p>
        </p:txBody>
      </p:sp>
      <p:sp>
        <p:nvSpPr>
          <p:cNvPr id="15" name="TextBox 14"/>
          <p:cNvSpPr txBox="1"/>
          <p:nvPr/>
        </p:nvSpPr>
        <p:spPr>
          <a:xfrm>
            <a:off x="5989320" y="2240280"/>
            <a:ext cx="5257800" cy="2103120"/>
          </a:xfrm>
          <a:prstGeom prst="rect">
            <a:avLst/>
          </a:prstGeom>
          <a:noFill/>
        </p:spPr>
        <p:txBody>
          <a:bodyPr wrap="square" anchor="t" lIns="0" rIns="0" tIns="0" bIns="0">
            <a:spAutoFit/>
          </a:bodyPr>
          <a:lstStyle/>
          <a:p>
            <a:pPr algn="l">
              <a:lnSpc>
                <a:spcPct val="105000"/>
              </a:lnSpc>
              <a:spcBef>
                <a:spcPts val="0"/>
              </a:spcBef>
              <a:spcAft>
                <a:spcPts val="0"/>
              </a:spcAft>
            </a:pPr>
            <a:r>
              <a:rPr sz="1650" b="1" i="1">
                <a:solidFill>
                  <a:srgbClr val="FFFFFF"/>
                </a:solidFill>
                <a:latin typeface="Calibri"/>
              </a:rPr>
              <a:t>« Comment les PME peuvent-elles intégrer l'IA et les technologies numériques tout en tenant compte de leurs ressources limitées, de leur structure organisationnelle et de leur culture d'entreprise ? »</a:t>
            </a:r>
          </a:p>
        </p:txBody>
      </p:sp>
      <p:sp>
        <p:nvSpPr>
          <p:cNvPr id="16" name="Rounded Rectangle 15"/>
          <p:cNvSpPr/>
          <p:nvPr/>
        </p:nvSpPr>
        <p:spPr>
          <a:xfrm>
            <a:off x="5623560" y="4526280"/>
            <a:ext cx="822960" cy="420624"/>
          </a:xfrm>
          <a:prstGeom prst="roundRect">
            <a:avLst/>
          </a:prstGeom>
          <a:solidFill>
            <a:srgbClr val="2E6E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623560" y="4594860"/>
            <a:ext cx="822960" cy="365760"/>
          </a:xfrm>
          <a:prstGeom prst="rect">
            <a:avLst/>
          </a:prstGeom>
          <a:noFill/>
        </p:spPr>
        <p:txBody>
          <a:bodyPr wrap="square" anchor="t" lIns="0" rIns="0" tIns="0" bIns="0">
            <a:spAutoFit/>
          </a:bodyPr>
          <a:lstStyle/>
          <a:p>
            <a:pPr algn="ctr">
              <a:lnSpc>
                <a:spcPct val="100000"/>
              </a:lnSpc>
              <a:spcBef>
                <a:spcPts val="0"/>
              </a:spcBef>
              <a:spcAft>
                <a:spcPts val="0"/>
              </a:spcAft>
            </a:pPr>
            <a:r>
              <a:rPr sz="1250" b="1" i="0">
                <a:solidFill>
                  <a:srgbClr val="FFFFFF"/>
                </a:solidFill>
                <a:latin typeface="Calibri"/>
              </a:rPr>
              <a:t>QR1</a:t>
            </a:r>
          </a:p>
        </p:txBody>
      </p:sp>
      <p:sp>
        <p:nvSpPr>
          <p:cNvPr id="18" name="TextBox 17"/>
          <p:cNvSpPr txBox="1"/>
          <p:nvPr/>
        </p:nvSpPr>
        <p:spPr>
          <a:xfrm>
            <a:off x="6583680" y="4576572"/>
            <a:ext cx="4846320" cy="411480"/>
          </a:xfrm>
          <a:prstGeom prst="rect">
            <a:avLst/>
          </a:prstGeom>
          <a:noFill/>
        </p:spPr>
        <p:txBody>
          <a:bodyPr wrap="square" anchor="ctr" lIns="0" rIns="0" tIns="0" bIns="0">
            <a:spAutoFit/>
          </a:bodyPr>
          <a:lstStyle/>
          <a:p>
            <a:pPr algn="l">
              <a:lnSpc>
                <a:spcPct val="100000"/>
              </a:lnSpc>
              <a:spcBef>
                <a:spcPts val="0"/>
              </a:spcBef>
              <a:spcAft>
                <a:spcPts val="0"/>
              </a:spcAft>
            </a:pPr>
            <a:r>
              <a:rPr sz="1250" b="0" i="0">
                <a:solidFill>
                  <a:srgbClr val="1A2033"/>
                </a:solidFill>
                <a:latin typeface="Calibri"/>
              </a:rPr>
              <a:t>Comment les salariés perçoivent-ils l'IA ?</a:t>
            </a:r>
          </a:p>
        </p:txBody>
      </p:sp>
      <p:sp>
        <p:nvSpPr>
          <p:cNvPr id="19" name="Rounded Rectangle 18"/>
          <p:cNvSpPr/>
          <p:nvPr/>
        </p:nvSpPr>
        <p:spPr>
          <a:xfrm>
            <a:off x="5623560" y="5047488"/>
            <a:ext cx="822960" cy="420624"/>
          </a:xfrm>
          <a:prstGeom prst="roundRect">
            <a:avLst/>
          </a:prstGeom>
          <a:solidFill>
            <a:srgbClr val="2E6E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623560" y="5116068"/>
            <a:ext cx="822960" cy="365760"/>
          </a:xfrm>
          <a:prstGeom prst="rect">
            <a:avLst/>
          </a:prstGeom>
          <a:noFill/>
        </p:spPr>
        <p:txBody>
          <a:bodyPr wrap="square" anchor="t" lIns="0" rIns="0" tIns="0" bIns="0">
            <a:spAutoFit/>
          </a:bodyPr>
          <a:lstStyle/>
          <a:p>
            <a:pPr algn="ctr">
              <a:lnSpc>
                <a:spcPct val="100000"/>
              </a:lnSpc>
              <a:spcBef>
                <a:spcPts val="0"/>
              </a:spcBef>
              <a:spcAft>
                <a:spcPts val="0"/>
              </a:spcAft>
            </a:pPr>
            <a:r>
              <a:rPr sz="1250" b="1" i="0">
                <a:solidFill>
                  <a:srgbClr val="FFFFFF"/>
                </a:solidFill>
                <a:latin typeface="Calibri"/>
              </a:rPr>
              <a:t>QR2</a:t>
            </a:r>
          </a:p>
        </p:txBody>
      </p:sp>
      <p:sp>
        <p:nvSpPr>
          <p:cNvPr id="21" name="TextBox 20"/>
          <p:cNvSpPr txBox="1"/>
          <p:nvPr/>
        </p:nvSpPr>
        <p:spPr>
          <a:xfrm>
            <a:off x="6583680" y="5097780"/>
            <a:ext cx="4846320" cy="411480"/>
          </a:xfrm>
          <a:prstGeom prst="rect">
            <a:avLst/>
          </a:prstGeom>
          <a:noFill/>
        </p:spPr>
        <p:txBody>
          <a:bodyPr wrap="square" anchor="ctr" lIns="0" rIns="0" tIns="0" bIns="0">
            <a:spAutoFit/>
          </a:bodyPr>
          <a:lstStyle/>
          <a:p>
            <a:pPr algn="l">
              <a:lnSpc>
                <a:spcPct val="100000"/>
              </a:lnSpc>
              <a:spcBef>
                <a:spcPts val="0"/>
              </a:spcBef>
              <a:spcAft>
                <a:spcPts val="0"/>
              </a:spcAft>
            </a:pPr>
            <a:r>
              <a:rPr sz="1250" b="0" i="0">
                <a:solidFill>
                  <a:srgbClr val="1A2033"/>
                </a:solidFill>
                <a:latin typeface="Calibri"/>
              </a:rPr>
              <a:t>Quels freins (organisationnels, humains, culturels) ?</a:t>
            </a:r>
          </a:p>
        </p:txBody>
      </p:sp>
      <p:sp>
        <p:nvSpPr>
          <p:cNvPr id="22" name="Rounded Rectangle 21"/>
          <p:cNvSpPr/>
          <p:nvPr/>
        </p:nvSpPr>
        <p:spPr>
          <a:xfrm>
            <a:off x="5623560" y="5568696"/>
            <a:ext cx="822960" cy="420624"/>
          </a:xfrm>
          <a:prstGeom prst="roundRect">
            <a:avLst/>
          </a:prstGeom>
          <a:solidFill>
            <a:srgbClr val="2E6E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23560" y="5637276"/>
            <a:ext cx="822960" cy="365760"/>
          </a:xfrm>
          <a:prstGeom prst="rect">
            <a:avLst/>
          </a:prstGeom>
          <a:noFill/>
        </p:spPr>
        <p:txBody>
          <a:bodyPr wrap="square" anchor="t" lIns="0" rIns="0" tIns="0" bIns="0">
            <a:spAutoFit/>
          </a:bodyPr>
          <a:lstStyle/>
          <a:p>
            <a:pPr algn="ctr">
              <a:lnSpc>
                <a:spcPct val="100000"/>
              </a:lnSpc>
              <a:spcBef>
                <a:spcPts val="0"/>
              </a:spcBef>
              <a:spcAft>
                <a:spcPts val="0"/>
              </a:spcAft>
            </a:pPr>
            <a:r>
              <a:rPr sz="1250" b="1" i="0">
                <a:solidFill>
                  <a:srgbClr val="FFFFFF"/>
                </a:solidFill>
                <a:latin typeface="Calibri"/>
              </a:rPr>
              <a:t>QR3</a:t>
            </a:r>
          </a:p>
        </p:txBody>
      </p:sp>
      <p:sp>
        <p:nvSpPr>
          <p:cNvPr id="24" name="TextBox 23"/>
          <p:cNvSpPr txBox="1"/>
          <p:nvPr/>
        </p:nvSpPr>
        <p:spPr>
          <a:xfrm>
            <a:off x="6583680" y="5618988"/>
            <a:ext cx="4846320" cy="411480"/>
          </a:xfrm>
          <a:prstGeom prst="rect">
            <a:avLst/>
          </a:prstGeom>
          <a:noFill/>
        </p:spPr>
        <p:txBody>
          <a:bodyPr wrap="square" anchor="ctr" lIns="0" rIns="0" tIns="0" bIns="0">
            <a:spAutoFit/>
          </a:bodyPr>
          <a:lstStyle/>
          <a:p>
            <a:pPr algn="l">
              <a:lnSpc>
                <a:spcPct val="100000"/>
              </a:lnSpc>
              <a:spcBef>
                <a:spcPts val="0"/>
              </a:spcBef>
              <a:spcAft>
                <a:spcPts val="0"/>
              </a:spcAft>
            </a:pPr>
            <a:r>
              <a:rPr sz="1250" b="0" i="0">
                <a:solidFill>
                  <a:srgbClr val="1A2033"/>
                </a:solidFill>
                <a:latin typeface="Calibri"/>
              </a:rPr>
              <a:t>En quoi les spécificités PME influencent l'adoption ?</a:t>
            </a:r>
          </a:p>
        </p:txBody>
      </p:sp>
      <p:sp>
        <p:nvSpPr>
          <p:cNvPr id="25" name="TextBox 24"/>
          <p:cNvSpPr txBox="1"/>
          <p:nvPr/>
        </p:nvSpPr>
        <p:spPr>
          <a:xfrm>
            <a:off x="685800" y="6428232"/>
            <a:ext cx="7315200" cy="32004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9AA6B8"/>
                </a:solidFill>
                <a:latin typeface="Calibri"/>
              </a:rPr>
              <a:t>Maxime LOUSTALET  ·  Soutenance de mémoire  ·  Eklore-ed School of Management  ·  2025–2026</a:t>
            </a:r>
          </a:p>
        </p:txBody>
      </p:sp>
      <p:sp>
        <p:nvSpPr>
          <p:cNvPr id="26" name="TextBox 25"/>
          <p:cNvSpPr txBox="1"/>
          <p:nvPr/>
        </p:nvSpPr>
        <p:spPr>
          <a:xfrm>
            <a:off x="10881360" y="6428232"/>
            <a:ext cx="640080" cy="320040"/>
          </a:xfrm>
          <a:prstGeom prst="rect">
            <a:avLst/>
          </a:prstGeom>
          <a:noFill/>
        </p:spPr>
        <p:txBody>
          <a:bodyPr wrap="square" anchor="t" lIns="0" rIns="0" tIns="0" bIns="0">
            <a:spAutoFit/>
          </a:bodyPr>
          <a:lstStyle/>
          <a:p>
            <a:pPr algn="r">
              <a:lnSpc>
                <a:spcPct val="100000"/>
              </a:lnSpc>
              <a:spcBef>
                <a:spcPts val="0"/>
              </a:spcBef>
              <a:spcAft>
                <a:spcPts val="0"/>
              </a:spcAft>
            </a:pPr>
            <a:r>
              <a:rPr sz="900" b="1" i="0">
                <a:solidFill>
                  <a:srgbClr val="9AA6B8"/>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E4A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2148840"/>
            <a:ext cx="2194560" cy="54864"/>
          </a:xfrm>
          <a:prstGeom prst="rect">
            <a:avLst/>
          </a:prstGeom>
          <a:solidFill>
            <a:srgbClr val="E4A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2331720"/>
            <a:ext cx="10058400" cy="1280160"/>
          </a:xfrm>
          <a:prstGeom prst="rect">
            <a:avLst/>
          </a:prstGeom>
          <a:noFill/>
        </p:spPr>
        <p:txBody>
          <a:bodyPr wrap="square" anchor="t" lIns="0" rIns="0" tIns="0" bIns="0">
            <a:spAutoFit/>
          </a:bodyPr>
          <a:lstStyle/>
          <a:p>
            <a:pPr algn="l">
              <a:lnSpc>
                <a:spcPct val="100000"/>
              </a:lnSpc>
              <a:spcBef>
                <a:spcPts val="0"/>
              </a:spcBef>
              <a:spcAft>
                <a:spcPts val="0"/>
              </a:spcAft>
            </a:pPr>
            <a:r>
              <a:rPr sz="9200" b="1" i="0">
                <a:solidFill>
                  <a:srgbClr val="24466B"/>
                </a:solidFill>
                <a:latin typeface="Calibri"/>
              </a:rPr>
              <a:t>02</a:t>
            </a:r>
          </a:p>
        </p:txBody>
      </p:sp>
      <p:sp>
        <p:nvSpPr>
          <p:cNvPr id="6" name="TextBox 5"/>
          <p:cNvSpPr txBox="1"/>
          <p:nvPr/>
        </p:nvSpPr>
        <p:spPr>
          <a:xfrm>
            <a:off x="2743200" y="2514600"/>
            <a:ext cx="8595360" cy="1463040"/>
          </a:xfrm>
          <a:prstGeom prst="rect">
            <a:avLst/>
          </a:prstGeom>
          <a:noFill/>
        </p:spPr>
        <p:txBody>
          <a:bodyPr wrap="square" anchor="t" lIns="0" rIns="0" tIns="0" bIns="0">
            <a:spAutoFit/>
          </a:bodyPr>
          <a:lstStyle/>
          <a:p>
            <a:pPr algn="l">
              <a:lnSpc>
                <a:spcPct val="100000"/>
              </a:lnSpc>
              <a:spcBef>
                <a:spcPts val="0"/>
              </a:spcBef>
              <a:spcAft>
                <a:spcPts val="0"/>
              </a:spcAft>
            </a:pPr>
            <a:r>
              <a:rPr sz="4000" b="1" i="0">
                <a:solidFill>
                  <a:srgbClr val="FFFFFF"/>
                </a:solidFill>
                <a:latin typeface="Calibri"/>
              </a:rPr>
              <a:t>Cadre théorique &amp; propositions</a:t>
            </a:r>
          </a:p>
        </p:txBody>
      </p:sp>
      <p:sp>
        <p:nvSpPr>
          <p:cNvPr id="7" name="TextBox 6"/>
          <p:cNvSpPr txBox="1"/>
          <p:nvPr/>
        </p:nvSpPr>
        <p:spPr>
          <a:xfrm>
            <a:off x="2788920" y="3611880"/>
            <a:ext cx="8412480" cy="731520"/>
          </a:xfrm>
          <a:prstGeom prst="rect">
            <a:avLst/>
          </a:prstGeom>
          <a:noFill/>
        </p:spPr>
        <p:txBody>
          <a:bodyPr wrap="square" anchor="t" lIns="0" rIns="0" tIns="0" bIns="0">
            <a:spAutoFit/>
          </a:bodyPr>
          <a:lstStyle/>
          <a:p>
            <a:pPr algn="l">
              <a:lnSpc>
                <a:spcPct val="100000"/>
              </a:lnSpc>
              <a:spcBef>
                <a:spcPts val="0"/>
              </a:spcBef>
              <a:spcAft>
                <a:spcPts val="0"/>
              </a:spcAft>
            </a:pPr>
            <a:r>
              <a:rPr sz="1600" b="0" i="1">
                <a:solidFill>
                  <a:srgbClr val="B8C6D8"/>
                </a:solidFill>
                <a:latin typeface="Calibri"/>
              </a:rPr>
              <a:t>Ce que la littérature nous apprend sur les PME et sur l'IA</a:t>
            </a:r>
          </a:p>
        </p:txBody>
      </p:sp>
      <p:sp>
        <p:nvSpPr>
          <p:cNvPr id="8" name="TextBox 7"/>
          <p:cNvSpPr txBox="1"/>
          <p:nvPr/>
        </p:nvSpPr>
        <p:spPr>
          <a:xfrm>
            <a:off x="685800" y="6428232"/>
            <a:ext cx="7315200" cy="32004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A9CB5"/>
                </a:solidFill>
                <a:latin typeface="Calibri"/>
              </a:rPr>
              <a:t>Maxime LOUSTALET  ·  Soutenance de mémoire  ·  Eklore-ed School of Management  ·  2025–2026</a:t>
            </a:r>
          </a:p>
        </p:txBody>
      </p:sp>
      <p:sp>
        <p:nvSpPr>
          <p:cNvPr id="9" name="TextBox 8"/>
          <p:cNvSpPr txBox="1"/>
          <p:nvPr/>
        </p:nvSpPr>
        <p:spPr>
          <a:xfrm>
            <a:off x="10881360" y="6428232"/>
            <a:ext cx="640080" cy="320040"/>
          </a:xfrm>
          <a:prstGeom prst="rect">
            <a:avLst/>
          </a:prstGeom>
          <a:noFill/>
        </p:spPr>
        <p:txBody>
          <a:bodyPr wrap="square" anchor="t" lIns="0" rIns="0" tIns="0" bIns="0">
            <a:spAutoFit/>
          </a:bodyPr>
          <a:lstStyle/>
          <a:p>
            <a:pPr algn="r">
              <a:lnSpc>
                <a:spcPct val="100000"/>
              </a:lnSpc>
              <a:spcBef>
                <a:spcPts val="0"/>
              </a:spcBef>
              <a:spcAft>
                <a:spcPts val="0"/>
              </a:spcAft>
            </a:pPr>
            <a:r>
              <a:rPr sz="900" b="1" i="0">
                <a:solidFill>
                  <a:srgbClr val="8A9CB5"/>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371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46304" cy="1371600"/>
          </a:xfrm>
          <a:prstGeom prst="rect">
            <a:avLst/>
          </a:prstGeom>
          <a:solidFill>
            <a:srgbClr val="E4A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310896"/>
            <a:ext cx="10515600" cy="365760"/>
          </a:xfrm>
          <a:prstGeom prst="rect">
            <a:avLst/>
          </a:prstGeom>
          <a:noFill/>
        </p:spPr>
        <p:txBody>
          <a:bodyPr wrap="square" anchor="t" lIns="0" rIns="0" tIns="0" bIns="0">
            <a:spAutoFit/>
          </a:bodyPr>
          <a:lstStyle/>
          <a:p>
            <a:pPr algn="l">
              <a:lnSpc>
                <a:spcPct val="100000"/>
              </a:lnSpc>
              <a:spcBef>
                <a:spcPts val="0"/>
              </a:spcBef>
              <a:spcAft>
                <a:spcPts val="0"/>
              </a:spcAft>
            </a:pPr>
            <a:r>
              <a:rPr sz="1250" b="1" i="0">
                <a:solidFill>
                  <a:srgbClr val="2E6E9E"/>
                </a:solidFill>
                <a:latin typeface="Calibri"/>
              </a:rPr>
              <a:t>02 · CADRE THÉORIQUE (1/2)</a:t>
            </a:r>
          </a:p>
        </p:txBody>
      </p:sp>
      <p:sp>
        <p:nvSpPr>
          <p:cNvPr id="6" name="TextBox 5"/>
          <p:cNvSpPr txBox="1"/>
          <p:nvPr/>
        </p:nvSpPr>
        <p:spPr>
          <a:xfrm>
            <a:off x="685800" y="576072"/>
            <a:ext cx="10881360" cy="640080"/>
          </a:xfrm>
          <a:prstGeom prst="rect">
            <a:avLst/>
          </a:prstGeom>
          <a:noFill/>
        </p:spPr>
        <p:txBody>
          <a:bodyPr wrap="square" anchor="t" lIns="0" rIns="0" tIns="0" bIns="0">
            <a:spAutoFit/>
          </a:bodyPr>
          <a:lstStyle/>
          <a:p>
            <a:pPr algn="l">
              <a:lnSpc>
                <a:spcPct val="100000"/>
              </a:lnSpc>
              <a:spcBef>
                <a:spcPts val="0"/>
              </a:spcBef>
              <a:spcAft>
                <a:spcPts val="0"/>
              </a:spcAft>
            </a:pPr>
            <a:r>
              <a:rPr sz="2700" b="1" i="0">
                <a:solidFill>
                  <a:srgbClr val="0E2A47"/>
                </a:solidFill>
                <a:latin typeface="Calibri"/>
              </a:rPr>
              <a:t>La PME : un objet organisationnel spécifique</a:t>
            </a:r>
          </a:p>
        </p:txBody>
      </p:sp>
      <p:sp>
        <p:nvSpPr>
          <p:cNvPr id="7" name="Rectangle 6"/>
          <p:cNvSpPr/>
          <p:nvPr/>
        </p:nvSpPr>
        <p:spPr>
          <a:xfrm>
            <a:off x="713232" y="1207008"/>
            <a:ext cx="777240" cy="50292"/>
          </a:xfrm>
          <a:prstGeom prst="rect">
            <a:avLst/>
          </a:prstGeom>
          <a:solidFill>
            <a:srgbClr val="E4A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85800" y="1600200"/>
            <a:ext cx="3456432" cy="3246120"/>
          </a:xfrm>
          <a:prstGeom prst="roundRect">
            <a:avLst>
              <a:gd name="adj" fmla="val 4500"/>
            </a:avLst>
          </a:prstGeom>
          <a:solidFill>
            <a:srgbClr val="FFFFFF"/>
          </a:solidFill>
          <a:ln w="12700">
            <a:solidFill>
              <a:srgbClr val="D7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85800" y="1600200"/>
            <a:ext cx="3456432" cy="457200"/>
          </a:xfrm>
          <a:prstGeom prst="roundRect">
            <a:avLst/>
          </a:prstGeom>
          <a:solidFill>
            <a:srgbClr val="2E6E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85800" y="1920240"/>
            <a:ext cx="3456432" cy="164592"/>
          </a:xfrm>
          <a:prstGeom prst="rect">
            <a:avLst/>
          </a:prstGeom>
          <a:solidFill>
            <a:srgbClr val="2E6E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673352"/>
            <a:ext cx="3200400" cy="365760"/>
          </a:xfrm>
          <a:prstGeom prst="rect">
            <a:avLst/>
          </a:prstGeom>
          <a:noFill/>
        </p:spPr>
        <p:txBody>
          <a:bodyPr wrap="square" anchor="t" lIns="0" rIns="0" tIns="0" bIns="0">
            <a:spAutoFit/>
          </a:bodyPr>
          <a:lstStyle/>
          <a:p>
            <a:pPr algn="l">
              <a:lnSpc>
                <a:spcPct val="100000"/>
              </a:lnSpc>
              <a:spcBef>
                <a:spcPts val="0"/>
              </a:spcBef>
              <a:spcAft>
                <a:spcPts val="0"/>
              </a:spcAft>
            </a:pPr>
            <a:r>
              <a:rPr sz="1250" b="1" i="0">
                <a:solidFill>
                  <a:srgbClr val="FFFFFF"/>
                </a:solidFill>
                <a:latin typeface="Calibri"/>
              </a:rPr>
              <a:t>DÉFINITION</a:t>
            </a:r>
          </a:p>
        </p:txBody>
      </p:sp>
      <p:sp>
        <p:nvSpPr>
          <p:cNvPr id="12" name="TextBox 11"/>
          <p:cNvSpPr txBox="1"/>
          <p:nvPr/>
        </p:nvSpPr>
        <p:spPr>
          <a:xfrm>
            <a:off x="886968" y="2286000"/>
            <a:ext cx="3127248" cy="2468880"/>
          </a:xfrm>
          <a:prstGeom prst="rect">
            <a:avLst/>
          </a:prstGeom>
          <a:noFill/>
        </p:spPr>
        <p:txBody>
          <a:bodyPr wrap="square" lIns="0" rIns="0" tIns="0" bIns="0">
            <a:spAutoFit/>
          </a:bodyPr>
          <a:lstStyle/>
          <a:p>
            <a:pPr>
              <a:lnSpc>
                <a:spcPct val="106000"/>
              </a:lnSpc>
              <a:spcBef>
                <a:spcPts val="0"/>
              </a:spcBef>
              <a:spcAft>
                <a:spcPts val="900"/>
              </a:spcAft>
            </a:pPr>
            <a:r>
              <a:rPr sz="1250" b="1">
                <a:solidFill>
                  <a:srgbClr val="2E6E9E"/>
                </a:solidFill>
                <a:latin typeface="Calibri"/>
              </a:rPr>
              <a:t>▪  </a:t>
            </a:r>
            <a:r>
              <a:rPr sz="1250" b="1">
                <a:solidFill>
                  <a:srgbClr val="1A2033"/>
                </a:solidFill>
                <a:latin typeface="Calibri"/>
              </a:rPr>
              <a:t>Critères UE</a:t>
            </a:r>
            <a:r>
              <a:rPr sz="1250" b="0">
                <a:solidFill>
                  <a:srgbClr val="55607A"/>
                </a:solidFill>
                <a:latin typeface="Calibri"/>
              </a:rPr>
              <a:t> : &lt; 250 salariés, CA &lt; 50 M€ (Oriot &amp; Misiaszek, 2012).</a:t>
            </a:r>
          </a:p>
          <a:p>
            <a:pPr>
              <a:lnSpc>
                <a:spcPct val="106000"/>
              </a:lnSpc>
              <a:spcBef>
                <a:spcPts val="0"/>
              </a:spcBef>
              <a:spcAft>
                <a:spcPts val="900"/>
              </a:spcAft>
            </a:pPr>
            <a:r>
              <a:rPr sz="1250" b="1">
                <a:solidFill>
                  <a:srgbClr val="2E6E9E"/>
                </a:solidFill>
                <a:latin typeface="Calibri"/>
              </a:rPr>
              <a:t>▪  </a:t>
            </a:r>
            <a:r>
              <a:rPr sz="1250" b="1">
                <a:solidFill>
                  <a:srgbClr val="1A2033"/>
                </a:solidFill>
                <a:latin typeface="Calibri"/>
              </a:rPr>
              <a:t>Structure simple</a:t>
            </a:r>
            <a:r>
              <a:rPr sz="1250" b="0">
                <a:solidFill>
                  <a:srgbClr val="55607A"/>
                </a:solidFill>
                <a:latin typeface="Calibri"/>
              </a:rPr>
              <a:t> et peu formalisée (Nassou &amp; Bennani, 2024).</a:t>
            </a:r>
          </a:p>
        </p:txBody>
      </p:sp>
      <p:sp>
        <p:nvSpPr>
          <p:cNvPr id="13" name="Rounded Rectangle 12"/>
          <p:cNvSpPr/>
          <p:nvPr/>
        </p:nvSpPr>
        <p:spPr>
          <a:xfrm>
            <a:off x="4416552" y="1600200"/>
            <a:ext cx="3456432" cy="3246120"/>
          </a:xfrm>
          <a:prstGeom prst="roundRect">
            <a:avLst>
              <a:gd name="adj" fmla="val 4500"/>
            </a:avLst>
          </a:prstGeom>
          <a:solidFill>
            <a:srgbClr val="FFFFFF"/>
          </a:solidFill>
          <a:ln w="12700">
            <a:solidFill>
              <a:srgbClr val="D7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416552" y="1600200"/>
            <a:ext cx="3456432" cy="457200"/>
          </a:xfrm>
          <a:prstGeom prst="roundRect">
            <a:avLst/>
          </a:prstGeom>
          <a:solidFill>
            <a:srgbClr val="E4A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16552" y="1920240"/>
            <a:ext cx="3456432" cy="164592"/>
          </a:xfrm>
          <a:prstGeom prst="rect">
            <a:avLst/>
          </a:prstGeom>
          <a:solidFill>
            <a:srgbClr val="E4A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99432" y="1673352"/>
            <a:ext cx="3200400" cy="365760"/>
          </a:xfrm>
          <a:prstGeom prst="rect">
            <a:avLst/>
          </a:prstGeom>
          <a:noFill/>
        </p:spPr>
        <p:txBody>
          <a:bodyPr wrap="square" anchor="t" lIns="0" rIns="0" tIns="0" bIns="0">
            <a:spAutoFit/>
          </a:bodyPr>
          <a:lstStyle/>
          <a:p>
            <a:pPr algn="l">
              <a:lnSpc>
                <a:spcPct val="100000"/>
              </a:lnSpc>
              <a:spcBef>
                <a:spcPts val="0"/>
              </a:spcBef>
              <a:spcAft>
                <a:spcPts val="0"/>
              </a:spcAft>
            </a:pPr>
            <a:r>
              <a:rPr sz="1250" b="1" i="0">
                <a:solidFill>
                  <a:srgbClr val="FFFFFF"/>
                </a:solidFill>
                <a:latin typeface="Calibri"/>
              </a:rPr>
              <a:t>PROXIMITÉ</a:t>
            </a:r>
          </a:p>
        </p:txBody>
      </p:sp>
      <p:sp>
        <p:nvSpPr>
          <p:cNvPr id="17" name="TextBox 16"/>
          <p:cNvSpPr txBox="1"/>
          <p:nvPr/>
        </p:nvSpPr>
        <p:spPr>
          <a:xfrm>
            <a:off x="4617720" y="2286000"/>
            <a:ext cx="3127248" cy="2468880"/>
          </a:xfrm>
          <a:prstGeom prst="rect">
            <a:avLst/>
          </a:prstGeom>
          <a:noFill/>
        </p:spPr>
        <p:txBody>
          <a:bodyPr wrap="square" lIns="0" rIns="0" tIns="0" bIns="0">
            <a:spAutoFit/>
          </a:bodyPr>
          <a:lstStyle/>
          <a:p>
            <a:pPr>
              <a:lnSpc>
                <a:spcPct val="106000"/>
              </a:lnSpc>
              <a:spcBef>
                <a:spcPts val="0"/>
              </a:spcBef>
              <a:spcAft>
                <a:spcPts val="900"/>
              </a:spcAft>
            </a:pPr>
            <a:r>
              <a:rPr sz="1250" b="1">
                <a:solidFill>
                  <a:srgbClr val="E4A11B"/>
                </a:solidFill>
                <a:latin typeface="Calibri"/>
              </a:rPr>
              <a:t>▪  </a:t>
            </a:r>
            <a:r>
              <a:rPr sz="1250" b="1">
                <a:solidFill>
                  <a:srgbClr val="1A2033"/>
                </a:solidFill>
                <a:latin typeface="Calibri"/>
              </a:rPr>
              <a:t>Dirigeant impliqué</a:t>
            </a:r>
            <a:r>
              <a:rPr sz="1250" b="0">
                <a:solidFill>
                  <a:srgbClr val="55607A"/>
                </a:solidFill>
                <a:latin typeface="Calibri"/>
              </a:rPr>
              <a:t> au quotidien, décisions rapides et centralisées.</a:t>
            </a:r>
          </a:p>
          <a:p>
            <a:pPr>
              <a:lnSpc>
                <a:spcPct val="106000"/>
              </a:lnSpc>
              <a:spcBef>
                <a:spcPts val="0"/>
              </a:spcBef>
              <a:spcAft>
                <a:spcPts val="900"/>
              </a:spcAft>
            </a:pPr>
            <a:r>
              <a:rPr sz="1250" b="1">
                <a:solidFill>
                  <a:srgbClr val="E4A11B"/>
                </a:solidFill>
                <a:latin typeface="Calibri"/>
              </a:rPr>
              <a:t>▪  </a:t>
            </a:r>
            <a:r>
              <a:rPr sz="1250" b="1">
                <a:solidFill>
                  <a:srgbClr val="1A2033"/>
                </a:solidFill>
                <a:latin typeface="Calibri"/>
              </a:rPr>
              <a:t>« Proximité organisationnelle »</a:t>
            </a:r>
            <a:r>
              <a:rPr sz="1250" b="0">
                <a:solidFill>
                  <a:srgbClr val="55607A"/>
                </a:solidFill>
                <a:latin typeface="Calibri"/>
              </a:rPr>
              <a:t> : atout relationnel clé (Torrès, 1999).</a:t>
            </a:r>
          </a:p>
        </p:txBody>
      </p:sp>
      <p:sp>
        <p:nvSpPr>
          <p:cNvPr id="18" name="Rounded Rectangle 17"/>
          <p:cNvSpPr/>
          <p:nvPr/>
        </p:nvSpPr>
        <p:spPr>
          <a:xfrm>
            <a:off x="8147304" y="1600200"/>
            <a:ext cx="3456432" cy="3246120"/>
          </a:xfrm>
          <a:prstGeom prst="roundRect">
            <a:avLst>
              <a:gd name="adj" fmla="val 4500"/>
            </a:avLst>
          </a:prstGeom>
          <a:solidFill>
            <a:srgbClr val="FFFFFF"/>
          </a:solidFill>
          <a:ln w="12700">
            <a:solidFill>
              <a:srgbClr val="D7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147304" y="1600200"/>
            <a:ext cx="3456432" cy="457200"/>
          </a:xfrm>
          <a:prstGeom prst="roundRect">
            <a:avLst/>
          </a:prstGeom>
          <a:solidFill>
            <a:srgbClr val="16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147304" y="1920240"/>
            <a:ext cx="3456432" cy="164592"/>
          </a:xfrm>
          <a:prstGeom prst="rect">
            <a:avLst/>
          </a:prstGeom>
          <a:solidFill>
            <a:srgbClr val="16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30183" y="1673352"/>
            <a:ext cx="3200400" cy="365760"/>
          </a:xfrm>
          <a:prstGeom prst="rect">
            <a:avLst/>
          </a:prstGeom>
          <a:noFill/>
        </p:spPr>
        <p:txBody>
          <a:bodyPr wrap="square" anchor="t" lIns="0" rIns="0" tIns="0" bIns="0">
            <a:spAutoFit/>
          </a:bodyPr>
          <a:lstStyle/>
          <a:p>
            <a:pPr algn="l">
              <a:lnSpc>
                <a:spcPct val="100000"/>
              </a:lnSpc>
              <a:spcBef>
                <a:spcPts val="0"/>
              </a:spcBef>
              <a:spcAft>
                <a:spcPts val="0"/>
              </a:spcAft>
            </a:pPr>
            <a:r>
              <a:rPr sz="1250" b="1" i="0">
                <a:solidFill>
                  <a:srgbClr val="FFFFFF"/>
                </a:solidFill>
                <a:latin typeface="Calibri"/>
              </a:rPr>
              <a:t>CULTURE &amp; TRADITIONS</a:t>
            </a:r>
          </a:p>
        </p:txBody>
      </p:sp>
      <p:sp>
        <p:nvSpPr>
          <p:cNvPr id="22" name="TextBox 21"/>
          <p:cNvSpPr txBox="1"/>
          <p:nvPr/>
        </p:nvSpPr>
        <p:spPr>
          <a:xfrm>
            <a:off x="8348472" y="2286000"/>
            <a:ext cx="3127248" cy="2468880"/>
          </a:xfrm>
          <a:prstGeom prst="rect">
            <a:avLst/>
          </a:prstGeom>
          <a:noFill/>
        </p:spPr>
        <p:txBody>
          <a:bodyPr wrap="square" lIns="0" rIns="0" tIns="0" bIns="0">
            <a:spAutoFit/>
          </a:bodyPr>
          <a:lstStyle/>
          <a:p>
            <a:pPr>
              <a:lnSpc>
                <a:spcPct val="106000"/>
              </a:lnSpc>
              <a:spcBef>
                <a:spcPts val="0"/>
              </a:spcBef>
              <a:spcAft>
                <a:spcPts val="900"/>
              </a:spcAft>
            </a:pPr>
            <a:r>
              <a:rPr sz="1250" b="1">
                <a:solidFill>
                  <a:srgbClr val="163A5F"/>
                </a:solidFill>
                <a:latin typeface="Calibri"/>
              </a:rPr>
              <a:t>▪  </a:t>
            </a:r>
            <a:r>
              <a:rPr sz="1250" b="1">
                <a:solidFill>
                  <a:srgbClr val="1A2033"/>
                </a:solidFill>
                <a:latin typeface="Calibri"/>
              </a:rPr>
              <a:t>Culture = valeurs partagées</a:t>
            </a:r>
            <a:r>
              <a:rPr sz="1250" b="0">
                <a:solidFill>
                  <a:srgbClr val="55607A"/>
                </a:solidFill>
                <a:latin typeface="Calibri"/>
              </a:rPr>
              <a:t> qui guident les décisions (Schein, 2015).</a:t>
            </a:r>
          </a:p>
          <a:p>
            <a:pPr>
              <a:lnSpc>
                <a:spcPct val="106000"/>
              </a:lnSpc>
              <a:spcBef>
                <a:spcPts val="0"/>
              </a:spcBef>
              <a:spcAft>
                <a:spcPts val="900"/>
              </a:spcAft>
            </a:pPr>
            <a:r>
              <a:rPr sz="1250" b="1">
                <a:solidFill>
                  <a:srgbClr val="163A5F"/>
                </a:solidFill>
                <a:latin typeface="Calibri"/>
              </a:rPr>
              <a:t>▪  </a:t>
            </a:r>
            <a:r>
              <a:rPr sz="1250" b="1">
                <a:solidFill>
                  <a:srgbClr val="1A2033"/>
                </a:solidFill>
                <a:latin typeface="Calibri"/>
              </a:rPr>
              <a:t>Traditions de métier</a:t>
            </a:r>
            <a:r>
              <a:rPr sz="1250" b="0">
                <a:solidFill>
                  <a:srgbClr val="55607A"/>
                </a:solidFill>
                <a:latin typeface="Calibri"/>
              </a:rPr>
              <a:t> : artisan de métier vs entrepreneurial (Blanchard &amp; Albert-Cromarias, 2022).</a:t>
            </a:r>
          </a:p>
        </p:txBody>
      </p:sp>
      <p:sp>
        <p:nvSpPr>
          <p:cNvPr id="23" name="Rectangle 22"/>
          <p:cNvSpPr/>
          <p:nvPr/>
        </p:nvSpPr>
        <p:spPr>
          <a:xfrm>
            <a:off x="685800" y="5120640"/>
            <a:ext cx="10817352" cy="91440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85800" y="5120640"/>
            <a:ext cx="128016" cy="914400"/>
          </a:xfrm>
          <a:prstGeom prst="rect">
            <a:avLst/>
          </a:prstGeom>
          <a:solidFill>
            <a:srgbClr val="E4A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60120" y="5230368"/>
            <a:ext cx="1737360" cy="365760"/>
          </a:xfrm>
          <a:prstGeom prst="rect">
            <a:avLst/>
          </a:prstGeom>
          <a:noFill/>
        </p:spPr>
        <p:txBody>
          <a:bodyPr wrap="square" anchor="t" lIns="0" rIns="0" tIns="0" bIns="0">
            <a:spAutoFit/>
          </a:bodyPr>
          <a:lstStyle/>
          <a:p>
            <a:pPr algn="l">
              <a:lnSpc>
                <a:spcPct val="100000"/>
              </a:lnSpc>
              <a:spcBef>
                <a:spcPts val="0"/>
              </a:spcBef>
              <a:spcAft>
                <a:spcPts val="0"/>
              </a:spcAft>
            </a:pPr>
            <a:r>
              <a:rPr sz="1250" b="1" i="0">
                <a:solidFill>
                  <a:srgbClr val="C6860E"/>
                </a:solidFill>
                <a:latin typeface="Calibri"/>
              </a:rPr>
              <a:t>PROPOSITION 1</a:t>
            </a:r>
          </a:p>
        </p:txBody>
      </p:sp>
      <p:sp>
        <p:nvSpPr>
          <p:cNvPr id="26" name="TextBox 25"/>
          <p:cNvSpPr txBox="1"/>
          <p:nvPr/>
        </p:nvSpPr>
        <p:spPr>
          <a:xfrm>
            <a:off x="2743200" y="5212080"/>
            <a:ext cx="8595360" cy="777240"/>
          </a:xfrm>
          <a:prstGeom prst="rect">
            <a:avLst/>
          </a:prstGeom>
          <a:noFill/>
        </p:spPr>
        <p:txBody>
          <a:bodyPr wrap="square" anchor="ctr" lIns="0" rIns="0" tIns="0" bIns="0">
            <a:spAutoFit/>
          </a:bodyPr>
          <a:lstStyle/>
          <a:p>
            <a:pPr algn="l">
              <a:lnSpc>
                <a:spcPct val="103000"/>
              </a:lnSpc>
              <a:spcBef>
                <a:spcPts val="0"/>
              </a:spcBef>
              <a:spcAft>
                <a:spcPts val="0"/>
              </a:spcAft>
            </a:pPr>
            <a:r>
              <a:rPr sz="1350" b="0" i="1">
                <a:solidFill>
                  <a:srgbClr val="1A2033"/>
                </a:solidFill>
                <a:latin typeface="Calibri"/>
              </a:rPr>
              <a:t>Les caractéristiques structurelles et culturelles de la PME (dirigeant, proximité, traditions) façonnent la manière dont elle accueille — ou freine — une innovation comme l'IA.</a:t>
            </a:r>
          </a:p>
        </p:txBody>
      </p:sp>
      <p:sp>
        <p:nvSpPr>
          <p:cNvPr id="27" name="TextBox 26"/>
          <p:cNvSpPr txBox="1"/>
          <p:nvPr/>
        </p:nvSpPr>
        <p:spPr>
          <a:xfrm>
            <a:off x="685800" y="6428232"/>
            <a:ext cx="7315200" cy="32004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9AA6B8"/>
                </a:solidFill>
                <a:latin typeface="Calibri"/>
              </a:rPr>
              <a:t>Maxime LOUSTALET  ·  Soutenance de mémoire  ·  Eklore-ed School of Management  ·  2025–2026</a:t>
            </a:r>
          </a:p>
        </p:txBody>
      </p:sp>
      <p:sp>
        <p:nvSpPr>
          <p:cNvPr id="28" name="TextBox 27"/>
          <p:cNvSpPr txBox="1"/>
          <p:nvPr/>
        </p:nvSpPr>
        <p:spPr>
          <a:xfrm>
            <a:off x="10881360" y="6428232"/>
            <a:ext cx="640080" cy="320040"/>
          </a:xfrm>
          <a:prstGeom prst="rect">
            <a:avLst/>
          </a:prstGeom>
          <a:noFill/>
        </p:spPr>
        <p:txBody>
          <a:bodyPr wrap="square" anchor="t" lIns="0" rIns="0" tIns="0" bIns="0">
            <a:spAutoFit/>
          </a:bodyPr>
          <a:lstStyle/>
          <a:p>
            <a:pPr algn="r">
              <a:lnSpc>
                <a:spcPct val="100000"/>
              </a:lnSpc>
              <a:spcBef>
                <a:spcPts val="0"/>
              </a:spcBef>
              <a:spcAft>
                <a:spcPts val="0"/>
              </a:spcAft>
            </a:pPr>
            <a:r>
              <a:rPr sz="900" b="1" i="0">
                <a:solidFill>
                  <a:srgbClr val="9AA6B8"/>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371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46304" cy="1371600"/>
          </a:xfrm>
          <a:prstGeom prst="rect">
            <a:avLst/>
          </a:prstGeom>
          <a:solidFill>
            <a:srgbClr val="E4A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310896"/>
            <a:ext cx="10515600" cy="365760"/>
          </a:xfrm>
          <a:prstGeom prst="rect">
            <a:avLst/>
          </a:prstGeom>
          <a:noFill/>
        </p:spPr>
        <p:txBody>
          <a:bodyPr wrap="square" anchor="t" lIns="0" rIns="0" tIns="0" bIns="0">
            <a:spAutoFit/>
          </a:bodyPr>
          <a:lstStyle/>
          <a:p>
            <a:pPr algn="l">
              <a:lnSpc>
                <a:spcPct val="100000"/>
              </a:lnSpc>
              <a:spcBef>
                <a:spcPts val="0"/>
              </a:spcBef>
              <a:spcAft>
                <a:spcPts val="0"/>
              </a:spcAft>
            </a:pPr>
            <a:r>
              <a:rPr sz="1250" b="1" i="0">
                <a:solidFill>
                  <a:srgbClr val="2E6E9E"/>
                </a:solidFill>
                <a:latin typeface="Calibri"/>
              </a:rPr>
              <a:t>02 · CADRE THÉORIQUE (2/2)</a:t>
            </a:r>
          </a:p>
        </p:txBody>
      </p:sp>
      <p:sp>
        <p:nvSpPr>
          <p:cNvPr id="6" name="TextBox 5"/>
          <p:cNvSpPr txBox="1"/>
          <p:nvPr/>
        </p:nvSpPr>
        <p:spPr>
          <a:xfrm>
            <a:off x="685800" y="576072"/>
            <a:ext cx="10881360" cy="640080"/>
          </a:xfrm>
          <a:prstGeom prst="rect">
            <a:avLst/>
          </a:prstGeom>
          <a:noFill/>
        </p:spPr>
        <p:txBody>
          <a:bodyPr wrap="square" anchor="t" lIns="0" rIns="0" tIns="0" bIns="0">
            <a:spAutoFit/>
          </a:bodyPr>
          <a:lstStyle/>
          <a:p>
            <a:pPr algn="l">
              <a:lnSpc>
                <a:spcPct val="100000"/>
              </a:lnSpc>
              <a:spcBef>
                <a:spcPts val="0"/>
              </a:spcBef>
              <a:spcAft>
                <a:spcPts val="0"/>
              </a:spcAft>
            </a:pPr>
            <a:r>
              <a:rPr sz="2700" b="1" i="0">
                <a:solidFill>
                  <a:srgbClr val="0E2A47"/>
                </a:solidFill>
                <a:latin typeface="Calibri"/>
              </a:rPr>
              <a:t>L'IA : un levier de performance et un défi organisationnel</a:t>
            </a:r>
          </a:p>
        </p:txBody>
      </p:sp>
      <p:sp>
        <p:nvSpPr>
          <p:cNvPr id="7" name="Rectangle 6"/>
          <p:cNvSpPr/>
          <p:nvPr/>
        </p:nvSpPr>
        <p:spPr>
          <a:xfrm>
            <a:off x="713232" y="1207008"/>
            <a:ext cx="777240" cy="50292"/>
          </a:xfrm>
          <a:prstGeom prst="rect">
            <a:avLst/>
          </a:prstGeom>
          <a:solidFill>
            <a:srgbClr val="E4A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85800" y="1600200"/>
            <a:ext cx="5257800" cy="3246120"/>
          </a:xfrm>
          <a:prstGeom prst="roundRect">
            <a:avLst>
              <a:gd name="adj" fmla="val 4500"/>
            </a:avLst>
          </a:prstGeom>
          <a:solidFill>
            <a:srgbClr val="FFFFFF"/>
          </a:solidFill>
          <a:ln w="12700">
            <a:solidFill>
              <a:srgbClr val="D7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85800" y="1600200"/>
            <a:ext cx="5257800" cy="109728"/>
          </a:xfrm>
          <a:prstGeom prst="round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1810512"/>
            <a:ext cx="4754880" cy="365760"/>
          </a:xfrm>
          <a:prstGeom prst="rect">
            <a:avLst/>
          </a:prstGeom>
          <a:noFill/>
        </p:spPr>
        <p:txBody>
          <a:bodyPr wrap="square" anchor="t" lIns="0" rIns="0" tIns="0" bIns="0">
            <a:spAutoFit/>
          </a:bodyPr>
          <a:lstStyle/>
          <a:p>
            <a:pPr algn="l">
              <a:lnSpc>
                <a:spcPct val="100000"/>
              </a:lnSpc>
              <a:spcBef>
                <a:spcPts val="0"/>
              </a:spcBef>
              <a:spcAft>
                <a:spcPts val="0"/>
              </a:spcAft>
            </a:pPr>
            <a:r>
              <a:rPr sz="1400" b="1" i="0">
                <a:solidFill>
                  <a:srgbClr val="257448"/>
                </a:solidFill>
                <a:latin typeface="Calibri"/>
              </a:rPr>
              <a:t>▲  OPPORTUNITÉS</a:t>
            </a:r>
          </a:p>
        </p:txBody>
      </p:sp>
      <p:sp>
        <p:nvSpPr>
          <p:cNvPr id="11" name="TextBox 10"/>
          <p:cNvSpPr txBox="1"/>
          <p:nvPr/>
        </p:nvSpPr>
        <p:spPr>
          <a:xfrm>
            <a:off x="960120" y="2331720"/>
            <a:ext cx="4754880" cy="2468880"/>
          </a:xfrm>
          <a:prstGeom prst="rect">
            <a:avLst/>
          </a:prstGeom>
          <a:noFill/>
        </p:spPr>
        <p:txBody>
          <a:bodyPr wrap="square" lIns="0" rIns="0" tIns="0" bIns="0">
            <a:spAutoFit/>
          </a:bodyPr>
          <a:lstStyle/>
          <a:p>
            <a:pPr>
              <a:lnSpc>
                <a:spcPct val="106000"/>
              </a:lnSpc>
              <a:spcBef>
                <a:spcPts val="0"/>
              </a:spcBef>
              <a:spcAft>
                <a:spcPts val="1000"/>
              </a:spcAft>
            </a:pPr>
            <a:r>
              <a:rPr sz="1350" b="1">
                <a:solidFill>
                  <a:srgbClr val="2E8B57"/>
                </a:solidFill>
                <a:latin typeface="Calibri"/>
              </a:rPr>
              <a:t>▪  </a:t>
            </a:r>
            <a:r>
              <a:rPr sz="1350" b="1">
                <a:solidFill>
                  <a:srgbClr val="1A2033"/>
                </a:solidFill>
                <a:latin typeface="Calibri"/>
              </a:rPr>
              <a:t>Transformation digitale → performance</a:t>
            </a:r>
            <a:r>
              <a:rPr sz="1350" b="0">
                <a:solidFill>
                  <a:srgbClr val="55607A"/>
                </a:solidFill>
                <a:latin typeface="Calibri"/>
              </a:rPr>
              <a:t> organisationnelle (Radoui &amp; Cherradi, 2025).</a:t>
            </a:r>
          </a:p>
          <a:p>
            <a:pPr>
              <a:lnSpc>
                <a:spcPct val="106000"/>
              </a:lnSpc>
              <a:spcBef>
                <a:spcPts val="0"/>
              </a:spcBef>
              <a:spcAft>
                <a:spcPts val="1000"/>
              </a:spcAft>
            </a:pPr>
            <a:r>
              <a:rPr sz="1350" b="1">
                <a:solidFill>
                  <a:srgbClr val="2E8B57"/>
                </a:solidFill>
                <a:latin typeface="Calibri"/>
              </a:rPr>
              <a:t>▪  </a:t>
            </a:r>
            <a:r>
              <a:rPr sz="1350" b="1">
                <a:solidFill>
                  <a:srgbClr val="1A2033"/>
                </a:solidFill>
                <a:latin typeface="Calibri"/>
              </a:rPr>
              <a:t>Analyse prédictive &amp; agilité</a:t>
            </a:r>
            <a:r>
              <a:rPr sz="1350" b="0">
                <a:solidFill>
                  <a:srgbClr val="55607A"/>
                </a:solidFill>
                <a:latin typeface="Calibri"/>
              </a:rPr>
              <a:t> : anticiper la demande, ajuster la stratégie (Bennour &amp; Oukassi, 2025).</a:t>
            </a:r>
          </a:p>
          <a:p>
            <a:pPr>
              <a:lnSpc>
                <a:spcPct val="106000"/>
              </a:lnSpc>
              <a:spcBef>
                <a:spcPts val="0"/>
              </a:spcBef>
              <a:spcAft>
                <a:spcPts val="1000"/>
              </a:spcAft>
            </a:pPr>
            <a:r>
              <a:rPr sz="1350" b="1">
                <a:solidFill>
                  <a:srgbClr val="2E8B57"/>
                </a:solidFill>
                <a:latin typeface="Calibri"/>
              </a:rPr>
              <a:t>▪  </a:t>
            </a:r>
            <a:r>
              <a:rPr sz="1350" b="1">
                <a:solidFill>
                  <a:srgbClr val="1A2033"/>
                </a:solidFill>
                <a:latin typeface="Calibri"/>
              </a:rPr>
              <a:t>Automatisation</a:t>
            </a:r>
            <a:r>
              <a:rPr sz="1350" b="0">
                <a:solidFill>
                  <a:srgbClr val="55607A"/>
                </a:solidFill>
                <a:latin typeface="Calibri"/>
              </a:rPr>
              <a:t> des tâches répétitives à faible valeur ajoutée.</a:t>
            </a:r>
          </a:p>
        </p:txBody>
      </p:sp>
      <p:sp>
        <p:nvSpPr>
          <p:cNvPr id="12" name="Rounded Rectangle 11"/>
          <p:cNvSpPr/>
          <p:nvPr/>
        </p:nvSpPr>
        <p:spPr>
          <a:xfrm>
            <a:off x="6217920" y="1600200"/>
            <a:ext cx="5257800" cy="3246120"/>
          </a:xfrm>
          <a:prstGeom prst="roundRect">
            <a:avLst>
              <a:gd name="adj" fmla="val 4500"/>
            </a:avLst>
          </a:prstGeom>
          <a:solidFill>
            <a:srgbClr val="FFFFFF"/>
          </a:solidFill>
          <a:ln w="12700">
            <a:solidFill>
              <a:srgbClr val="D7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17920" y="1600200"/>
            <a:ext cx="5257800" cy="109728"/>
          </a:xfrm>
          <a:prstGeom prst="roundRect">
            <a:avLst/>
          </a:prstGeom>
          <a:solidFill>
            <a:srgbClr val="C05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92240" y="1810512"/>
            <a:ext cx="4754880" cy="365760"/>
          </a:xfrm>
          <a:prstGeom prst="rect">
            <a:avLst/>
          </a:prstGeom>
          <a:noFill/>
        </p:spPr>
        <p:txBody>
          <a:bodyPr wrap="square" anchor="t" lIns="0" rIns="0" tIns="0" bIns="0">
            <a:spAutoFit/>
          </a:bodyPr>
          <a:lstStyle/>
          <a:p>
            <a:pPr algn="l">
              <a:lnSpc>
                <a:spcPct val="100000"/>
              </a:lnSpc>
              <a:spcBef>
                <a:spcPts val="0"/>
              </a:spcBef>
              <a:spcAft>
                <a:spcPts val="0"/>
              </a:spcAft>
            </a:pPr>
            <a:r>
              <a:rPr sz="1400" b="1" i="0">
                <a:solidFill>
                  <a:srgbClr val="A84530"/>
                </a:solidFill>
                <a:latin typeface="Calibri"/>
              </a:rPr>
              <a:t>▼  FREINS &amp; MENACES</a:t>
            </a:r>
          </a:p>
        </p:txBody>
      </p:sp>
      <p:sp>
        <p:nvSpPr>
          <p:cNvPr id="15" name="TextBox 14"/>
          <p:cNvSpPr txBox="1"/>
          <p:nvPr/>
        </p:nvSpPr>
        <p:spPr>
          <a:xfrm>
            <a:off x="6492240" y="2331720"/>
            <a:ext cx="4754880" cy="2468880"/>
          </a:xfrm>
          <a:prstGeom prst="rect">
            <a:avLst/>
          </a:prstGeom>
          <a:noFill/>
        </p:spPr>
        <p:txBody>
          <a:bodyPr wrap="square" lIns="0" rIns="0" tIns="0" bIns="0">
            <a:spAutoFit/>
          </a:bodyPr>
          <a:lstStyle/>
          <a:p>
            <a:pPr>
              <a:lnSpc>
                <a:spcPct val="106000"/>
              </a:lnSpc>
              <a:spcBef>
                <a:spcPts val="0"/>
              </a:spcBef>
              <a:spcAft>
                <a:spcPts val="1000"/>
              </a:spcAft>
            </a:pPr>
            <a:r>
              <a:rPr sz="1350" b="1">
                <a:solidFill>
                  <a:srgbClr val="C0533B"/>
                </a:solidFill>
                <a:latin typeface="Calibri"/>
              </a:rPr>
              <a:t>▪  </a:t>
            </a:r>
            <a:r>
              <a:rPr sz="1350" b="1">
                <a:solidFill>
                  <a:srgbClr val="1A2033"/>
                </a:solidFill>
                <a:latin typeface="Calibri"/>
              </a:rPr>
              <a:t>Qualité des données, compétences, intégration</a:t>
            </a:r>
            <a:r>
              <a:rPr sz="1350" b="0">
                <a:solidFill>
                  <a:srgbClr val="55607A"/>
                </a:solidFill>
                <a:latin typeface="Calibri"/>
              </a:rPr>
              <a:t> au SI existant (Kokina et al., 2025 ; Duarte, 2025).</a:t>
            </a:r>
          </a:p>
          <a:p>
            <a:pPr>
              <a:lnSpc>
                <a:spcPct val="106000"/>
              </a:lnSpc>
              <a:spcBef>
                <a:spcPts val="0"/>
              </a:spcBef>
              <a:spcAft>
                <a:spcPts val="1000"/>
              </a:spcAft>
            </a:pPr>
            <a:r>
              <a:rPr sz="1350" b="1">
                <a:solidFill>
                  <a:srgbClr val="C0533B"/>
                </a:solidFill>
                <a:latin typeface="Calibri"/>
              </a:rPr>
              <a:t>▪  </a:t>
            </a:r>
            <a:r>
              <a:rPr sz="1350" b="1">
                <a:solidFill>
                  <a:srgbClr val="1A2033"/>
                </a:solidFill>
                <a:latin typeface="Calibri"/>
              </a:rPr>
              <a:t>Enjeux éthiques</a:t>
            </a:r>
            <a:r>
              <a:rPr sz="1350" b="0">
                <a:solidFill>
                  <a:srgbClr val="55607A"/>
                </a:solidFill>
                <a:latin typeface="Calibri"/>
              </a:rPr>
              <a:t> : biais, opacité des algorithmes, confidentialité.</a:t>
            </a:r>
          </a:p>
          <a:p>
            <a:pPr>
              <a:lnSpc>
                <a:spcPct val="106000"/>
              </a:lnSpc>
              <a:spcBef>
                <a:spcPts val="0"/>
              </a:spcBef>
              <a:spcAft>
                <a:spcPts val="1000"/>
              </a:spcAft>
            </a:pPr>
            <a:r>
              <a:rPr sz="1350" b="1">
                <a:solidFill>
                  <a:srgbClr val="C0533B"/>
                </a:solidFill>
                <a:latin typeface="Calibri"/>
              </a:rPr>
              <a:t>▪  </a:t>
            </a:r>
            <a:r>
              <a:rPr sz="1350" b="1">
                <a:solidFill>
                  <a:srgbClr val="1A2033"/>
                </a:solidFill>
                <a:latin typeface="Calibri"/>
              </a:rPr>
              <a:t>Dépendance cognitive</a:t>
            </a:r>
            <a:r>
              <a:rPr sz="1350" b="0">
                <a:solidFill>
                  <a:srgbClr val="55607A"/>
                </a:solidFill>
                <a:latin typeface="Calibri"/>
              </a:rPr>
              <a:t> : l'IA amplifie les vulnérabilités humaines (Soro Torna, 2024).</a:t>
            </a:r>
          </a:p>
        </p:txBody>
      </p:sp>
      <p:sp>
        <p:nvSpPr>
          <p:cNvPr id="16" name="Rectangle 15"/>
          <p:cNvSpPr/>
          <p:nvPr/>
        </p:nvSpPr>
        <p:spPr>
          <a:xfrm>
            <a:off x="685800" y="5120640"/>
            <a:ext cx="10817352" cy="91440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85800" y="5120640"/>
            <a:ext cx="128016" cy="914400"/>
          </a:xfrm>
          <a:prstGeom prst="rect">
            <a:avLst/>
          </a:prstGeom>
          <a:solidFill>
            <a:srgbClr val="E4A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20" y="5230368"/>
            <a:ext cx="1737360" cy="365760"/>
          </a:xfrm>
          <a:prstGeom prst="rect">
            <a:avLst/>
          </a:prstGeom>
          <a:noFill/>
        </p:spPr>
        <p:txBody>
          <a:bodyPr wrap="square" anchor="t" lIns="0" rIns="0" tIns="0" bIns="0">
            <a:spAutoFit/>
          </a:bodyPr>
          <a:lstStyle/>
          <a:p>
            <a:pPr algn="l">
              <a:lnSpc>
                <a:spcPct val="100000"/>
              </a:lnSpc>
              <a:spcBef>
                <a:spcPts val="0"/>
              </a:spcBef>
              <a:spcAft>
                <a:spcPts val="0"/>
              </a:spcAft>
            </a:pPr>
            <a:r>
              <a:rPr sz="1250" b="1" i="0">
                <a:solidFill>
                  <a:srgbClr val="C6860E"/>
                </a:solidFill>
                <a:latin typeface="Calibri"/>
              </a:rPr>
              <a:t>PROPOSITION 2</a:t>
            </a:r>
          </a:p>
        </p:txBody>
      </p:sp>
      <p:sp>
        <p:nvSpPr>
          <p:cNvPr id="19" name="TextBox 18"/>
          <p:cNvSpPr txBox="1"/>
          <p:nvPr/>
        </p:nvSpPr>
        <p:spPr>
          <a:xfrm>
            <a:off x="2743200" y="5212080"/>
            <a:ext cx="8595360" cy="777240"/>
          </a:xfrm>
          <a:prstGeom prst="rect">
            <a:avLst/>
          </a:prstGeom>
          <a:noFill/>
        </p:spPr>
        <p:txBody>
          <a:bodyPr wrap="square" anchor="ctr" lIns="0" rIns="0" tIns="0" bIns="0">
            <a:spAutoFit/>
          </a:bodyPr>
          <a:lstStyle/>
          <a:p>
            <a:pPr algn="l">
              <a:lnSpc>
                <a:spcPct val="103000"/>
              </a:lnSpc>
              <a:spcBef>
                <a:spcPts val="0"/>
              </a:spcBef>
              <a:spcAft>
                <a:spcPts val="0"/>
              </a:spcAft>
            </a:pPr>
            <a:r>
              <a:rPr sz="1350" b="0" i="1">
                <a:solidFill>
                  <a:srgbClr val="1A2033"/>
                </a:solidFill>
                <a:latin typeface="Calibri"/>
              </a:rPr>
              <a:t>L'adoption de l'IA ne dépend pas que de la technologie : elle se joue autant sur des facteurs humains, organisationnels et culturels que sur des facteurs techniques.</a:t>
            </a:r>
          </a:p>
        </p:txBody>
      </p:sp>
      <p:sp>
        <p:nvSpPr>
          <p:cNvPr id="20" name="TextBox 19"/>
          <p:cNvSpPr txBox="1"/>
          <p:nvPr/>
        </p:nvSpPr>
        <p:spPr>
          <a:xfrm>
            <a:off x="685800" y="6428232"/>
            <a:ext cx="7315200" cy="32004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9AA6B8"/>
                </a:solidFill>
                <a:latin typeface="Calibri"/>
              </a:rPr>
              <a:t>Maxime LOUSTALET  ·  Soutenance de mémoire  ·  Eklore-ed School of Management  ·  2025–2026</a:t>
            </a:r>
          </a:p>
        </p:txBody>
      </p:sp>
      <p:sp>
        <p:nvSpPr>
          <p:cNvPr id="21" name="TextBox 20"/>
          <p:cNvSpPr txBox="1"/>
          <p:nvPr/>
        </p:nvSpPr>
        <p:spPr>
          <a:xfrm>
            <a:off x="10881360" y="6428232"/>
            <a:ext cx="640080" cy="320040"/>
          </a:xfrm>
          <a:prstGeom prst="rect">
            <a:avLst/>
          </a:prstGeom>
          <a:noFill/>
        </p:spPr>
        <p:txBody>
          <a:bodyPr wrap="square" anchor="t" lIns="0" rIns="0" tIns="0" bIns="0">
            <a:spAutoFit/>
          </a:bodyPr>
          <a:lstStyle/>
          <a:p>
            <a:pPr algn="r">
              <a:lnSpc>
                <a:spcPct val="100000"/>
              </a:lnSpc>
              <a:spcBef>
                <a:spcPts val="0"/>
              </a:spcBef>
              <a:spcAft>
                <a:spcPts val="0"/>
              </a:spcAft>
            </a:pPr>
            <a:r>
              <a:rPr sz="900" b="1" i="0">
                <a:solidFill>
                  <a:srgbClr val="9AA6B8"/>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371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46304" cy="1371600"/>
          </a:xfrm>
          <a:prstGeom prst="rect">
            <a:avLst/>
          </a:prstGeom>
          <a:solidFill>
            <a:srgbClr val="E4A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310896"/>
            <a:ext cx="10515600" cy="365760"/>
          </a:xfrm>
          <a:prstGeom prst="rect">
            <a:avLst/>
          </a:prstGeom>
          <a:noFill/>
        </p:spPr>
        <p:txBody>
          <a:bodyPr wrap="square" anchor="t" lIns="0" rIns="0" tIns="0" bIns="0">
            <a:spAutoFit/>
          </a:bodyPr>
          <a:lstStyle/>
          <a:p>
            <a:pPr algn="l">
              <a:lnSpc>
                <a:spcPct val="100000"/>
              </a:lnSpc>
              <a:spcBef>
                <a:spcPts val="0"/>
              </a:spcBef>
              <a:spcAft>
                <a:spcPts val="0"/>
              </a:spcAft>
            </a:pPr>
            <a:r>
              <a:rPr sz="1250" b="1" i="0">
                <a:solidFill>
                  <a:srgbClr val="2E6E9E"/>
                </a:solidFill>
                <a:latin typeface="Calibri"/>
              </a:rPr>
              <a:t>02 · SYNTHÈSE</a:t>
            </a:r>
          </a:p>
        </p:txBody>
      </p:sp>
      <p:sp>
        <p:nvSpPr>
          <p:cNvPr id="6" name="TextBox 5"/>
          <p:cNvSpPr txBox="1"/>
          <p:nvPr/>
        </p:nvSpPr>
        <p:spPr>
          <a:xfrm>
            <a:off x="685800" y="576072"/>
            <a:ext cx="10881360" cy="640080"/>
          </a:xfrm>
          <a:prstGeom prst="rect">
            <a:avLst/>
          </a:prstGeom>
          <a:noFill/>
        </p:spPr>
        <p:txBody>
          <a:bodyPr wrap="square" anchor="t" lIns="0" rIns="0" tIns="0" bIns="0">
            <a:spAutoFit/>
          </a:bodyPr>
          <a:lstStyle/>
          <a:p>
            <a:pPr algn="l">
              <a:lnSpc>
                <a:spcPct val="100000"/>
              </a:lnSpc>
              <a:spcBef>
                <a:spcPts val="0"/>
              </a:spcBef>
              <a:spcAft>
                <a:spcPts val="0"/>
              </a:spcAft>
            </a:pPr>
            <a:r>
              <a:rPr sz="2700" b="1" i="0">
                <a:solidFill>
                  <a:srgbClr val="0E2A47"/>
                </a:solidFill>
                <a:latin typeface="Calibri"/>
              </a:rPr>
              <a:t>De la théorie aux propositions de recherche</a:t>
            </a:r>
          </a:p>
        </p:txBody>
      </p:sp>
      <p:sp>
        <p:nvSpPr>
          <p:cNvPr id="7" name="Rectangle 6"/>
          <p:cNvSpPr/>
          <p:nvPr/>
        </p:nvSpPr>
        <p:spPr>
          <a:xfrm>
            <a:off x="713232" y="1207008"/>
            <a:ext cx="777240" cy="50292"/>
          </a:xfrm>
          <a:prstGeom prst="rect">
            <a:avLst/>
          </a:prstGeom>
          <a:solidFill>
            <a:srgbClr val="E4A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536192"/>
            <a:ext cx="10789920" cy="457200"/>
          </a:xfrm>
          <a:prstGeom prst="rect">
            <a:avLst/>
          </a:prstGeom>
          <a:noFill/>
        </p:spPr>
        <p:txBody>
          <a:bodyPr wrap="square" anchor="t" lIns="0" rIns="0" tIns="0" bIns="0">
            <a:spAutoFit/>
          </a:bodyPr>
          <a:lstStyle/>
          <a:p>
            <a:pPr algn="l">
              <a:lnSpc>
                <a:spcPct val="100000"/>
              </a:lnSpc>
              <a:spcBef>
                <a:spcPts val="0"/>
              </a:spcBef>
              <a:spcAft>
                <a:spcPts val="0"/>
              </a:spcAft>
            </a:pPr>
            <a:r>
              <a:rPr sz="1600" b="1" i="0">
                <a:solidFill>
                  <a:srgbClr val="0E2A47"/>
                </a:solidFill>
                <a:latin typeface="Calibri"/>
              </a:rPr>
              <a:t>La PME face à l'IA : une double dynamique</a:t>
            </a:r>
          </a:p>
        </p:txBody>
      </p:sp>
      <p:sp>
        <p:nvSpPr>
          <p:cNvPr id="9" name="Rounded Rectangle 8"/>
          <p:cNvSpPr/>
          <p:nvPr/>
        </p:nvSpPr>
        <p:spPr>
          <a:xfrm>
            <a:off x="685800" y="2057400"/>
            <a:ext cx="5257800" cy="1371600"/>
          </a:xfrm>
          <a:prstGeom prst="roundRect">
            <a:avLst>
              <a:gd name="adj" fmla="val 4500"/>
            </a:avLst>
          </a:prstGeom>
          <a:solidFill>
            <a:srgbClr val="EC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212848"/>
            <a:ext cx="4754880" cy="365760"/>
          </a:xfrm>
          <a:prstGeom prst="rect">
            <a:avLst/>
          </a:prstGeom>
          <a:noFill/>
        </p:spPr>
        <p:txBody>
          <a:bodyPr wrap="square" anchor="t" lIns="0" rIns="0" tIns="0" bIns="0">
            <a:spAutoFit/>
          </a:bodyPr>
          <a:lstStyle/>
          <a:p>
            <a:pPr algn="l">
              <a:lnSpc>
                <a:spcPct val="100000"/>
              </a:lnSpc>
              <a:spcBef>
                <a:spcPts val="0"/>
              </a:spcBef>
              <a:spcAft>
                <a:spcPts val="0"/>
              </a:spcAft>
            </a:pPr>
            <a:r>
              <a:rPr sz="1250" b="1" i="0">
                <a:solidFill>
                  <a:srgbClr val="257448"/>
                </a:solidFill>
                <a:latin typeface="Calibri"/>
              </a:rPr>
              <a:t>LEVIERS</a:t>
            </a:r>
          </a:p>
        </p:txBody>
      </p:sp>
      <p:sp>
        <p:nvSpPr>
          <p:cNvPr id="11" name="TextBox 10"/>
          <p:cNvSpPr txBox="1"/>
          <p:nvPr/>
        </p:nvSpPr>
        <p:spPr>
          <a:xfrm>
            <a:off x="960120" y="2578608"/>
            <a:ext cx="4800600" cy="822960"/>
          </a:xfrm>
          <a:prstGeom prst="rect">
            <a:avLst/>
          </a:prstGeom>
          <a:noFill/>
        </p:spPr>
        <p:txBody>
          <a:bodyPr wrap="square" anchor="t" lIns="0" rIns="0" tIns="0" bIns="0">
            <a:spAutoFit/>
          </a:bodyPr>
          <a:lstStyle/>
          <a:p>
            <a:pPr algn="l">
              <a:lnSpc>
                <a:spcPct val="100000"/>
              </a:lnSpc>
              <a:spcBef>
                <a:spcPts val="0"/>
              </a:spcBef>
              <a:spcAft>
                <a:spcPts val="0"/>
              </a:spcAft>
            </a:pPr>
            <a:r>
              <a:rPr sz="1350" b="0" i="0">
                <a:solidFill>
                  <a:srgbClr val="1A2033"/>
                </a:solidFill>
                <a:latin typeface="Calibri"/>
              </a:rPr>
              <a:t>Flexibilité · proximité relationnelle · réactivité · dirigeant moteur</a:t>
            </a:r>
          </a:p>
        </p:txBody>
      </p:sp>
      <p:sp>
        <p:nvSpPr>
          <p:cNvPr id="12" name="Rounded Rectangle 11"/>
          <p:cNvSpPr/>
          <p:nvPr/>
        </p:nvSpPr>
        <p:spPr>
          <a:xfrm>
            <a:off x="6217920" y="2057400"/>
            <a:ext cx="5257800" cy="1371600"/>
          </a:xfrm>
          <a:prstGeom prst="roundRect">
            <a:avLst>
              <a:gd name="adj" fmla="val 4500"/>
            </a:avLst>
          </a:prstGeom>
          <a:solidFill>
            <a:srgbClr val="F7EC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0" y="2212848"/>
            <a:ext cx="4754880" cy="365760"/>
          </a:xfrm>
          <a:prstGeom prst="rect">
            <a:avLst/>
          </a:prstGeom>
          <a:noFill/>
        </p:spPr>
        <p:txBody>
          <a:bodyPr wrap="square" anchor="t" lIns="0" rIns="0" tIns="0" bIns="0">
            <a:spAutoFit/>
          </a:bodyPr>
          <a:lstStyle/>
          <a:p>
            <a:pPr algn="l">
              <a:lnSpc>
                <a:spcPct val="100000"/>
              </a:lnSpc>
              <a:spcBef>
                <a:spcPts val="0"/>
              </a:spcBef>
              <a:spcAft>
                <a:spcPts val="0"/>
              </a:spcAft>
            </a:pPr>
            <a:r>
              <a:rPr sz="1250" b="1" i="0">
                <a:solidFill>
                  <a:srgbClr val="A84530"/>
                </a:solidFill>
                <a:latin typeface="Calibri"/>
              </a:rPr>
              <a:t>FREINS</a:t>
            </a:r>
          </a:p>
        </p:txBody>
      </p:sp>
      <p:sp>
        <p:nvSpPr>
          <p:cNvPr id="14" name="TextBox 13"/>
          <p:cNvSpPr txBox="1"/>
          <p:nvPr/>
        </p:nvSpPr>
        <p:spPr>
          <a:xfrm>
            <a:off x="6492240" y="2578608"/>
            <a:ext cx="4800600" cy="822960"/>
          </a:xfrm>
          <a:prstGeom prst="rect">
            <a:avLst/>
          </a:prstGeom>
          <a:noFill/>
        </p:spPr>
        <p:txBody>
          <a:bodyPr wrap="square" anchor="t" lIns="0" rIns="0" tIns="0" bIns="0">
            <a:spAutoFit/>
          </a:bodyPr>
          <a:lstStyle/>
          <a:p>
            <a:pPr algn="l">
              <a:lnSpc>
                <a:spcPct val="100000"/>
              </a:lnSpc>
              <a:spcBef>
                <a:spcPts val="0"/>
              </a:spcBef>
              <a:spcAft>
                <a:spcPts val="0"/>
              </a:spcAft>
            </a:pPr>
            <a:r>
              <a:rPr sz="1350" b="0" i="0">
                <a:solidFill>
                  <a:srgbClr val="1A2033"/>
                </a:solidFill>
                <a:latin typeface="Calibri"/>
              </a:rPr>
              <a:t>Ressources limitées · compétences · traditions · absence de cadre commun</a:t>
            </a:r>
          </a:p>
        </p:txBody>
      </p:sp>
      <p:sp>
        <p:nvSpPr>
          <p:cNvPr id="15" name="TextBox 14"/>
          <p:cNvSpPr txBox="1"/>
          <p:nvPr/>
        </p:nvSpPr>
        <p:spPr>
          <a:xfrm>
            <a:off x="685800" y="3611880"/>
            <a:ext cx="10789920" cy="365760"/>
          </a:xfrm>
          <a:prstGeom prst="rect">
            <a:avLst/>
          </a:prstGeom>
          <a:noFill/>
        </p:spPr>
        <p:txBody>
          <a:bodyPr wrap="square" anchor="t" lIns="0" rIns="0" tIns="0" bIns="0">
            <a:spAutoFit/>
          </a:bodyPr>
          <a:lstStyle/>
          <a:p>
            <a:pPr algn="l">
              <a:lnSpc>
                <a:spcPct val="100000"/>
              </a:lnSpc>
              <a:spcBef>
                <a:spcPts val="0"/>
              </a:spcBef>
              <a:spcAft>
                <a:spcPts val="0"/>
              </a:spcAft>
            </a:pPr>
            <a:r>
              <a:rPr sz="1600" b="1" i="0">
                <a:solidFill>
                  <a:srgbClr val="0E2A47"/>
                </a:solidFill>
                <a:latin typeface="Calibri"/>
              </a:rPr>
              <a:t>Trois propositions confrontées au terrain</a:t>
            </a:r>
          </a:p>
        </p:txBody>
      </p:sp>
      <p:sp>
        <p:nvSpPr>
          <p:cNvPr id="16" name="Rounded Rectangle 15"/>
          <p:cNvSpPr/>
          <p:nvPr/>
        </p:nvSpPr>
        <p:spPr>
          <a:xfrm>
            <a:off x="685800" y="4114800"/>
            <a:ext cx="914400" cy="530352"/>
          </a:xfrm>
          <a:prstGeom prst="round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4233672"/>
            <a:ext cx="914400" cy="365760"/>
          </a:xfrm>
          <a:prstGeom prst="rect">
            <a:avLst/>
          </a:prstGeom>
          <a:noFill/>
        </p:spPr>
        <p:txBody>
          <a:bodyPr wrap="square" anchor="t" lIns="0" rIns="0" tIns="0" bIns="0">
            <a:spAutoFit/>
          </a:bodyPr>
          <a:lstStyle/>
          <a:p>
            <a:pPr algn="ctr">
              <a:lnSpc>
                <a:spcPct val="100000"/>
              </a:lnSpc>
              <a:spcBef>
                <a:spcPts val="0"/>
              </a:spcBef>
              <a:spcAft>
                <a:spcPts val="0"/>
              </a:spcAft>
            </a:pPr>
            <a:r>
              <a:rPr sz="1400" b="1" i="0">
                <a:solidFill>
                  <a:srgbClr val="E4A11B"/>
                </a:solidFill>
                <a:latin typeface="Calibri"/>
              </a:rPr>
              <a:t>QR1</a:t>
            </a:r>
          </a:p>
        </p:txBody>
      </p:sp>
      <p:sp>
        <p:nvSpPr>
          <p:cNvPr id="18" name="Rounded Rectangle 17"/>
          <p:cNvSpPr/>
          <p:nvPr/>
        </p:nvSpPr>
        <p:spPr>
          <a:xfrm>
            <a:off x="1783080" y="4114800"/>
            <a:ext cx="9692640" cy="530352"/>
          </a:xfrm>
          <a:prstGeom prst="roundRect">
            <a:avLst>
              <a:gd name="adj" fmla="val 45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011680" y="4165091"/>
            <a:ext cx="9326880" cy="457200"/>
          </a:xfrm>
          <a:prstGeom prst="rect">
            <a:avLst/>
          </a:prstGeom>
          <a:noFill/>
        </p:spPr>
        <p:txBody>
          <a:bodyPr wrap="square" anchor="ctr" lIns="0" rIns="0" tIns="0" bIns="0">
            <a:spAutoFit/>
          </a:bodyPr>
          <a:lstStyle/>
          <a:p>
            <a:pPr algn="l">
              <a:lnSpc>
                <a:spcPct val="100000"/>
              </a:lnSpc>
              <a:spcBef>
                <a:spcPts val="0"/>
              </a:spcBef>
              <a:spcAft>
                <a:spcPts val="0"/>
              </a:spcAft>
            </a:pPr>
            <a:r>
              <a:rPr sz="1350" b="0" i="0">
                <a:solidFill>
                  <a:srgbClr val="1A2033"/>
                </a:solidFill>
                <a:latin typeface="Calibri"/>
              </a:rPr>
              <a:t>La perception de l'IA dépend surtout du métier et de l'usage réel — pas seulement de l'âge.</a:t>
            </a:r>
          </a:p>
        </p:txBody>
      </p:sp>
      <p:sp>
        <p:nvSpPr>
          <p:cNvPr id="20" name="Rounded Rectangle 19"/>
          <p:cNvSpPr/>
          <p:nvPr/>
        </p:nvSpPr>
        <p:spPr>
          <a:xfrm>
            <a:off x="685800" y="4773168"/>
            <a:ext cx="914400" cy="530352"/>
          </a:xfrm>
          <a:prstGeom prst="round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4892040"/>
            <a:ext cx="914400" cy="365760"/>
          </a:xfrm>
          <a:prstGeom prst="rect">
            <a:avLst/>
          </a:prstGeom>
          <a:noFill/>
        </p:spPr>
        <p:txBody>
          <a:bodyPr wrap="square" anchor="t" lIns="0" rIns="0" tIns="0" bIns="0">
            <a:spAutoFit/>
          </a:bodyPr>
          <a:lstStyle/>
          <a:p>
            <a:pPr algn="ctr">
              <a:lnSpc>
                <a:spcPct val="100000"/>
              </a:lnSpc>
              <a:spcBef>
                <a:spcPts val="0"/>
              </a:spcBef>
              <a:spcAft>
                <a:spcPts val="0"/>
              </a:spcAft>
            </a:pPr>
            <a:r>
              <a:rPr sz="1400" b="1" i="0">
                <a:solidFill>
                  <a:srgbClr val="E4A11B"/>
                </a:solidFill>
                <a:latin typeface="Calibri"/>
              </a:rPr>
              <a:t>QR2</a:t>
            </a:r>
          </a:p>
        </p:txBody>
      </p:sp>
      <p:sp>
        <p:nvSpPr>
          <p:cNvPr id="22" name="Rounded Rectangle 21"/>
          <p:cNvSpPr/>
          <p:nvPr/>
        </p:nvSpPr>
        <p:spPr>
          <a:xfrm>
            <a:off x="1783080" y="4773168"/>
            <a:ext cx="9692640" cy="530352"/>
          </a:xfrm>
          <a:prstGeom prst="roundRect">
            <a:avLst>
              <a:gd name="adj" fmla="val 45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011680" y="4823459"/>
            <a:ext cx="9326880" cy="457200"/>
          </a:xfrm>
          <a:prstGeom prst="rect">
            <a:avLst/>
          </a:prstGeom>
          <a:noFill/>
        </p:spPr>
        <p:txBody>
          <a:bodyPr wrap="square" anchor="ctr" lIns="0" rIns="0" tIns="0" bIns="0">
            <a:spAutoFit/>
          </a:bodyPr>
          <a:lstStyle/>
          <a:p>
            <a:pPr algn="l">
              <a:lnSpc>
                <a:spcPct val="100000"/>
              </a:lnSpc>
              <a:spcBef>
                <a:spcPts val="0"/>
              </a:spcBef>
              <a:spcAft>
                <a:spcPts val="0"/>
              </a:spcAft>
            </a:pPr>
            <a:r>
              <a:rPr sz="1350" b="0" i="0">
                <a:solidFill>
                  <a:srgbClr val="1A2033"/>
                </a:solidFill>
                <a:latin typeface="Calibri"/>
              </a:rPr>
              <a:t>Les freins sont pluriels (humains, financiers, organisationnels) et varient selon les profils.</a:t>
            </a:r>
          </a:p>
        </p:txBody>
      </p:sp>
      <p:sp>
        <p:nvSpPr>
          <p:cNvPr id="24" name="Rounded Rectangle 23"/>
          <p:cNvSpPr/>
          <p:nvPr/>
        </p:nvSpPr>
        <p:spPr>
          <a:xfrm>
            <a:off x="685800" y="5431536"/>
            <a:ext cx="914400" cy="530352"/>
          </a:xfrm>
          <a:prstGeom prst="round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5550407"/>
            <a:ext cx="914400" cy="365760"/>
          </a:xfrm>
          <a:prstGeom prst="rect">
            <a:avLst/>
          </a:prstGeom>
          <a:noFill/>
        </p:spPr>
        <p:txBody>
          <a:bodyPr wrap="square" anchor="t" lIns="0" rIns="0" tIns="0" bIns="0">
            <a:spAutoFit/>
          </a:bodyPr>
          <a:lstStyle/>
          <a:p>
            <a:pPr algn="ctr">
              <a:lnSpc>
                <a:spcPct val="100000"/>
              </a:lnSpc>
              <a:spcBef>
                <a:spcPts val="0"/>
              </a:spcBef>
              <a:spcAft>
                <a:spcPts val="0"/>
              </a:spcAft>
            </a:pPr>
            <a:r>
              <a:rPr sz="1400" b="1" i="0">
                <a:solidFill>
                  <a:srgbClr val="E4A11B"/>
                </a:solidFill>
                <a:latin typeface="Calibri"/>
              </a:rPr>
              <a:t>QR3</a:t>
            </a:r>
          </a:p>
        </p:txBody>
      </p:sp>
      <p:sp>
        <p:nvSpPr>
          <p:cNvPr id="26" name="Rounded Rectangle 25"/>
          <p:cNvSpPr/>
          <p:nvPr/>
        </p:nvSpPr>
        <p:spPr>
          <a:xfrm>
            <a:off x="1783080" y="5431536"/>
            <a:ext cx="9692640" cy="530352"/>
          </a:xfrm>
          <a:prstGeom prst="roundRect">
            <a:avLst>
              <a:gd name="adj" fmla="val 45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011680" y="5481827"/>
            <a:ext cx="9326880" cy="457200"/>
          </a:xfrm>
          <a:prstGeom prst="rect">
            <a:avLst/>
          </a:prstGeom>
          <a:noFill/>
        </p:spPr>
        <p:txBody>
          <a:bodyPr wrap="square" anchor="ctr" lIns="0" rIns="0" tIns="0" bIns="0">
            <a:spAutoFit/>
          </a:bodyPr>
          <a:lstStyle/>
          <a:p>
            <a:pPr algn="l">
              <a:lnSpc>
                <a:spcPct val="100000"/>
              </a:lnSpc>
              <a:spcBef>
                <a:spcPts val="0"/>
              </a:spcBef>
              <a:spcAft>
                <a:spcPts val="0"/>
              </a:spcAft>
            </a:pPr>
            <a:r>
              <a:rPr sz="1350" b="0" i="0">
                <a:solidFill>
                  <a:srgbClr val="1A2033"/>
                </a:solidFill>
                <a:latin typeface="Calibri"/>
              </a:rPr>
              <a:t>Les spécificités PME (dirigeant, proximité, traditions) conditionnent l'adoption de l'IA.</a:t>
            </a:r>
          </a:p>
        </p:txBody>
      </p:sp>
      <p:sp>
        <p:nvSpPr>
          <p:cNvPr id="28" name="TextBox 27"/>
          <p:cNvSpPr txBox="1"/>
          <p:nvPr/>
        </p:nvSpPr>
        <p:spPr>
          <a:xfrm>
            <a:off x="685800" y="6428232"/>
            <a:ext cx="7315200" cy="32004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9AA6B8"/>
                </a:solidFill>
                <a:latin typeface="Calibri"/>
              </a:rPr>
              <a:t>Maxime LOUSTALET  ·  Soutenance de mémoire  ·  Eklore-ed School of Management  ·  2025–2026</a:t>
            </a:r>
          </a:p>
        </p:txBody>
      </p:sp>
      <p:sp>
        <p:nvSpPr>
          <p:cNvPr id="29" name="TextBox 28"/>
          <p:cNvSpPr txBox="1"/>
          <p:nvPr/>
        </p:nvSpPr>
        <p:spPr>
          <a:xfrm>
            <a:off x="10881360" y="6428232"/>
            <a:ext cx="640080" cy="320040"/>
          </a:xfrm>
          <a:prstGeom prst="rect">
            <a:avLst/>
          </a:prstGeom>
          <a:noFill/>
        </p:spPr>
        <p:txBody>
          <a:bodyPr wrap="square" anchor="t" lIns="0" rIns="0" tIns="0" bIns="0">
            <a:spAutoFit/>
          </a:bodyPr>
          <a:lstStyle/>
          <a:p>
            <a:pPr algn="r">
              <a:lnSpc>
                <a:spcPct val="100000"/>
              </a:lnSpc>
              <a:spcBef>
                <a:spcPts val="0"/>
              </a:spcBef>
              <a:spcAft>
                <a:spcPts val="0"/>
              </a:spcAft>
            </a:pPr>
            <a:r>
              <a:rPr sz="900" b="1" i="0">
                <a:solidFill>
                  <a:srgbClr val="9AA6B8"/>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E4A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2148840"/>
            <a:ext cx="2194560" cy="54864"/>
          </a:xfrm>
          <a:prstGeom prst="rect">
            <a:avLst/>
          </a:prstGeom>
          <a:solidFill>
            <a:srgbClr val="E4A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2331720"/>
            <a:ext cx="10058400" cy="1280160"/>
          </a:xfrm>
          <a:prstGeom prst="rect">
            <a:avLst/>
          </a:prstGeom>
          <a:noFill/>
        </p:spPr>
        <p:txBody>
          <a:bodyPr wrap="square" anchor="t" lIns="0" rIns="0" tIns="0" bIns="0">
            <a:spAutoFit/>
          </a:bodyPr>
          <a:lstStyle/>
          <a:p>
            <a:pPr algn="l">
              <a:lnSpc>
                <a:spcPct val="100000"/>
              </a:lnSpc>
              <a:spcBef>
                <a:spcPts val="0"/>
              </a:spcBef>
              <a:spcAft>
                <a:spcPts val="0"/>
              </a:spcAft>
            </a:pPr>
            <a:r>
              <a:rPr sz="9200" b="1" i="0">
                <a:solidFill>
                  <a:srgbClr val="24466B"/>
                </a:solidFill>
                <a:latin typeface="Calibri"/>
              </a:rPr>
              <a:t>03</a:t>
            </a:r>
          </a:p>
        </p:txBody>
      </p:sp>
      <p:sp>
        <p:nvSpPr>
          <p:cNvPr id="6" name="TextBox 5"/>
          <p:cNvSpPr txBox="1"/>
          <p:nvPr/>
        </p:nvSpPr>
        <p:spPr>
          <a:xfrm>
            <a:off x="2743200" y="2514600"/>
            <a:ext cx="8595360" cy="1463040"/>
          </a:xfrm>
          <a:prstGeom prst="rect">
            <a:avLst/>
          </a:prstGeom>
          <a:noFill/>
        </p:spPr>
        <p:txBody>
          <a:bodyPr wrap="square" anchor="t" lIns="0" rIns="0" tIns="0" bIns="0">
            <a:spAutoFit/>
          </a:bodyPr>
          <a:lstStyle/>
          <a:p>
            <a:pPr algn="l">
              <a:lnSpc>
                <a:spcPct val="100000"/>
              </a:lnSpc>
              <a:spcBef>
                <a:spcPts val="0"/>
              </a:spcBef>
              <a:spcAft>
                <a:spcPts val="0"/>
              </a:spcAft>
            </a:pPr>
            <a:r>
              <a:rPr sz="4000" b="1" i="0">
                <a:solidFill>
                  <a:srgbClr val="FFFFFF"/>
                </a:solidFill>
                <a:latin typeface="Calibri"/>
              </a:rPr>
              <a:t>Méthodologie empirique</a:t>
            </a:r>
          </a:p>
        </p:txBody>
      </p:sp>
      <p:sp>
        <p:nvSpPr>
          <p:cNvPr id="7" name="TextBox 6"/>
          <p:cNvSpPr txBox="1"/>
          <p:nvPr/>
        </p:nvSpPr>
        <p:spPr>
          <a:xfrm>
            <a:off x="2788920" y="3611880"/>
            <a:ext cx="8412480" cy="731520"/>
          </a:xfrm>
          <a:prstGeom prst="rect">
            <a:avLst/>
          </a:prstGeom>
          <a:noFill/>
        </p:spPr>
        <p:txBody>
          <a:bodyPr wrap="square" anchor="t" lIns="0" rIns="0" tIns="0" bIns="0">
            <a:spAutoFit/>
          </a:bodyPr>
          <a:lstStyle/>
          <a:p>
            <a:pPr algn="l">
              <a:lnSpc>
                <a:spcPct val="100000"/>
              </a:lnSpc>
              <a:spcBef>
                <a:spcPts val="0"/>
              </a:spcBef>
              <a:spcAft>
                <a:spcPts val="0"/>
              </a:spcAft>
            </a:pPr>
            <a:r>
              <a:rPr sz="1600" b="0" i="1">
                <a:solidFill>
                  <a:srgbClr val="B8C6D8"/>
                </a:solidFill>
                <a:latin typeface="Calibri"/>
              </a:rPr>
              <a:t>Une étude qualitative exploratoire fondée sur 8 entretiens semi-directifs</a:t>
            </a:r>
          </a:p>
        </p:txBody>
      </p:sp>
      <p:sp>
        <p:nvSpPr>
          <p:cNvPr id="8" name="TextBox 7"/>
          <p:cNvSpPr txBox="1"/>
          <p:nvPr/>
        </p:nvSpPr>
        <p:spPr>
          <a:xfrm>
            <a:off x="685800" y="6428232"/>
            <a:ext cx="7315200" cy="32004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A9CB5"/>
                </a:solidFill>
                <a:latin typeface="Calibri"/>
              </a:rPr>
              <a:t>Maxime LOUSTALET  ·  Soutenance de mémoire  ·  Eklore-ed School of Management  ·  2025–2026</a:t>
            </a:r>
          </a:p>
        </p:txBody>
      </p:sp>
      <p:sp>
        <p:nvSpPr>
          <p:cNvPr id="9" name="TextBox 8"/>
          <p:cNvSpPr txBox="1"/>
          <p:nvPr/>
        </p:nvSpPr>
        <p:spPr>
          <a:xfrm>
            <a:off x="10881360" y="6428232"/>
            <a:ext cx="640080" cy="320040"/>
          </a:xfrm>
          <a:prstGeom prst="rect">
            <a:avLst/>
          </a:prstGeom>
          <a:noFill/>
        </p:spPr>
        <p:txBody>
          <a:bodyPr wrap="square" anchor="t" lIns="0" rIns="0" tIns="0" bIns="0">
            <a:spAutoFit/>
          </a:bodyPr>
          <a:lstStyle/>
          <a:p>
            <a:pPr algn="r">
              <a:lnSpc>
                <a:spcPct val="100000"/>
              </a:lnSpc>
              <a:spcBef>
                <a:spcPts val="0"/>
              </a:spcBef>
              <a:spcAft>
                <a:spcPts val="0"/>
              </a:spcAft>
            </a:pPr>
            <a:r>
              <a:rPr sz="900" b="1" i="0">
                <a:solidFill>
                  <a:srgbClr val="8A9CB5"/>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371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46304" cy="1371600"/>
          </a:xfrm>
          <a:prstGeom prst="rect">
            <a:avLst/>
          </a:prstGeom>
          <a:solidFill>
            <a:srgbClr val="E4A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310896"/>
            <a:ext cx="10515600" cy="365760"/>
          </a:xfrm>
          <a:prstGeom prst="rect">
            <a:avLst/>
          </a:prstGeom>
          <a:noFill/>
        </p:spPr>
        <p:txBody>
          <a:bodyPr wrap="square" anchor="t" lIns="0" rIns="0" tIns="0" bIns="0">
            <a:spAutoFit/>
          </a:bodyPr>
          <a:lstStyle/>
          <a:p>
            <a:pPr algn="l">
              <a:lnSpc>
                <a:spcPct val="100000"/>
              </a:lnSpc>
              <a:spcBef>
                <a:spcPts val="0"/>
              </a:spcBef>
              <a:spcAft>
                <a:spcPts val="0"/>
              </a:spcAft>
            </a:pPr>
            <a:r>
              <a:rPr sz="1250" b="1" i="0">
                <a:solidFill>
                  <a:srgbClr val="2E6E9E"/>
                </a:solidFill>
                <a:latin typeface="Calibri"/>
              </a:rPr>
              <a:t>03 · DÉMARCHE EMPIRIQUE</a:t>
            </a:r>
          </a:p>
        </p:txBody>
      </p:sp>
      <p:sp>
        <p:nvSpPr>
          <p:cNvPr id="6" name="TextBox 5"/>
          <p:cNvSpPr txBox="1"/>
          <p:nvPr/>
        </p:nvSpPr>
        <p:spPr>
          <a:xfrm>
            <a:off x="685800" y="576072"/>
            <a:ext cx="10881360" cy="640080"/>
          </a:xfrm>
          <a:prstGeom prst="rect">
            <a:avLst/>
          </a:prstGeom>
          <a:noFill/>
        </p:spPr>
        <p:txBody>
          <a:bodyPr wrap="square" anchor="t" lIns="0" rIns="0" tIns="0" bIns="0">
            <a:spAutoFit/>
          </a:bodyPr>
          <a:lstStyle/>
          <a:p>
            <a:pPr algn="l">
              <a:lnSpc>
                <a:spcPct val="100000"/>
              </a:lnSpc>
              <a:spcBef>
                <a:spcPts val="0"/>
              </a:spcBef>
              <a:spcAft>
                <a:spcPts val="0"/>
              </a:spcAft>
            </a:pPr>
            <a:r>
              <a:rPr sz="2700" b="1" i="0">
                <a:solidFill>
                  <a:srgbClr val="0E2A47"/>
                </a:solidFill>
                <a:latin typeface="Calibri"/>
              </a:rPr>
              <a:t>Une étude qualitative exploratoire assumée</a:t>
            </a:r>
          </a:p>
        </p:txBody>
      </p:sp>
      <p:sp>
        <p:nvSpPr>
          <p:cNvPr id="7" name="Rectangle 6"/>
          <p:cNvSpPr/>
          <p:nvPr/>
        </p:nvSpPr>
        <p:spPr>
          <a:xfrm>
            <a:off x="713232" y="1207008"/>
            <a:ext cx="777240" cy="50292"/>
          </a:xfrm>
          <a:prstGeom prst="rect">
            <a:avLst/>
          </a:prstGeom>
          <a:solidFill>
            <a:srgbClr val="E4A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85800" y="1600200"/>
            <a:ext cx="5257800" cy="4480560"/>
          </a:xfrm>
          <a:prstGeom prst="roundRect">
            <a:avLst>
              <a:gd name="adj" fmla="val 4500"/>
            </a:avLst>
          </a:prstGeom>
          <a:solidFill>
            <a:srgbClr val="FFFFFF"/>
          </a:solidFill>
          <a:ln w="12700">
            <a:solidFill>
              <a:srgbClr val="D7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85800" y="1600200"/>
            <a:ext cx="5257800" cy="109728"/>
          </a:xfrm>
          <a:prstGeom prst="roundRect">
            <a:avLst/>
          </a:prstGeom>
          <a:solidFill>
            <a:srgbClr val="2E6E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1810512"/>
            <a:ext cx="4754880" cy="365760"/>
          </a:xfrm>
          <a:prstGeom prst="rect">
            <a:avLst/>
          </a:prstGeom>
          <a:noFill/>
        </p:spPr>
        <p:txBody>
          <a:bodyPr wrap="square" anchor="t" lIns="0" rIns="0" tIns="0" bIns="0">
            <a:spAutoFit/>
          </a:bodyPr>
          <a:lstStyle/>
          <a:p>
            <a:pPr algn="l">
              <a:lnSpc>
                <a:spcPct val="100000"/>
              </a:lnSpc>
              <a:spcBef>
                <a:spcPts val="0"/>
              </a:spcBef>
              <a:spcAft>
                <a:spcPts val="0"/>
              </a:spcAft>
            </a:pPr>
            <a:r>
              <a:rPr sz="1300" b="1" i="0">
                <a:solidFill>
                  <a:srgbClr val="2E6E9E"/>
                </a:solidFill>
                <a:latin typeface="Calibri"/>
              </a:rPr>
              <a:t>POURQUOI LE QUALITATIF ?</a:t>
            </a:r>
          </a:p>
        </p:txBody>
      </p:sp>
      <p:sp>
        <p:nvSpPr>
          <p:cNvPr id="11" name="TextBox 10"/>
          <p:cNvSpPr txBox="1"/>
          <p:nvPr/>
        </p:nvSpPr>
        <p:spPr>
          <a:xfrm>
            <a:off x="960120" y="2286000"/>
            <a:ext cx="4754880" cy="3657600"/>
          </a:xfrm>
          <a:prstGeom prst="rect">
            <a:avLst/>
          </a:prstGeom>
          <a:noFill/>
        </p:spPr>
        <p:txBody>
          <a:bodyPr wrap="square" lIns="0" rIns="0" tIns="0" bIns="0">
            <a:spAutoFit/>
          </a:bodyPr>
          <a:lstStyle/>
          <a:p>
            <a:pPr>
              <a:lnSpc>
                <a:spcPct val="106000"/>
              </a:lnSpc>
              <a:spcBef>
                <a:spcPts val="0"/>
              </a:spcBef>
              <a:spcAft>
                <a:spcPts val="1100"/>
              </a:spcAft>
            </a:pPr>
            <a:r>
              <a:rPr sz="1350" b="1">
                <a:solidFill>
                  <a:srgbClr val="E4A11B"/>
                </a:solidFill>
                <a:latin typeface="Calibri"/>
              </a:rPr>
              <a:t>▪  </a:t>
            </a:r>
            <a:r>
              <a:rPr sz="1350" b="1">
                <a:solidFill>
                  <a:srgbClr val="1A2033"/>
                </a:solidFill>
                <a:latin typeface="Calibri"/>
              </a:rPr>
              <a:t>Explorer le « pourquoi » et le « comment »</a:t>
            </a:r>
            <a:r>
              <a:rPr sz="1350" b="0">
                <a:solidFill>
                  <a:srgbClr val="55607A"/>
                </a:solidFill>
                <a:latin typeface="Calibri"/>
              </a:rPr>
              <a:t> des comportements, pas les mesurer (Jando, 2024).</a:t>
            </a:r>
          </a:p>
          <a:p>
            <a:pPr>
              <a:lnSpc>
                <a:spcPct val="106000"/>
              </a:lnSpc>
              <a:spcBef>
                <a:spcPts val="0"/>
              </a:spcBef>
              <a:spcAft>
                <a:spcPts val="1100"/>
              </a:spcAft>
            </a:pPr>
            <a:r>
              <a:rPr sz="1350" b="1">
                <a:solidFill>
                  <a:srgbClr val="E4A11B"/>
                </a:solidFill>
                <a:latin typeface="Calibri"/>
              </a:rPr>
              <a:t>▪  </a:t>
            </a:r>
            <a:r>
              <a:rPr sz="1350" b="1">
                <a:solidFill>
                  <a:srgbClr val="1A2033"/>
                </a:solidFill>
                <a:latin typeface="Calibri"/>
              </a:rPr>
              <a:t>8 entretiens semi-directifs</a:t>
            </a:r>
            <a:r>
              <a:rPr sz="1350" b="0">
                <a:solidFill>
                  <a:srgbClr val="55607A"/>
                </a:solidFill>
                <a:latin typeface="Calibri"/>
              </a:rPr>
              <a:t> · 10 questions ouvertes · enregistrés.</a:t>
            </a:r>
          </a:p>
          <a:p>
            <a:pPr>
              <a:lnSpc>
                <a:spcPct val="106000"/>
              </a:lnSpc>
              <a:spcBef>
                <a:spcPts val="0"/>
              </a:spcBef>
              <a:spcAft>
                <a:spcPts val="1100"/>
              </a:spcAft>
            </a:pPr>
            <a:r>
              <a:rPr sz="1350" b="1">
                <a:solidFill>
                  <a:srgbClr val="E4A11B"/>
                </a:solidFill>
                <a:latin typeface="Calibri"/>
              </a:rPr>
              <a:t>▪  </a:t>
            </a:r>
            <a:r>
              <a:rPr sz="1350" b="1">
                <a:solidFill>
                  <a:srgbClr val="1A2033"/>
                </a:solidFill>
                <a:latin typeface="Calibri"/>
              </a:rPr>
              <a:t>Analyse thématique</a:t>
            </a:r>
            <a:r>
              <a:rPr sz="1350" b="0">
                <a:solidFill>
                  <a:srgbClr val="55607A"/>
                </a:solidFill>
                <a:latin typeface="Calibri"/>
              </a:rPr>
              <a:t> : ≈ 5 h de transcription (Annexe 2) + extraction de verbatims (Annexe 3).</a:t>
            </a:r>
          </a:p>
          <a:p>
            <a:pPr>
              <a:lnSpc>
                <a:spcPct val="106000"/>
              </a:lnSpc>
              <a:spcBef>
                <a:spcPts val="0"/>
              </a:spcBef>
              <a:spcAft>
                <a:spcPts val="1100"/>
              </a:spcAft>
            </a:pPr>
            <a:r>
              <a:rPr sz="1350" b="1">
                <a:solidFill>
                  <a:srgbClr val="E4A11B"/>
                </a:solidFill>
                <a:latin typeface="Calibri"/>
              </a:rPr>
              <a:t>▪  </a:t>
            </a:r>
            <a:r>
              <a:rPr sz="1350" b="1">
                <a:solidFill>
                  <a:srgbClr val="1A2033"/>
                </a:solidFill>
                <a:latin typeface="Calibri"/>
              </a:rPr>
              <a:t>Confronter la théorie au terrain</a:t>
            </a:r>
            <a:r>
              <a:rPr sz="1350" b="0">
                <a:solidFill>
                  <a:srgbClr val="55607A"/>
                </a:solidFill>
                <a:latin typeface="Calibri"/>
              </a:rPr>
              <a:t> et faire émerger des facteurs non anticipés.</a:t>
            </a:r>
          </a:p>
        </p:txBody>
      </p:sp>
      <p:sp>
        <p:nvSpPr>
          <p:cNvPr id="12" name="Rounded Rectangle 11"/>
          <p:cNvSpPr/>
          <p:nvPr/>
        </p:nvSpPr>
        <p:spPr>
          <a:xfrm>
            <a:off x="6217920" y="1600200"/>
            <a:ext cx="5257800" cy="4480560"/>
          </a:xfrm>
          <a:prstGeom prst="roundRect">
            <a:avLst>
              <a:gd name="adj" fmla="val 4500"/>
            </a:avLst>
          </a:prstGeom>
          <a:solidFill>
            <a:srgbClr val="FFFFFF"/>
          </a:solidFill>
          <a:ln w="12700">
            <a:solidFill>
              <a:srgbClr val="D7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17920" y="1600200"/>
            <a:ext cx="5257800" cy="109728"/>
          </a:xfrm>
          <a:prstGeom prst="roundRect">
            <a:avLst/>
          </a:prstGeom>
          <a:solidFill>
            <a:srgbClr val="E4A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92240" y="1810512"/>
            <a:ext cx="4754880" cy="365760"/>
          </a:xfrm>
          <a:prstGeom prst="rect">
            <a:avLst/>
          </a:prstGeom>
          <a:noFill/>
        </p:spPr>
        <p:txBody>
          <a:bodyPr wrap="square" anchor="t" lIns="0" rIns="0" tIns="0" bIns="0">
            <a:spAutoFit/>
          </a:bodyPr>
          <a:lstStyle/>
          <a:p>
            <a:pPr algn="l">
              <a:lnSpc>
                <a:spcPct val="100000"/>
              </a:lnSpc>
              <a:spcBef>
                <a:spcPts val="0"/>
              </a:spcBef>
              <a:spcAft>
                <a:spcPts val="0"/>
              </a:spcAft>
            </a:pPr>
            <a:r>
              <a:rPr sz="1300" b="1" i="0">
                <a:solidFill>
                  <a:srgbClr val="C6860E"/>
                </a:solidFill>
                <a:latin typeface="Calibri"/>
              </a:rPr>
              <a:t>UN ÉCHANTILLONNAGE RAISONNÉ</a:t>
            </a:r>
          </a:p>
        </p:txBody>
      </p:sp>
      <p:sp>
        <p:nvSpPr>
          <p:cNvPr id="15" name="TextBox 14"/>
          <p:cNvSpPr txBox="1"/>
          <p:nvPr/>
        </p:nvSpPr>
        <p:spPr>
          <a:xfrm>
            <a:off x="6492240" y="2286000"/>
            <a:ext cx="4754880" cy="320040"/>
          </a:xfrm>
          <a:prstGeom prst="rect">
            <a:avLst/>
          </a:prstGeom>
          <a:noFill/>
        </p:spPr>
        <p:txBody>
          <a:bodyPr wrap="square" anchor="t" lIns="0" rIns="0" tIns="0" bIns="0">
            <a:spAutoFit/>
          </a:bodyPr>
          <a:lstStyle/>
          <a:p>
            <a:pPr algn="l">
              <a:lnSpc>
                <a:spcPct val="100000"/>
              </a:lnSpc>
              <a:spcBef>
                <a:spcPts val="0"/>
              </a:spcBef>
              <a:spcAft>
                <a:spcPts val="0"/>
              </a:spcAft>
            </a:pPr>
            <a:r>
              <a:rPr sz="1350" b="1" i="0">
                <a:solidFill>
                  <a:srgbClr val="0E2A47"/>
                </a:solidFill>
                <a:latin typeface="Calibri"/>
              </a:rPr>
              <a:t>3 familles de profils</a:t>
            </a:r>
          </a:p>
        </p:txBody>
      </p:sp>
      <p:sp>
        <p:nvSpPr>
          <p:cNvPr id="16" name="Oval 15"/>
          <p:cNvSpPr/>
          <p:nvPr/>
        </p:nvSpPr>
        <p:spPr>
          <a:xfrm>
            <a:off x="6492240" y="2715768"/>
            <a:ext cx="128016" cy="128016"/>
          </a:xfrm>
          <a:prstGeom prst="ellipse">
            <a:avLst/>
          </a:prstGeom>
          <a:solidFill>
            <a:srgbClr val="E4A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720840" y="2651760"/>
            <a:ext cx="4572000" cy="36576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55607A"/>
                </a:solidFill>
                <a:latin typeface="Calibri"/>
              </a:rPr>
              <a:t>Dirigeants / responsables — vision stratégique</a:t>
            </a:r>
          </a:p>
        </p:txBody>
      </p:sp>
      <p:sp>
        <p:nvSpPr>
          <p:cNvPr id="18" name="Oval 17"/>
          <p:cNvSpPr/>
          <p:nvPr/>
        </p:nvSpPr>
        <p:spPr>
          <a:xfrm>
            <a:off x="6492240" y="3099815"/>
            <a:ext cx="128016" cy="128016"/>
          </a:xfrm>
          <a:prstGeom prst="ellipse">
            <a:avLst/>
          </a:prstGeom>
          <a:solidFill>
            <a:srgbClr val="E4A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720840" y="3035808"/>
            <a:ext cx="4572000" cy="36576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55607A"/>
                </a:solidFill>
                <a:latin typeface="Calibri"/>
              </a:rPr>
              <a:t>Bureau : commercial, administratif, RH — usage concret</a:t>
            </a:r>
          </a:p>
        </p:txBody>
      </p:sp>
      <p:sp>
        <p:nvSpPr>
          <p:cNvPr id="20" name="Oval 19"/>
          <p:cNvSpPr/>
          <p:nvPr/>
        </p:nvSpPr>
        <p:spPr>
          <a:xfrm>
            <a:off x="6492240" y="3483863"/>
            <a:ext cx="128016" cy="128016"/>
          </a:xfrm>
          <a:prstGeom prst="ellipse">
            <a:avLst/>
          </a:prstGeom>
          <a:solidFill>
            <a:srgbClr val="E4A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720840" y="3419856"/>
            <a:ext cx="4572000" cy="36576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55607A"/>
                </a:solidFill>
                <a:latin typeface="Calibri"/>
              </a:rPr>
              <a:t>Terrain : chefs d'équipe, ouvriers — métiers moins digitalisés</a:t>
            </a:r>
          </a:p>
        </p:txBody>
      </p:sp>
      <p:sp>
        <p:nvSpPr>
          <p:cNvPr id="22" name="TextBox 21"/>
          <p:cNvSpPr txBox="1"/>
          <p:nvPr/>
        </p:nvSpPr>
        <p:spPr>
          <a:xfrm>
            <a:off x="6492240" y="3977639"/>
            <a:ext cx="4754880" cy="320040"/>
          </a:xfrm>
          <a:prstGeom prst="rect">
            <a:avLst/>
          </a:prstGeom>
          <a:noFill/>
        </p:spPr>
        <p:txBody>
          <a:bodyPr wrap="square" anchor="t" lIns="0" rIns="0" tIns="0" bIns="0">
            <a:spAutoFit/>
          </a:bodyPr>
          <a:lstStyle/>
          <a:p>
            <a:pPr algn="l">
              <a:lnSpc>
                <a:spcPct val="100000"/>
              </a:lnSpc>
              <a:spcBef>
                <a:spcPts val="0"/>
              </a:spcBef>
              <a:spcAft>
                <a:spcPts val="0"/>
              </a:spcAft>
            </a:pPr>
            <a:r>
              <a:rPr sz="1350" b="1" i="0">
                <a:solidFill>
                  <a:srgbClr val="0E2A47"/>
                </a:solidFill>
                <a:latin typeface="Calibri"/>
              </a:rPr>
              <a:t>3 tranches d'âge</a:t>
            </a:r>
          </a:p>
        </p:txBody>
      </p:sp>
      <p:sp>
        <p:nvSpPr>
          <p:cNvPr id="23" name="Oval 22"/>
          <p:cNvSpPr/>
          <p:nvPr/>
        </p:nvSpPr>
        <p:spPr>
          <a:xfrm>
            <a:off x="6492240" y="4407408"/>
            <a:ext cx="128016" cy="128016"/>
          </a:xfrm>
          <a:prstGeom prst="ellipse">
            <a:avLst/>
          </a:prstGeom>
          <a:solidFill>
            <a:srgbClr val="2E6E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20840" y="4343400"/>
            <a:ext cx="4572000" cy="36576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55607A"/>
                </a:solidFill>
                <a:latin typeface="Calibri"/>
              </a:rPr>
              <a:t>18–29 ans : à l'aise avec le numérique</a:t>
            </a:r>
          </a:p>
        </p:txBody>
      </p:sp>
      <p:sp>
        <p:nvSpPr>
          <p:cNvPr id="25" name="Oval 24"/>
          <p:cNvSpPr/>
          <p:nvPr/>
        </p:nvSpPr>
        <p:spPr>
          <a:xfrm>
            <a:off x="6492240" y="4791456"/>
            <a:ext cx="128016" cy="128016"/>
          </a:xfrm>
          <a:prstGeom prst="ellipse">
            <a:avLst/>
          </a:prstGeom>
          <a:solidFill>
            <a:srgbClr val="2E6E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20840" y="4727448"/>
            <a:ext cx="4572000" cy="36576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55607A"/>
                </a:solidFill>
                <a:latin typeface="Calibri"/>
              </a:rPr>
              <a:t>30–44 ans : profils intermédiaires, usages mixtes</a:t>
            </a:r>
          </a:p>
        </p:txBody>
      </p:sp>
      <p:sp>
        <p:nvSpPr>
          <p:cNvPr id="27" name="Oval 26"/>
          <p:cNvSpPr/>
          <p:nvPr/>
        </p:nvSpPr>
        <p:spPr>
          <a:xfrm>
            <a:off x="6492240" y="5175504"/>
            <a:ext cx="128016" cy="128016"/>
          </a:xfrm>
          <a:prstGeom prst="ellipse">
            <a:avLst/>
          </a:prstGeom>
          <a:solidFill>
            <a:srgbClr val="2E6E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20840" y="5111496"/>
            <a:ext cx="4572000" cy="36576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55607A"/>
                </a:solidFill>
                <a:latin typeface="Calibri"/>
              </a:rPr>
              <a:t>45 ans et + : habitudes de travail installées</a:t>
            </a:r>
          </a:p>
        </p:txBody>
      </p:sp>
      <p:sp>
        <p:nvSpPr>
          <p:cNvPr id="29" name="Rectangle 28"/>
          <p:cNvSpPr/>
          <p:nvPr/>
        </p:nvSpPr>
        <p:spPr>
          <a:xfrm>
            <a:off x="685800" y="6172200"/>
            <a:ext cx="10817352" cy="18288"/>
          </a:xfrm>
          <a:prstGeom prst="rect">
            <a:avLst/>
          </a:prstGeom>
          <a:solidFill>
            <a:srgbClr val="D7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6428232"/>
            <a:ext cx="7315200" cy="32004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9AA6B8"/>
                </a:solidFill>
                <a:latin typeface="Calibri"/>
              </a:rPr>
              <a:t>Maxime LOUSTALET  ·  Soutenance de mémoire  ·  Eklore-ed School of Management  ·  2025–2026</a:t>
            </a:r>
          </a:p>
        </p:txBody>
      </p:sp>
      <p:sp>
        <p:nvSpPr>
          <p:cNvPr id="31" name="TextBox 30"/>
          <p:cNvSpPr txBox="1"/>
          <p:nvPr/>
        </p:nvSpPr>
        <p:spPr>
          <a:xfrm>
            <a:off x="10881360" y="6428232"/>
            <a:ext cx="640080" cy="320040"/>
          </a:xfrm>
          <a:prstGeom prst="rect">
            <a:avLst/>
          </a:prstGeom>
          <a:noFill/>
        </p:spPr>
        <p:txBody>
          <a:bodyPr wrap="square" anchor="t" lIns="0" rIns="0" tIns="0" bIns="0">
            <a:spAutoFit/>
          </a:bodyPr>
          <a:lstStyle/>
          <a:p>
            <a:pPr algn="r">
              <a:lnSpc>
                <a:spcPct val="100000"/>
              </a:lnSpc>
              <a:spcBef>
                <a:spcPts val="0"/>
              </a:spcBef>
              <a:spcAft>
                <a:spcPts val="0"/>
              </a:spcAft>
            </a:pPr>
            <a:r>
              <a:rPr sz="900" b="1" i="0">
                <a:solidFill>
                  <a:srgbClr val="9AA6B8"/>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E4A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2148840"/>
            <a:ext cx="2194560" cy="54864"/>
          </a:xfrm>
          <a:prstGeom prst="rect">
            <a:avLst/>
          </a:prstGeom>
          <a:solidFill>
            <a:srgbClr val="E4A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2331720"/>
            <a:ext cx="10058400" cy="1280160"/>
          </a:xfrm>
          <a:prstGeom prst="rect">
            <a:avLst/>
          </a:prstGeom>
          <a:noFill/>
        </p:spPr>
        <p:txBody>
          <a:bodyPr wrap="square" anchor="t" lIns="0" rIns="0" tIns="0" bIns="0">
            <a:spAutoFit/>
          </a:bodyPr>
          <a:lstStyle/>
          <a:p>
            <a:pPr algn="l">
              <a:lnSpc>
                <a:spcPct val="100000"/>
              </a:lnSpc>
              <a:spcBef>
                <a:spcPts val="0"/>
              </a:spcBef>
              <a:spcAft>
                <a:spcPts val="0"/>
              </a:spcAft>
            </a:pPr>
            <a:r>
              <a:rPr sz="9200" b="1" i="0">
                <a:solidFill>
                  <a:srgbClr val="24466B"/>
                </a:solidFill>
                <a:latin typeface="Calibri"/>
              </a:rPr>
              <a:t>04</a:t>
            </a:r>
          </a:p>
        </p:txBody>
      </p:sp>
      <p:sp>
        <p:nvSpPr>
          <p:cNvPr id="6" name="TextBox 5"/>
          <p:cNvSpPr txBox="1"/>
          <p:nvPr/>
        </p:nvSpPr>
        <p:spPr>
          <a:xfrm>
            <a:off x="2743200" y="2514600"/>
            <a:ext cx="8595360" cy="1463040"/>
          </a:xfrm>
          <a:prstGeom prst="rect">
            <a:avLst/>
          </a:prstGeom>
          <a:noFill/>
        </p:spPr>
        <p:txBody>
          <a:bodyPr wrap="square" anchor="t" lIns="0" rIns="0" tIns="0" bIns="0">
            <a:spAutoFit/>
          </a:bodyPr>
          <a:lstStyle/>
          <a:p>
            <a:pPr algn="l">
              <a:lnSpc>
                <a:spcPct val="100000"/>
              </a:lnSpc>
              <a:spcBef>
                <a:spcPts val="0"/>
              </a:spcBef>
              <a:spcAft>
                <a:spcPts val="0"/>
              </a:spcAft>
            </a:pPr>
            <a:r>
              <a:rPr sz="4000" b="1" i="0">
                <a:solidFill>
                  <a:srgbClr val="FFFFFF"/>
                </a:solidFill>
                <a:latin typeface="Calibri"/>
              </a:rPr>
              <a:t>Résultats &amp; analyse</a:t>
            </a:r>
          </a:p>
        </p:txBody>
      </p:sp>
      <p:sp>
        <p:nvSpPr>
          <p:cNvPr id="7" name="TextBox 6"/>
          <p:cNvSpPr txBox="1"/>
          <p:nvPr/>
        </p:nvSpPr>
        <p:spPr>
          <a:xfrm>
            <a:off x="2788920" y="3611880"/>
            <a:ext cx="8412480" cy="731520"/>
          </a:xfrm>
          <a:prstGeom prst="rect">
            <a:avLst/>
          </a:prstGeom>
          <a:noFill/>
        </p:spPr>
        <p:txBody>
          <a:bodyPr wrap="square" anchor="t" lIns="0" rIns="0" tIns="0" bIns="0">
            <a:spAutoFit/>
          </a:bodyPr>
          <a:lstStyle/>
          <a:p>
            <a:pPr algn="l">
              <a:lnSpc>
                <a:spcPct val="100000"/>
              </a:lnSpc>
              <a:spcBef>
                <a:spcPts val="0"/>
              </a:spcBef>
              <a:spcAft>
                <a:spcPts val="0"/>
              </a:spcAft>
            </a:pPr>
            <a:r>
              <a:rPr sz="1600" b="0" i="1">
                <a:solidFill>
                  <a:srgbClr val="B8C6D8"/>
                </a:solidFill>
                <a:latin typeface="Calibri"/>
              </a:rPr>
              <a:t>Trois questions de recherche confrontées aux 8 entretiens</a:t>
            </a:r>
          </a:p>
        </p:txBody>
      </p:sp>
      <p:sp>
        <p:nvSpPr>
          <p:cNvPr id="8" name="TextBox 7"/>
          <p:cNvSpPr txBox="1"/>
          <p:nvPr/>
        </p:nvSpPr>
        <p:spPr>
          <a:xfrm>
            <a:off x="685800" y="6428232"/>
            <a:ext cx="7315200" cy="32004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A9CB5"/>
                </a:solidFill>
                <a:latin typeface="Calibri"/>
              </a:rPr>
              <a:t>Maxime LOUSTALET  ·  Soutenance de mémoire  ·  Eklore-ed School of Management  ·  2025–2026</a:t>
            </a:r>
          </a:p>
        </p:txBody>
      </p:sp>
      <p:sp>
        <p:nvSpPr>
          <p:cNvPr id="9" name="TextBox 8"/>
          <p:cNvSpPr txBox="1"/>
          <p:nvPr/>
        </p:nvSpPr>
        <p:spPr>
          <a:xfrm>
            <a:off x="10881360" y="6428232"/>
            <a:ext cx="640080" cy="320040"/>
          </a:xfrm>
          <a:prstGeom prst="rect">
            <a:avLst/>
          </a:prstGeom>
          <a:noFill/>
        </p:spPr>
        <p:txBody>
          <a:bodyPr wrap="square" anchor="t" lIns="0" rIns="0" tIns="0" bIns="0">
            <a:spAutoFit/>
          </a:bodyPr>
          <a:lstStyle/>
          <a:p>
            <a:pPr algn="r">
              <a:lnSpc>
                <a:spcPct val="100000"/>
              </a:lnSpc>
              <a:spcBef>
                <a:spcPts val="0"/>
              </a:spcBef>
              <a:spcAft>
                <a:spcPts val="0"/>
              </a:spcAft>
            </a:pPr>
            <a:r>
              <a:rPr sz="900" b="1" i="0">
                <a:solidFill>
                  <a:srgbClr val="8A9CB5"/>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371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46304" cy="1371600"/>
          </a:xfrm>
          <a:prstGeom prst="rect">
            <a:avLst/>
          </a:prstGeom>
          <a:solidFill>
            <a:srgbClr val="E4A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310896"/>
            <a:ext cx="10515600" cy="365760"/>
          </a:xfrm>
          <a:prstGeom prst="rect">
            <a:avLst/>
          </a:prstGeom>
          <a:noFill/>
        </p:spPr>
        <p:txBody>
          <a:bodyPr wrap="square" anchor="t" lIns="0" rIns="0" tIns="0" bIns="0">
            <a:spAutoFit/>
          </a:bodyPr>
          <a:lstStyle/>
          <a:p>
            <a:pPr algn="l">
              <a:lnSpc>
                <a:spcPct val="100000"/>
              </a:lnSpc>
              <a:spcBef>
                <a:spcPts val="0"/>
              </a:spcBef>
              <a:spcAft>
                <a:spcPts val="0"/>
              </a:spcAft>
            </a:pPr>
            <a:r>
              <a:rPr sz="1250" b="1" i="0">
                <a:solidFill>
                  <a:srgbClr val="2E6E9E"/>
                </a:solidFill>
                <a:latin typeface="Calibri"/>
              </a:rPr>
              <a:t>04 · QUESTION DE RECHERCHE 1</a:t>
            </a:r>
          </a:p>
        </p:txBody>
      </p:sp>
      <p:sp>
        <p:nvSpPr>
          <p:cNvPr id="6" name="TextBox 5"/>
          <p:cNvSpPr txBox="1"/>
          <p:nvPr/>
        </p:nvSpPr>
        <p:spPr>
          <a:xfrm>
            <a:off x="685800" y="576072"/>
            <a:ext cx="10881360" cy="640080"/>
          </a:xfrm>
          <a:prstGeom prst="rect">
            <a:avLst/>
          </a:prstGeom>
          <a:noFill/>
        </p:spPr>
        <p:txBody>
          <a:bodyPr wrap="square" anchor="t" lIns="0" rIns="0" tIns="0" bIns="0">
            <a:spAutoFit/>
          </a:bodyPr>
          <a:lstStyle/>
          <a:p>
            <a:pPr algn="l">
              <a:lnSpc>
                <a:spcPct val="100000"/>
              </a:lnSpc>
              <a:spcBef>
                <a:spcPts val="0"/>
              </a:spcBef>
              <a:spcAft>
                <a:spcPts val="0"/>
              </a:spcAft>
            </a:pPr>
            <a:r>
              <a:rPr sz="2700" b="1" i="0">
                <a:solidFill>
                  <a:srgbClr val="0E2A47"/>
                </a:solidFill>
                <a:latin typeface="Calibri"/>
              </a:rPr>
              <a:t>Comment les salariés perçoivent-ils l'IA ?</a:t>
            </a:r>
          </a:p>
        </p:txBody>
      </p:sp>
      <p:sp>
        <p:nvSpPr>
          <p:cNvPr id="7" name="Rectangle 6"/>
          <p:cNvSpPr/>
          <p:nvPr/>
        </p:nvSpPr>
        <p:spPr>
          <a:xfrm>
            <a:off x="713232" y="1207008"/>
            <a:ext cx="777240" cy="50292"/>
          </a:xfrm>
          <a:prstGeom prst="rect">
            <a:avLst/>
          </a:prstGeom>
          <a:solidFill>
            <a:srgbClr val="E4A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85800" y="1572768"/>
            <a:ext cx="10817352" cy="658368"/>
          </a:xfrm>
          <a:prstGeom prst="roundRect">
            <a:avLst>
              <a:gd name="adj" fmla="val 4500"/>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1572768"/>
            <a:ext cx="128016" cy="658368"/>
          </a:xfrm>
          <a:prstGeom prst="rect">
            <a:avLst/>
          </a:prstGeom>
          <a:solidFill>
            <a:srgbClr val="E4A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1636776"/>
            <a:ext cx="10241280" cy="548640"/>
          </a:xfrm>
          <a:prstGeom prst="rect">
            <a:avLst/>
          </a:prstGeom>
          <a:noFill/>
        </p:spPr>
        <p:txBody>
          <a:bodyPr wrap="square" anchor="ctr" lIns="0" rIns="0" tIns="0" bIns="0">
            <a:spAutoFit/>
          </a:bodyPr>
          <a:lstStyle/>
          <a:p>
            <a:pPr algn="l">
              <a:lnSpc>
                <a:spcPct val="100000"/>
              </a:lnSpc>
              <a:spcBef>
                <a:spcPts val="0"/>
              </a:spcBef>
              <a:spcAft>
                <a:spcPts val="0"/>
              </a:spcAft>
            </a:pPr>
            <a:r>
              <a:rPr sz="1450" b="1" i="0">
                <a:solidFill>
                  <a:srgbClr val="E4A11B"/>
                </a:solidFill>
                <a:latin typeface="Calibri"/>
              </a:rPr>
              <a:t>Résultat clé — </a:t>
            </a:r>
            <a:r>
              <a:rPr sz="1450" b="0" i="1">
                <a:solidFill>
                  <a:srgbClr val="FFFFFF"/>
                </a:solidFill>
                <a:latin typeface="Calibri"/>
              </a:rPr>
              <a:t>une perception globalement positive, mais un usage isolé et non concerté.</a:t>
            </a:r>
          </a:p>
        </p:txBody>
      </p:sp>
      <p:sp>
        <p:nvSpPr>
          <p:cNvPr id="11" name="TextBox 10"/>
          <p:cNvSpPr txBox="1"/>
          <p:nvPr/>
        </p:nvSpPr>
        <p:spPr>
          <a:xfrm>
            <a:off x="822960" y="2514600"/>
            <a:ext cx="10607040" cy="2926080"/>
          </a:xfrm>
          <a:prstGeom prst="rect">
            <a:avLst/>
          </a:prstGeom>
          <a:noFill/>
        </p:spPr>
        <p:txBody>
          <a:bodyPr wrap="square" lIns="0" rIns="0" tIns="0" bIns="0">
            <a:spAutoFit/>
          </a:bodyPr>
          <a:lstStyle/>
          <a:p>
            <a:pPr>
              <a:lnSpc>
                <a:spcPct val="106000"/>
              </a:lnSpc>
              <a:spcBef>
                <a:spcPts val="0"/>
              </a:spcBef>
              <a:spcAft>
                <a:spcPts val="1000"/>
              </a:spcAft>
            </a:pPr>
            <a:r>
              <a:rPr sz="1380" b="1">
                <a:solidFill>
                  <a:srgbClr val="E4A11B"/>
                </a:solidFill>
                <a:latin typeface="Calibri"/>
              </a:rPr>
              <a:t>▪  </a:t>
            </a:r>
            <a:r>
              <a:rPr sz="1380" b="1">
                <a:solidFill>
                  <a:srgbClr val="1A2033"/>
                </a:solidFill>
                <a:latin typeface="Calibri"/>
              </a:rPr>
              <a:t>Le gain de temps, argument unanime :</a:t>
            </a:r>
            <a:r>
              <a:rPr sz="1380" b="0">
                <a:solidFill>
                  <a:srgbClr val="55607A"/>
                </a:solidFill>
                <a:latin typeface="Calibri"/>
              </a:rPr>
              <a:t> l'IA « recentre sur les tâches à valeur ajoutée » ; la directrice commerciale veut « arrêter la bureautique basique ».</a:t>
            </a:r>
          </a:p>
          <a:p>
            <a:pPr>
              <a:lnSpc>
                <a:spcPct val="106000"/>
              </a:lnSpc>
              <a:spcBef>
                <a:spcPts val="0"/>
              </a:spcBef>
              <a:spcAft>
                <a:spcPts val="1000"/>
              </a:spcAft>
            </a:pPr>
            <a:r>
              <a:rPr sz="1380" b="1">
                <a:solidFill>
                  <a:srgbClr val="E4A11B"/>
                </a:solidFill>
                <a:latin typeface="Calibri"/>
              </a:rPr>
              <a:t>▪  </a:t>
            </a:r>
            <a:r>
              <a:rPr sz="1380" b="1">
                <a:solidFill>
                  <a:srgbClr val="1A2033"/>
                </a:solidFill>
                <a:latin typeface="Calibri"/>
              </a:rPr>
              <a:t>Les non-utilisateurs ne rejettent pas :</a:t>
            </a:r>
            <a:r>
              <a:rPr sz="1380" b="0">
                <a:solidFill>
                  <a:srgbClr val="55607A"/>
                </a:solidFill>
                <a:latin typeface="Calibri"/>
              </a:rPr>
              <a:t> l'ouvrier (57 ans) et le dirigeant (63 ans) ne connaissent pas l'IA, mais parlent d'un « manque d'utilité », pas d'un refus.</a:t>
            </a:r>
          </a:p>
          <a:p>
            <a:pPr>
              <a:lnSpc>
                <a:spcPct val="106000"/>
              </a:lnSpc>
              <a:spcBef>
                <a:spcPts val="0"/>
              </a:spcBef>
              <a:spcAft>
                <a:spcPts val="1000"/>
              </a:spcAft>
            </a:pPr>
            <a:r>
              <a:rPr sz="1380" b="1">
                <a:solidFill>
                  <a:srgbClr val="E4A11B"/>
                </a:solidFill>
                <a:latin typeface="Calibri"/>
              </a:rPr>
              <a:t>▪  </a:t>
            </a:r>
            <a:r>
              <a:rPr sz="1380" b="1">
                <a:solidFill>
                  <a:srgbClr val="1A2033"/>
                </a:solidFill>
                <a:latin typeface="Calibri"/>
              </a:rPr>
              <a:t>Une lecture par le métier :</a:t>
            </a:r>
            <a:r>
              <a:rPr sz="1380" b="0">
                <a:solidFill>
                  <a:srgbClr val="55607A"/>
                </a:solidFill>
                <a:latin typeface="Calibri"/>
              </a:rPr>
              <a:t> bureau automatisable vs terrain — « le béton ne se verse pas de lui-même ».</a:t>
            </a:r>
          </a:p>
          <a:p>
            <a:pPr>
              <a:lnSpc>
                <a:spcPct val="106000"/>
              </a:lnSpc>
              <a:spcBef>
                <a:spcPts val="0"/>
              </a:spcBef>
              <a:spcAft>
                <a:spcPts val="1000"/>
              </a:spcAft>
            </a:pPr>
            <a:r>
              <a:rPr sz="1380" b="1">
                <a:solidFill>
                  <a:srgbClr val="E4A11B"/>
                </a:solidFill>
                <a:latin typeface="Calibri"/>
              </a:rPr>
              <a:t>▪  </a:t>
            </a:r>
            <a:r>
              <a:rPr sz="1380" b="1">
                <a:solidFill>
                  <a:srgbClr val="1A2033"/>
                </a:solidFill>
                <a:latin typeface="Calibri"/>
              </a:rPr>
              <a:t>L'âge ne suffit pas :</a:t>
            </a:r>
            <a:r>
              <a:rPr sz="1380" b="0">
                <a:solidFill>
                  <a:srgbClr val="55607A"/>
                </a:solidFill>
                <a:latin typeface="Calibri"/>
              </a:rPr>
              <a:t> « l'âge n'est pas le seul facteur… certains jeunes restent attachés à leurs habitudes ».</a:t>
            </a:r>
          </a:p>
          <a:p>
            <a:pPr>
              <a:lnSpc>
                <a:spcPct val="106000"/>
              </a:lnSpc>
              <a:spcBef>
                <a:spcPts val="0"/>
              </a:spcBef>
              <a:spcAft>
                <a:spcPts val="1000"/>
              </a:spcAft>
            </a:pPr>
            <a:r>
              <a:rPr sz="1380" b="1">
                <a:solidFill>
                  <a:srgbClr val="E4A11B"/>
                </a:solidFill>
                <a:latin typeface="Calibri"/>
              </a:rPr>
              <a:t>▪  </a:t>
            </a:r>
            <a:r>
              <a:rPr sz="1380" b="1">
                <a:solidFill>
                  <a:srgbClr val="1A2033"/>
                </a:solidFill>
                <a:latin typeface="Calibri"/>
              </a:rPr>
              <a:t>Un usage individuel :</a:t>
            </a:r>
            <a:r>
              <a:rPr sz="1380" b="0">
                <a:solidFill>
                  <a:srgbClr val="55607A"/>
                </a:solidFill>
                <a:latin typeface="Calibri"/>
              </a:rPr>
              <a:t> ChatGPT, Copilot, Gamma utilisés sans savoir « jusqu'où on a le droit » — « c'est une affaire personnelle ».</a:t>
            </a:r>
          </a:p>
        </p:txBody>
      </p:sp>
      <p:sp>
        <p:nvSpPr>
          <p:cNvPr id="12" name="Rectangle 11"/>
          <p:cNvSpPr/>
          <p:nvPr/>
        </p:nvSpPr>
        <p:spPr>
          <a:xfrm>
            <a:off x="685800" y="5504688"/>
            <a:ext cx="10817352" cy="566928"/>
          </a:xfrm>
          <a:prstGeom prst="rect">
            <a:avLst/>
          </a:prstGeom>
          <a:solidFill>
            <a:srgbClr val="ED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85800" y="5504688"/>
            <a:ext cx="128016" cy="566928"/>
          </a:xfrm>
          <a:prstGeom prst="rect">
            <a:avLst/>
          </a:prstGeom>
          <a:solidFill>
            <a:srgbClr val="2E6E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0120" y="5568696"/>
            <a:ext cx="10332720" cy="457200"/>
          </a:xfrm>
          <a:prstGeom prst="rect">
            <a:avLst/>
          </a:prstGeom>
          <a:noFill/>
        </p:spPr>
        <p:txBody>
          <a:bodyPr wrap="square" anchor="ctr" lIns="0" rIns="0" tIns="0" bIns="0">
            <a:spAutoFit/>
          </a:bodyPr>
          <a:lstStyle/>
          <a:p>
            <a:pPr algn="l">
              <a:lnSpc>
                <a:spcPct val="100000"/>
              </a:lnSpc>
              <a:spcBef>
                <a:spcPts val="0"/>
              </a:spcBef>
              <a:spcAft>
                <a:spcPts val="0"/>
              </a:spcAft>
            </a:pPr>
            <a:r>
              <a:rPr sz="1250" b="1" i="0">
                <a:solidFill>
                  <a:srgbClr val="2E6E9E"/>
                </a:solidFill>
                <a:latin typeface="Calibri"/>
              </a:rPr>
              <a:t>Lien littérature — </a:t>
            </a:r>
            <a:r>
              <a:rPr sz="1250" b="0" i="1">
                <a:solidFill>
                  <a:srgbClr val="1A2033"/>
                </a:solidFill>
                <a:latin typeface="Calibri"/>
              </a:rPr>
              <a:t>valide Bennour &amp; Oukassi (2025) sur la productivité ; illustre le défaut de structure collective pointé par Kokina et al. (2025).</a:t>
            </a:r>
          </a:p>
        </p:txBody>
      </p:sp>
      <p:sp>
        <p:nvSpPr>
          <p:cNvPr id="15" name="TextBox 14"/>
          <p:cNvSpPr txBox="1"/>
          <p:nvPr/>
        </p:nvSpPr>
        <p:spPr>
          <a:xfrm>
            <a:off x="685800" y="6428232"/>
            <a:ext cx="7315200" cy="32004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9AA6B8"/>
                </a:solidFill>
                <a:latin typeface="Calibri"/>
              </a:rPr>
              <a:t>Maxime LOUSTALET  ·  Soutenance de mémoire  ·  Eklore-ed School of Management  ·  2025–2026</a:t>
            </a:r>
          </a:p>
        </p:txBody>
      </p:sp>
      <p:sp>
        <p:nvSpPr>
          <p:cNvPr id="16" name="TextBox 15"/>
          <p:cNvSpPr txBox="1"/>
          <p:nvPr/>
        </p:nvSpPr>
        <p:spPr>
          <a:xfrm>
            <a:off x="10881360" y="6428232"/>
            <a:ext cx="640080" cy="320040"/>
          </a:xfrm>
          <a:prstGeom prst="rect">
            <a:avLst/>
          </a:prstGeom>
          <a:noFill/>
        </p:spPr>
        <p:txBody>
          <a:bodyPr wrap="square" anchor="t" lIns="0" rIns="0" tIns="0" bIns="0">
            <a:spAutoFit/>
          </a:bodyPr>
          <a:lstStyle/>
          <a:p>
            <a:pPr algn="r">
              <a:lnSpc>
                <a:spcPct val="100000"/>
              </a:lnSpc>
              <a:spcBef>
                <a:spcPts val="0"/>
              </a:spcBef>
              <a:spcAft>
                <a:spcPts val="0"/>
              </a:spcAft>
            </a:pPr>
            <a:r>
              <a:rPr sz="900" b="1" i="0">
                <a:solidFill>
                  <a:srgbClr val="9AA6B8"/>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371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46304" cy="1371600"/>
          </a:xfrm>
          <a:prstGeom prst="rect">
            <a:avLst/>
          </a:prstGeom>
          <a:solidFill>
            <a:srgbClr val="E4A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310896"/>
            <a:ext cx="10515600" cy="365760"/>
          </a:xfrm>
          <a:prstGeom prst="rect">
            <a:avLst/>
          </a:prstGeom>
          <a:noFill/>
        </p:spPr>
        <p:txBody>
          <a:bodyPr wrap="square" anchor="t" lIns="0" rIns="0" tIns="0" bIns="0">
            <a:spAutoFit/>
          </a:bodyPr>
          <a:lstStyle/>
          <a:p>
            <a:pPr algn="l">
              <a:lnSpc>
                <a:spcPct val="100000"/>
              </a:lnSpc>
              <a:spcBef>
                <a:spcPts val="0"/>
              </a:spcBef>
              <a:spcAft>
                <a:spcPts val="0"/>
              </a:spcAft>
            </a:pPr>
            <a:r>
              <a:rPr sz="1250" b="1" i="0">
                <a:solidFill>
                  <a:srgbClr val="2E6E9E"/>
                </a:solidFill>
                <a:latin typeface="Calibri"/>
              </a:rPr>
              <a:t>04 · QUESTION DE RECHERCHE 2</a:t>
            </a:r>
          </a:p>
        </p:txBody>
      </p:sp>
      <p:sp>
        <p:nvSpPr>
          <p:cNvPr id="6" name="TextBox 5"/>
          <p:cNvSpPr txBox="1"/>
          <p:nvPr/>
        </p:nvSpPr>
        <p:spPr>
          <a:xfrm>
            <a:off x="685800" y="576072"/>
            <a:ext cx="10881360" cy="640080"/>
          </a:xfrm>
          <a:prstGeom prst="rect">
            <a:avLst/>
          </a:prstGeom>
          <a:noFill/>
        </p:spPr>
        <p:txBody>
          <a:bodyPr wrap="square" anchor="t" lIns="0" rIns="0" tIns="0" bIns="0">
            <a:spAutoFit/>
          </a:bodyPr>
          <a:lstStyle/>
          <a:p>
            <a:pPr algn="l">
              <a:lnSpc>
                <a:spcPct val="100000"/>
              </a:lnSpc>
              <a:spcBef>
                <a:spcPts val="0"/>
              </a:spcBef>
              <a:spcAft>
                <a:spcPts val="0"/>
              </a:spcAft>
            </a:pPr>
            <a:r>
              <a:rPr sz="2700" b="1" i="0">
                <a:solidFill>
                  <a:srgbClr val="0E2A47"/>
                </a:solidFill>
                <a:latin typeface="Calibri"/>
              </a:rPr>
              <a:t>Quels sont les freins à l'adoption de l'IA ?</a:t>
            </a:r>
          </a:p>
        </p:txBody>
      </p:sp>
      <p:sp>
        <p:nvSpPr>
          <p:cNvPr id="7" name="Rectangle 6"/>
          <p:cNvSpPr/>
          <p:nvPr/>
        </p:nvSpPr>
        <p:spPr>
          <a:xfrm>
            <a:off x="713232" y="1207008"/>
            <a:ext cx="777240" cy="50292"/>
          </a:xfrm>
          <a:prstGeom prst="rect">
            <a:avLst/>
          </a:prstGeom>
          <a:solidFill>
            <a:srgbClr val="E4A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85800" y="1572768"/>
            <a:ext cx="10817352" cy="658368"/>
          </a:xfrm>
          <a:prstGeom prst="roundRect">
            <a:avLst>
              <a:gd name="adj" fmla="val 4500"/>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1572768"/>
            <a:ext cx="128016" cy="658368"/>
          </a:xfrm>
          <a:prstGeom prst="rect">
            <a:avLst/>
          </a:prstGeom>
          <a:solidFill>
            <a:srgbClr val="E4A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1636776"/>
            <a:ext cx="10241280" cy="548640"/>
          </a:xfrm>
          <a:prstGeom prst="rect">
            <a:avLst/>
          </a:prstGeom>
          <a:noFill/>
        </p:spPr>
        <p:txBody>
          <a:bodyPr wrap="square" anchor="ctr" lIns="0" rIns="0" tIns="0" bIns="0">
            <a:spAutoFit/>
          </a:bodyPr>
          <a:lstStyle/>
          <a:p>
            <a:pPr algn="l">
              <a:lnSpc>
                <a:spcPct val="100000"/>
              </a:lnSpc>
              <a:spcBef>
                <a:spcPts val="0"/>
              </a:spcBef>
              <a:spcAft>
                <a:spcPts val="0"/>
              </a:spcAft>
            </a:pPr>
            <a:r>
              <a:rPr sz="1450" b="1" i="0">
                <a:solidFill>
                  <a:srgbClr val="E4A11B"/>
                </a:solidFill>
                <a:latin typeface="Calibri"/>
              </a:rPr>
              <a:t>Résultat clé — </a:t>
            </a:r>
            <a:r>
              <a:rPr sz="1450" b="0" i="1">
                <a:solidFill>
                  <a:srgbClr val="FFFFFF"/>
                </a:solidFill>
                <a:latin typeface="Calibri"/>
              </a:rPr>
              <a:t>des freins pluriels ; le frein prioritaire n'est pas le même selon les profils.</a:t>
            </a:r>
          </a:p>
        </p:txBody>
      </p:sp>
      <p:sp>
        <p:nvSpPr>
          <p:cNvPr id="11" name="TextBox 10"/>
          <p:cNvSpPr txBox="1"/>
          <p:nvPr/>
        </p:nvSpPr>
        <p:spPr>
          <a:xfrm>
            <a:off x="822960" y="2514600"/>
            <a:ext cx="10607040" cy="2926080"/>
          </a:xfrm>
          <a:prstGeom prst="rect">
            <a:avLst/>
          </a:prstGeom>
          <a:noFill/>
        </p:spPr>
        <p:txBody>
          <a:bodyPr wrap="square" lIns="0" rIns="0" tIns="0" bIns="0">
            <a:spAutoFit/>
          </a:bodyPr>
          <a:lstStyle/>
          <a:p>
            <a:pPr>
              <a:lnSpc>
                <a:spcPct val="106000"/>
              </a:lnSpc>
              <a:spcBef>
                <a:spcPts val="0"/>
              </a:spcBef>
              <a:spcAft>
                <a:spcPts val="1000"/>
              </a:spcAft>
            </a:pPr>
            <a:r>
              <a:rPr sz="1380" b="1">
                <a:solidFill>
                  <a:srgbClr val="E4A11B"/>
                </a:solidFill>
                <a:latin typeface="Calibri"/>
              </a:rPr>
              <a:t>▪  </a:t>
            </a:r>
            <a:r>
              <a:rPr sz="1380" b="1">
                <a:solidFill>
                  <a:srgbClr val="1A2033"/>
                </a:solidFill>
                <a:latin typeface="Calibri"/>
              </a:rPr>
              <a:t>Deux freins partagés par tous :</a:t>
            </a:r>
            <a:r>
              <a:rPr sz="1380" b="0">
                <a:solidFill>
                  <a:srgbClr val="55607A"/>
                </a:solidFill>
                <a:latin typeface="Calibri"/>
              </a:rPr>
              <a:t> le besoin de formation / accompagnement (unanime) et la contrainte financière (licences, développements sur mesure).</a:t>
            </a:r>
          </a:p>
          <a:p>
            <a:pPr>
              <a:lnSpc>
                <a:spcPct val="106000"/>
              </a:lnSpc>
              <a:spcBef>
                <a:spcPts val="0"/>
              </a:spcBef>
              <a:spcAft>
                <a:spcPts val="1000"/>
              </a:spcAft>
            </a:pPr>
            <a:r>
              <a:rPr sz="1380" b="1">
                <a:solidFill>
                  <a:srgbClr val="E4A11B"/>
                </a:solidFill>
                <a:latin typeface="Calibri"/>
              </a:rPr>
              <a:t>▪  </a:t>
            </a:r>
            <a:r>
              <a:rPr sz="1380" b="1">
                <a:solidFill>
                  <a:srgbClr val="1A2033"/>
                </a:solidFill>
                <a:latin typeface="Calibri"/>
              </a:rPr>
              <a:t>Un frein propre à chaque profil :</a:t>
            </a:r>
            <a:r>
              <a:rPr sz="1380" b="0">
                <a:solidFill>
                  <a:srgbClr val="55607A"/>
                </a:solidFill>
                <a:latin typeface="Calibri"/>
              </a:rPr>
              <a:t> appréhension psychologique (RH), manque d'esprit critique face aux chiffres (achat), confidentialité des données chantier (conducteur).</a:t>
            </a:r>
          </a:p>
          <a:p>
            <a:pPr>
              <a:lnSpc>
                <a:spcPct val="106000"/>
              </a:lnSpc>
              <a:spcBef>
                <a:spcPts val="0"/>
              </a:spcBef>
              <a:spcAft>
                <a:spcPts val="1000"/>
              </a:spcAft>
            </a:pPr>
            <a:r>
              <a:rPr sz="1380" b="1">
                <a:solidFill>
                  <a:srgbClr val="E4A11B"/>
                </a:solidFill>
                <a:latin typeface="Calibri"/>
              </a:rPr>
              <a:t>▪  </a:t>
            </a:r>
            <a:r>
              <a:rPr sz="1380" b="1">
                <a:solidFill>
                  <a:srgbClr val="1A2033"/>
                </a:solidFill>
                <a:latin typeface="Calibri"/>
              </a:rPr>
              <a:t>Un frein émergent, absent de la littérature :</a:t>
            </a:r>
            <a:r>
              <a:rPr sz="1380" b="0">
                <a:solidFill>
                  <a:srgbClr val="55607A"/>
                </a:solidFill>
                <a:latin typeface="Calibri"/>
              </a:rPr>
              <a:t> la peur d'une perte de compétences par sur-délégation à l'IA (métreur-deviseur).</a:t>
            </a:r>
          </a:p>
          <a:p>
            <a:pPr>
              <a:lnSpc>
                <a:spcPct val="106000"/>
              </a:lnSpc>
              <a:spcBef>
                <a:spcPts val="0"/>
              </a:spcBef>
              <a:spcAft>
                <a:spcPts val="1000"/>
              </a:spcAft>
            </a:pPr>
            <a:r>
              <a:rPr sz="1380" b="1">
                <a:solidFill>
                  <a:srgbClr val="E4A11B"/>
                </a:solidFill>
                <a:latin typeface="Calibri"/>
              </a:rPr>
              <a:t>▪  </a:t>
            </a:r>
            <a:r>
              <a:rPr sz="1380" b="1">
                <a:solidFill>
                  <a:srgbClr val="1A2033"/>
                </a:solidFill>
                <a:latin typeface="Calibri"/>
              </a:rPr>
              <a:t>La résistance = ancrage des habitudes :</a:t>
            </a:r>
            <a:r>
              <a:rPr sz="1380" b="0">
                <a:solidFill>
                  <a:srgbClr val="55607A"/>
                </a:solidFill>
                <a:latin typeface="Calibri"/>
              </a:rPr>
              <a:t> « 40 ans qu'on travaille d'une certaine façon » — mais c'est une vigilance professionnelle, pas un rejet idéologique.</a:t>
            </a:r>
          </a:p>
          <a:p>
            <a:pPr>
              <a:lnSpc>
                <a:spcPct val="106000"/>
              </a:lnSpc>
              <a:spcBef>
                <a:spcPts val="0"/>
              </a:spcBef>
              <a:spcAft>
                <a:spcPts val="1000"/>
              </a:spcAft>
            </a:pPr>
            <a:r>
              <a:rPr sz="1380" b="1">
                <a:solidFill>
                  <a:srgbClr val="E4A11B"/>
                </a:solidFill>
                <a:latin typeface="Calibri"/>
              </a:rPr>
              <a:t>▪  </a:t>
            </a:r>
            <a:r>
              <a:rPr sz="1380" b="1">
                <a:solidFill>
                  <a:srgbClr val="1A2033"/>
                </a:solidFill>
                <a:latin typeface="Calibri"/>
              </a:rPr>
              <a:t>Un frein structurel, le plus facile à lever :</a:t>
            </a:r>
            <a:r>
              <a:rPr sz="1380" b="0">
                <a:solidFill>
                  <a:srgbClr val="55607A"/>
                </a:solidFill>
                <a:latin typeface="Calibri"/>
              </a:rPr>
              <a:t> l'absence de politique commune et de référent interne.</a:t>
            </a:r>
          </a:p>
        </p:txBody>
      </p:sp>
      <p:sp>
        <p:nvSpPr>
          <p:cNvPr id="12" name="Rectangle 11"/>
          <p:cNvSpPr/>
          <p:nvPr/>
        </p:nvSpPr>
        <p:spPr>
          <a:xfrm>
            <a:off x="685800" y="5504688"/>
            <a:ext cx="10817352" cy="566928"/>
          </a:xfrm>
          <a:prstGeom prst="rect">
            <a:avLst/>
          </a:prstGeom>
          <a:solidFill>
            <a:srgbClr val="ED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85800" y="5504688"/>
            <a:ext cx="128016" cy="566928"/>
          </a:xfrm>
          <a:prstGeom prst="rect">
            <a:avLst/>
          </a:prstGeom>
          <a:solidFill>
            <a:srgbClr val="2E6E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0120" y="5568696"/>
            <a:ext cx="10332720" cy="457200"/>
          </a:xfrm>
          <a:prstGeom prst="rect">
            <a:avLst/>
          </a:prstGeom>
          <a:noFill/>
        </p:spPr>
        <p:txBody>
          <a:bodyPr wrap="square" anchor="ctr" lIns="0" rIns="0" tIns="0" bIns="0">
            <a:spAutoFit/>
          </a:bodyPr>
          <a:lstStyle/>
          <a:p>
            <a:pPr algn="l">
              <a:lnSpc>
                <a:spcPct val="100000"/>
              </a:lnSpc>
              <a:spcBef>
                <a:spcPts val="0"/>
              </a:spcBef>
              <a:spcAft>
                <a:spcPts val="0"/>
              </a:spcAft>
            </a:pPr>
            <a:r>
              <a:rPr sz="1250" b="1" i="0">
                <a:solidFill>
                  <a:srgbClr val="2E6E9E"/>
                </a:solidFill>
                <a:latin typeface="Calibri"/>
              </a:rPr>
              <a:t>Lien littérature — </a:t>
            </a:r>
            <a:r>
              <a:rPr sz="1250" b="0" i="1">
                <a:solidFill>
                  <a:srgbClr val="1A2033"/>
                </a:solidFill>
                <a:latin typeface="Calibri"/>
              </a:rPr>
              <a:t>confirme Kokina et al. (2025) &amp; Duarte (2025) sur les compétences ; l'ancrage renvoie à Schein (2015) et Blanchard &amp; Albert-Cromarias (2022).</a:t>
            </a:r>
          </a:p>
        </p:txBody>
      </p:sp>
      <p:sp>
        <p:nvSpPr>
          <p:cNvPr id="15" name="TextBox 14"/>
          <p:cNvSpPr txBox="1"/>
          <p:nvPr/>
        </p:nvSpPr>
        <p:spPr>
          <a:xfrm>
            <a:off x="685800" y="6428232"/>
            <a:ext cx="7315200" cy="32004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9AA6B8"/>
                </a:solidFill>
                <a:latin typeface="Calibri"/>
              </a:rPr>
              <a:t>Maxime LOUSTALET  ·  Soutenance de mémoire  ·  Eklore-ed School of Management  ·  2025–2026</a:t>
            </a:r>
          </a:p>
        </p:txBody>
      </p:sp>
      <p:sp>
        <p:nvSpPr>
          <p:cNvPr id="16" name="TextBox 15"/>
          <p:cNvSpPr txBox="1"/>
          <p:nvPr/>
        </p:nvSpPr>
        <p:spPr>
          <a:xfrm>
            <a:off x="10881360" y="6428232"/>
            <a:ext cx="640080" cy="320040"/>
          </a:xfrm>
          <a:prstGeom prst="rect">
            <a:avLst/>
          </a:prstGeom>
          <a:noFill/>
        </p:spPr>
        <p:txBody>
          <a:bodyPr wrap="square" anchor="t" lIns="0" rIns="0" tIns="0" bIns="0">
            <a:spAutoFit/>
          </a:bodyPr>
          <a:lstStyle/>
          <a:p>
            <a:pPr algn="r">
              <a:lnSpc>
                <a:spcPct val="100000"/>
              </a:lnSpc>
              <a:spcBef>
                <a:spcPts val="0"/>
              </a:spcBef>
              <a:spcAft>
                <a:spcPts val="0"/>
              </a:spcAft>
            </a:pPr>
            <a:r>
              <a:rPr sz="900" b="1" i="0">
                <a:solidFill>
                  <a:srgbClr val="9AA6B8"/>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371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46304" cy="1371600"/>
          </a:xfrm>
          <a:prstGeom prst="rect">
            <a:avLst/>
          </a:prstGeom>
          <a:solidFill>
            <a:srgbClr val="E4A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310896"/>
            <a:ext cx="10515600" cy="365760"/>
          </a:xfrm>
          <a:prstGeom prst="rect">
            <a:avLst/>
          </a:prstGeom>
          <a:noFill/>
        </p:spPr>
        <p:txBody>
          <a:bodyPr wrap="square" anchor="t" lIns="0" rIns="0" tIns="0" bIns="0">
            <a:spAutoFit/>
          </a:bodyPr>
          <a:lstStyle/>
          <a:p>
            <a:pPr algn="l">
              <a:lnSpc>
                <a:spcPct val="100000"/>
              </a:lnSpc>
              <a:spcBef>
                <a:spcPts val="0"/>
              </a:spcBef>
              <a:spcAft>
                <a:spcPts val="0"/>
              </a:spcAft>
            </a:pPr>
            <a:r>
              <a:rPr sz="1250" b="1" i="0">
                <a:solidFill>
                  <a:srgbClr val="2E6E9E"/>
                </a:solidFill>
                <a:latin typeface="Calibri"/>
              </a:rPr>
              <a:t>04 · QUESTION DE RECHERCHE 3</a:t>
            </a:r>
          </a:p>
        </p:txBody>
      </p:sp>
      <p:sp>
        <p:nvSpPr>
          <p:cNvPr id="6" name="TextBox 5"/>
          <p:cNvSpPr txBox="1"/>
          <p:nvPr/>
        </p:nvSpPr>
        <p:spPr>
          <a:xfrm>
            <a:off x="685800" y="576072"/>
            <a:ext cx="10881360" cy="640080"/>
          </a:xfrm>
          <a:prstGeom prst="rect">
            <a:avLst/>
          </a:prstGeom>
          <a:noFill/>
        </p:spPr>
        <p:txBody>
          <a:bodyPr wrap="square" anchor="t" lIns="0" rIns="0" tIns="0" bIns="0">
            <a:spAutoFit/>
          </a:bodyPr>
          <a:lstStyle/>
          <a:p>
            <a:pPr algn="l">
              <a:lnSpc>
                <a:spcPct val="100000"/>
              </a:lnSpc>
              <a:spcBef>
                <a:spcPts val="0"/>
              </a:spcBef>
              <a:spcAft>
                <a:spcPts val="0"/>
              </a:spcAft>
            </a:pPr>
            <a:r>
              <a:rPr sz="2700" b="1" i="0">
                <a:solidFill>
                  <a:srgbClr val="0E2A47"/>
                </a:solidFill>
                <a:latin typeface="Calibri"/>
              </a:rPr>
              <a:t>En quoi les spécificités PME influencent-elles l'adoption ?</a:t>
            </a:r>
          </a:p>
        </p:txBody>
      </p:sp>
      <p:sp>
        <p:nvSpPr>
          <p:cNvPr id="7" name="Rectangle 6"/>
          <p:cNvSpPr/>
          <p:nvPr/>
        </p:nvSpPr>
        <p:spPr>
          <a:xfrm>
            <a:off x="713232" y="1207008"/>
            <a:ext cx="777240" cy="50292"/>
          </a:xfrm>
          <a:prstGeom prst="rect">
            <a:avLst/>
          </a:prstGeom>
          <a:solidFill>
            <a:srgbClr val="E4A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85800" y="1572768"/>
            <a:ext cx="10817352" cy="658368"/>
          </a:xfrm>
          <a:prstGeom prst="roundRect">
            <a:avLst>
              <a:gd name="adj" fmla="val 4500"/>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1572768"/>
            <a:ext cx="128016" cy="658368"/>
          </a:xfrm>
          <a:prstGeom prst="rect">
            <a:avLst/>
          </a:prstGeom>
          <a:solidFill>
            <a:srgbClr val="E4A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1636776"/>
            <a:ext cx="10241280" cy="548640"/>
          </a:xfrm>
          <a:prstGeom prst="rect">
            <a:avLst/>
          </a:prstGeom>
          <a:noFill/>
        </p:spPr>
        <p:txBody>
          <a:bodyPr wrap="square" anchor="ctr" lIns="0" rIns="0" tIns="0" bIns="0">
            <a:spAutoFit/>
          </a:bodyPr>
          <a:lstStyle/>
          <a:p>
            <a:pPr algn="l">
              <a:lnSpc>
                <a:spcPct val="100000"/>
              </a:lnSpc>
              <a:spcBef>
                <a:spcPts val="0"/>
              </a:spcBef>
              <a:spcAft>
                <a:spcPts val="0"/>
              </a:spcAft>
            </a:pPr>
            <a:r>
              <a:rPr sz="1450" b="1" i="0">
                <a:solidFill>
                  <a:srgbClr val="E4A11B"/>
                </a:solidFill>
                <a:latin typeface="Calibri"/>
              </a:rPr>
              <a:t>Résultat clé — </a:t>
            </a:r>
            <a:r>
              <a:rPr sz="1450" b="0" i="1">
                <a:solidFill>
                  <a:srgbClr val="FFFFFF"/>
                </a:solidFill>
                <a:latin typeface="Calibri"/>
              </a:rPr>
              <a:t>le dirigeant est décisif (8/8) ; la proximité et les traditions sont un cadre, pas un mur.</a:t>
            </a:r>
          </a:p>
        </p:txBody>
      </p:sp>
      <p:sp>
        <p:nvSpPr>
          <p:cNvPr id="11" name="TextBox 10"/>
          <p:cNvSpPr txBox="1"/>
          <p:nvPr/>
        </p:nvSpPr>
        <p:spPr>
          <a:xfrm>
            <a:off x="822960" y="2514600"/>
            <a:ext cx="10607040" cy="2926080"/>
          </a:xfrm>
          <a:prstGeom prst="rect">
            <a:avLst/>
          </a:prstGeom>
          <a:noFill/>
        </p:spPr>
        <p:txBody>
          <a:bodyPr wrap="square" lIns="0" rIns="0" tIns="0" bIns="0">
            <a:spAutoFit/>
          </a:bodyPr>
          <a:lstStyle/>
          <a:p>
            <a:pPr>
              <a:lnSpc>
                <a:spcPct val="106000"/>
              </a:lnSpc>
              <a:spcBef>
                <a:spcPts val="0"/>
              </a:spcBef>
              <a:spcAft>
                <a:spcPts val="1000"/>
              </a:spcAft>
            </a:pPr>
            <a:r>
              <a:rPr sz="1380" b="1">
                <a:solidFill>
                  <a:srgbClr val="E4A11B"/>
                </a:solidFill>
                <a:latin typeface="Calibri"/>
              </a:rPr>
              <a:t>▪  </a:t>
            </a:r>
            <a:r>
              <a:rPr sz="1380" b="1">
                <a:solidFill>
                  <a:srgbClr val="1A2033"/>
                </a:solidFill>
                <a:latin typeface="Calibri"/>
              </a:rPr>
              <a:t>Le rôle du dirigeant — convergence totale (8/8) :</a:t>
            </a:r>
            <a:r>
              <a:rPr sz="1380" b="0">
                <a:solidFill>
                  <a:srgbClr val="55607A"/>
                </a:solidFill>
                <a:latin typeface="Calibri"/>
              </a:rPr>
              <a:t> « si les dirigeants ne sont pas convaincus, le changement sera plus lent » — un seul leader moteur peut suffire.</a:t>
            </a:r>
          </a:p>
          <a:p>
            <a:pPr>
              <a:lnSpc>
                <a:spcPct val="106000"/>
              </a:lnSpc>
              <a:spcBef>
                <a:spcPts val="0"/>
              </a:spcBef>
              <a:spcAft>
                <a:spcPts val="1000"/>
              </a:spcAft>
            </a:pPr>
            <a:r>
              <a:rPr sz="1380" b="1">
                <a:solidFill>
                  <a:srgbClr val="E4A11B"/>
                </a:solidFill>
                <a:latin typeface="Calibri"/>
              </a:rPr>
              <a:t>▪  </a:t>
            </a:r>
            <a:r>
              <a:rPr sz="1380" b="1">
                <a:solidFill>
                  <a:srgbClr val="1A2033"/>
                </a:solidFill>
                <a:latin typeface="Calibri"/>
              </a:rPr>
              <a:t>La proximité, levier ET risque :</a:t>
            </a:r>
            <a:r>
              <a:rPr sz="1380" b="0">
                <a:solidFill>
                  <a:srgbClr val="55607A"/>
                </a:solidFill>
                <a:latin typeface="Calibri"/>
              </a:rPr>
              <a:t> elle diffuse les bonnes pratiques (compagnonnage) mais peut aussi propager les résistances (Torrès, 1999).</a:t>
            </a:r>
          </a:p>
          <a:p>
            <a:pPr>
              <a:lnSpc>
                <a:spcPct val="106000"/>
              </a:lnSpc>
              <a:spcBef>
                <a:spcPts val="0"/>
              </a:spcBef>
              <a:spcAft>
                <a:spcPts val="1000"/>
              </a:spcAft>
            </a:pPr>
            <a:r>
              <a:rPr sz="1380" b="1">
                <a:solidFill>
                  <a:srgbClr val="E4A11B"/>
                </a:solidFill>
                <a:latin typeface="Calibri"/>
              </a:rPr>
              <a:t>▪  </a:t>
            </a:r>
            <a:r>
              <a:rPr sz="1380" b="1">
                <a:solidFill>
                  <a:srgbClr val="1A2033"/>
                </a:solidFill>
                <a:latin typeface="Calibri"/>
              </a:rPr>
              <a:t>La contrainte financière, différenciée :</a:t>
            </a:r>
            <a:r>
              <a:rPr sz="1380" b="0">
                <a:solidFill>
                  <a:srgbClr val="55607A"/>
                </a:solidFill>
                <a:latin typeface="Calibri"/>
              </a:rPr>
              <a:t> gérable pour le grand public, bloquante sur le sur-mesure ; + un enjeu concurrentiel inédit (E5).</a:t>
            </a:r>
          </a:p>
          <a:p>
            <a:pPr>
              <a:lnSpc>
                <a:spcPct val="106000"/>
              </a:lnSpc>
              <a:spcBef>
                <a:spcPts val="0"/>
              </a:spcBef>
              <a:spcAft>
                <a:spcPts val="1000"/>
              </a:spcAft>
            </a:pPr>
            <a:r>
              <a:rPr sz="1380" b="1">
                <a:solidFill>
                  <a:srgbClr val="E4A11B"/>
                </a:solidFill>
                <a:latin typeface="Calibri"/>
              </a:rPr>
              <a:t>▪  </a:t>
            </a:r>
            <a:r>
              <a:rPr sz="1380" b="1">
                <a:solidFill>
                  <a:srgbClr val="1A2033"/>
                </a:solidFill>
                <a:latin typeface="Calibri"/>
              </a:rPr>
              <a:t>Top-down vs participatif :</a:t>
            </a:r>
            <a:r>
              <a:rPr sz="1380" b="0">
                <a:solidFill>
                  <a:srgbClr val="55607A"/>
                </a:solidFill>
                <a:latin typeface="Calibri"/>
              </a:rPr>
              <a:t> la direction impulse, mais le terrain aspire à co-décider — « c'est un référendum, tous ensemble ».</a:t>
            </a:r>
          </a:p>
          <a:p>
            <a:pPr>
              <a:lnSpc>
                <a:spcPct val="106000"/>
              </a:lnSpc>
              <a:spcBef>
                <a:spcPts val="0"/>
              </a:spcBef>
              <a:spcAft>
                <a:spcPts val="1000"/>
              </a:spcAft>
            </a:pPr>
            <a:r>
              <a:rPr sz="1380" b="1">
                <a:solidFill>
                  <a:srgbClr val="E4A11B"/>
                </a:solidFill>
                <a:latin typeface="Calibri"/>
              </a:rPr>
              <a:t>▪  </a:t>
            </a:r>
            <a:r>
              <a:rPr sz="1380" b="1">
                <a:solidFill>
                  <a:srgbClr val="1A2033"/>
                </a:solidFill>
                <a:latin typeface="Calibri"/>
              </a:rPr>
              <a:t>Les traditions = adoption sélective :</a:t>
            </a:r>
            <a:r>
              <a:rPr sz="1380" b="0">
                <a:solidFill>
                  <a:srgbClr val="55607A"/>
                </a:solidFill>
                <a:latin typeface="Calibri"/>
              </a:rPr>
              <a:t> personne ne rejette l'IA au nom du métier — elle est le contexte de l'adoption, pas un obstacle.</a:t>
            </a:r>
          </a:p>
        </p:txBody>
      </p:sp>
      <p:sp>
        <p:nvSpPr>
          <p:cNvPr id="12" name="Rectangle 11"/>
          <p:cNvSpPr/>
          <p:nvPr/>
        </p:nvSpPr>
        <p:spPr>
          <a:xfrm>
            <a:off x="685800" y="5504688"/>
            <a:ext cx="10817352" cy="566928"/>
          </a:xfrm>
          <a:prstGeom prst="rect">
            <a:avLst/>
          </a:prstGeom>
          <a:solidFill>
            <a:srgbClr val="ED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85800" y="5504688"/>
            <a:ext cx="128016" cy="566928"/>
          </a:xfrm>
          <a:prstGeom prst="rect">
            <a:avLst/>
          </a:prstGeom>
          <a:solidFill>
            <a:srgbClr val="2E6E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0120" y="5568696"/>
            <a:ext cx="10332720" cy="457200"/>
          </a:xfrm>
          <a:prstGeom prst="rect">
            <a:avLst/>
          </a:prstGeom>
          <a:noFill/>
        </p:spPr>
        <p:txBody>
          <a:bodyPr wrap="square" anchor="ctr" lIns="0" rIns="0" tIns="0" bIns="0">
            <a:spAutoFit/>
          </a:bodyPr>
          <a:lstStyle/>
          <a:p>
            <a:pPr algn="l">
              <a:lnSpc>
                <a:spcPct val="100000"/>
              </a:lnSpc>
              <a:spcBef>
                <a:spcPts val="0"/>
              </a:spcBef>
              <a:spcAft>
                <a:spcPts val="0"/>
              </a:spcAft>
            </a:pPr>
            <a:r>
              <a:rPr sz="1250" b="1" i="0">
                <a:solidFill>
                  <a:srgbClr val="2E6E9E"/>
                </a:solidFill>
                <a:latin typeface="Calibri"/>
              </a:rPr>
              <a:t>Lien littérature — </a:t>
            </a:r>
            <a:r>
              <a:rPr sz="1250" b="0" i="1">
                <a:solidFill>
                  <a:srgbClr val="1A2033"/>
                </a:solidFill>
                <a:latin typeface="Calibri"/>
              </a:rPr>
              <a:t>valide Nassou &amp; Bennani (2024) et Torrès (1999) ; complète Blanchard &amp; Albert-Cromarias (2022) par la notion d'« adoption sélective ».</a:t>
            </a:r>
          </a:p>
        </p:txBody>
      </p:sp>
      <p:sp>
        <p:nvSpPr>
          <p:cNvPr id="15" name="TextBox 14"/>
          <p:cNvSpPr txBox="1"/>
          <p:nvPr/>
        </p:nvSpPr>
        <p:spPr>
          <a:xfrm>
            <a:off x="685800" y="6428232"/>
            <a:ext cx="7315200" cy="32004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9AA6B8"/>
                </a:solidFill>
                <a:latin typeface="Calibri"/>
              </a:rPr>
              <a:t>Maxime LOUSTALET  ·  Soutenance de mémoire  ·  Eklore-ed School of Management  ·  2025–2026</a:t>
            </a:r>
          </a:p>
        </p:txBody>
      </p:sp>
      <p:sp>
        <p:nvSpPr>
          <p:cNvPr id="16" name="TextBox 15"/>
          <p:cNvSpPr txBox="1"/>
          <p:nvPr/>
        </p:nvSpPr>
        <p:spPr>
          <a:xfrm>
            <a:off x="10881360" y="6428232"/>
            <a:ext cx="640080" cy="320040"/>
          </a:xfrm>
          <a:prstGeom prst="rect">
            <a:avLst/>
          </a:prstGeom>
          <a:noFill/>
        </p:spPr>
        <p:txBody>
          <a:bodyPr wrap="square" anchor="t" lIns="0" rIns="0" tIns="0" bIns="0">
            <a:spAutoFit/>
          </a:bodyPr>
          <a:lstStyle/>
          <a:p>
            <a:pPr algn="r">
              <a:lnSpc>
                <a:spcPct val="100000"/>
              </a:lnSpc>
              <a:spcBef>
                <a:spcPts val="0"/>
              </a:spcBef>
              <a:spcAft>
                <a:spcPts val="0"/>
              </a:spcAft>
            </a:pPr>
            <a:r>
              <a:rPr sz="900" b="1" i="0">
                <a:solidFill>
                  <a:srgbClr val="9AA6B8"/>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371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46304" cy="1371600"/>
          </a:xfrm>
          <a:prstGeom prst="rect">
            <a:avLst/>
          </a:prstGeom>
          <a:solidFill>
            <a:srgbClr val="E4A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310896"/>
            <a:ext cx="10515600" cy="365760"/>
          </a:xfrm>
          <a:prstGeom prst="rect">
            <a:avLst/>
          </a:prstGeom>
          <a:noFill/>
        </p:spPr>
        <p:txBody>
          <a:bodyPr wrap="square" anchor="t" lIns="0" rIns="0" tIns="0" bIns="0">
            <a:spAutoFit/>
          </a:bodyPr>
          <a:lstStyle/>
          <a:p>
            <a:pPr algn="l">
              <a:lnSpc>
                <a:spcPct val="100000"/>
              </a:lnSpc>
              <a:spcBef>
                <a:spcPts val="0"/>
              </a:spcBef>
              <a:spcAft>
                <a:spcPts val="0"/>
              </a:spcAft>
            </a:pPr>
            <a:r>
              <a:rPr sz="1250" b="1" i="0">
                <a:solidFill>
                  <a:srgbClr val="2E6E9E"/>
                </a:solidFill>
                <a:latin typeface="Calibri"/>
              </a:rPr>
              <a:t>04 · APPORTS SCIENTIFIQUES</a:t>
            </a:r>
          </a:p>
        </p:txBody>
      </p:sp>
      <p:sp>
        <p:nvSpPr>
          <p:cNvPr id="6" name="TextBox 5"/>
          <p:cNvSpPr txBox="1"/>
          <p:nvPr/>
        </p:nvSpPr>
        <p:spPr>
          <a:xfrm>
            <a:off x="685800" y="576072"/>
            <a:ext cx="10881360" cy="640080"/>
          </a:xfrm>
          <a:prstGeom prst="rect">
            <a:avLst/>
          </a:prstGeom>
          <a:noFill/>
        </p:spPr>
        <p:txBody>
          <a:bodyPr wrap="square" anchor="t" lIns="0" rIns="0" tIns="0" bIns="0">
            <a:spAutoFit/>
          </a:bodyPr>
          <a:lstStyle/>
          <a:p>
            <a:pPr algn="l">
              <a:lnSpc>
                <a:spcPct val="100000"/>
              </a:lnSpc>
              <a:spcBef>
                <a:spcPts val="0"/>
              </a:spcBef>
              <a:spcAft>
                <a:spcPts val="0"/>
              </a:spcAft>
            </a:pPr>
            <a:r>
              <a:rPr sz="2700" b="1" i="0">
                <a:solidFill>
                  <a:srgbClr val="0E2A47"/>
                </a:solidFill>
                <a:latin typeface="Calibri"/>
              </a:rPr>
              <a:t>Cinq résultats non anticipés par le modèle théorique</a:t>
            </a:r>
          </a:p>
        </p:txBody>
      </p:sp>
      <p:sp>
        <p:nvSpPr>
          <p:cNvPr id="7" name="Rectangle 6"/>
          <p:cNvSpPr/>
          <p:nvPr/>
        </p:nvSpPr>
        <p:spPr>
          <a:xfrm>
            <a:off x="713232" y="1207008"/>
            <a:ext cx="777240" cy="50292"/>
          </a:xfrm>
          <a:prstGeom prst="rect">
            <a:avLst/>
          </a:prstGeom>
          <a:solidFill>
            <a:srgbClr val="E4A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85800" y="1627632"/>
            <a:ext cx="5257800" cy="1024128"/>
          </a:xfrm>
          <a:prstGeom prst="roundRect">
            <a:avLst>
              <a:gd name="adj" fmla="val 4500"/>
            </a:avLst>
          </a:prstGeom>
          <a:solidFill>
            <a:srgbClr val="FFFFFF"/>
          </a:solidFill>
          <a:ln w="12700">
            <a:solidFill>
              <a:srgbClr val="D7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85800" y="1627632"/>
            <a:ext cx="457200" cy="1024128"/>
          </a:xfrm>
          <a:prstGeom prst="round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14400" y="1627632"/>
            <a:ext cx="228600" cy="1024128"/>
          </a:xfrm>
          <a:prstGeom prst="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 y="1920240"/>
            <a:ext cx="457200" cy="457200"/>
          </a:xfrm>
          <a:prstGeom prst="rect">
            <a:avLst/>
          </a:prstGeom>
          <a:noFill/>
        </p:spPr>
        <p:txBody>
          <a:bodyPr wrap="square" anchor="t" lIns="0" rIns="0" tIns="0" bIns="0">
            <a:spAutoFit/>
          </a:bodyPr>
          <a:lstStyle/>
          <a:p>
            <a:pPr algn="ctr">
              <a:lnSpc>
                <a:spcPct val="100000"/>
              </a:lnSpc>
              <a:spcBef>
                <a:spcPts val="0"/>
              </a:spcBef>
              <a:spcAft>
                <a:spcPts val="0"/>
              </a:spcAft>
            </a:pPr>
            <a:r>
              <a:rPr sz="2200" b="1" i="0">
                <a:solidFill>
                  <a:srgbClr val="E4A11B"/>
                </a:solidFill>
                <a:latin typeface="Calibri"/>
              </a:rPr>
              <a:t>1</a:t>
            </a:r>
          </a:p>
        </p:txBody>
      </p:sp>
      <p:sp>
        <p:nvSpPr>
          <p:cNvPr id="12" name="TextBox 11"/>
          <p:cNvSpPr txBox="1"/>
          <p:nvPr/>
        </p:nvSpPr>
        <p:spPr>
          <a:xfrm>
            <a:off x="1344168" y="1773936"/>
            <a:ext cx="4434840" cy="365760"/>
          </a:xfrm>
          <a:prstGeom prst="rect">
            <a:avLst/>
          </a:prstGeom>
          <a:noFill/>
        </p:spPr>
        <p:txBody>
          <a:bodyPr wrap="square" anchor="t" lIns="0" rIns="0" tIns="0" bIns="0">
            <a:spAutoFit/>
          </a:bodyPr>
          <a:lstStyle/>
          <a:p>
            <a:pPr algn="l">
              <a:lnSpc>
                <a:spcPct val="100000"/>
              </a:lnSpc>
              <a:spcBef>
                <a:spcPts val="0"/>
              </a:spcBef>
              <a:spcAft>
                <a:spcPts val="0"/>
              </a:spcAft>
            </a:pPr>
            <a:r>
              <a:rPr sz="1450" b="1" i="0">
                <a:solidFill>
                  <a:srgbClr val="0E2A47"/>
                </a:solidFill>
                <a:latin typeface="Calibri"/>
              </a:rPr>
              <a:t>Vigilance ≠ refus</a:t>
            </a:r>
          </a:p>
        </p:txBody>
      </p:sp>
      <p:sp>
        <p:nvSpPr>
          <p:cNvPr id="13" name="TextBox 12"/>
          <p:cNvSpPr txBox="1"/>
          <p:nvPr/>
        </p:nvSpPr>
        <p:spPr>
          <a:xfrm>
            <a:off x="1344168" y="2130552"/>
            <a:ext cx="4389120" cy="5029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55607A"/>
                </a:solidFill>
                <a:latin typeface="Calibri"/>
              </a:rPr>
              <a:t>La distance des non-utilisateurs est une vigilance professionnelle temporaire, pas un rejet de l'IA.</a:t>
            </a:r>
          </a:p>
        </p:txBody>
      </p:sp>
      <p:sp>
        <p:nvSpPr>
          <p:cNvPr id="14" name="Rounded Rectangle 13"/>
          <p:cNvSpPr/>
          <p:nvPr/>
        </p:nvSpPr>
        <p:spPr>
          <a:xfrm>
            <a:off x="6217920" y="1627632"/>
            <a:ext cx="5257800" cy="1024128"/>
          </a:xfrm>
          <a:prstGeom prst="roundRect">
            <a:avLst>
              <a:gd name="adj" fmla="val 4500"/>
            </a:avLst>
          </a:prstGeom>
          <a:solidFill>
            <a:srgbClr val="FFFFFF"/>
          </a:solidFill>
          <a:ln w="12700">
            <a:solidFill>
              <a:srgbClr val="D7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17920" y="1627632"/>
            <a:ext cx="457200" cy="1024128"/>
          </a:xfrm>
          <a:prstGeom prst="round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46520" y="1627632"/>
            <a:ext cx="228600" cy="1024128"/>
          </a:xfrm>
          <a:prstGeom prst="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99632" y="1920240"/>
            <a:ext cx="457200" cy="457200"/>
          </a:xfrm>
          <a:prstGeom prst="rect">
            <a:avLst/>
          </a:prstGeom>
          <a:noFill/>
        </p:spPr>
        <p:txBody>
          <a:bodyPr wrap="square" anchor="t" lIns="0" rIns="0" tIns="0" bIns="0">
            <a:spAutoFit/>
          </a:bodyPr>
          <a:lstStyle/>
          <a:p>
            <a:pPr algn="ctr">
              <a:lnSpc>
                <a:spcPct val="100000"/>
              </a:lnSpc>
              <a:spcBef>
                <a:spcPts val="0"/>
              </a:spcBef>
              <a:spcAft>
                <a:spcPts val="0"/>
              </a:spcAft>
            </a:pPr>
            <a:r>
              <a:rPr sz="2200" b="1" i="0">
                <a:solidFill>
                  <a:srgbClr val="E4A11B"/>
                </a:solidFill>
                <a:latin typeface="Calibri"/>
              </a:rPr>
              <a:t>2</a:t>
            </a:r>
          </a:p>
        </p:txBody>
      </p:sp>
      <p:sp>
        <p:nvSpPr>
          <p:cNvPr id="18" name="TextBox 17"/>
          <p:cNvSpPr txBox="1"/>
          <p:nvPr/>
        </p:nvSpPr>
        <p:spPr>
          <a:xfrm>
            <a:off x="6876288" y="1773936"/>
            <a:ext cx="4434840" cy="365760"/>
          </a:xfrm>
          <a:prstGeom prst="rect">
            <a:avLst/>
          </a:prstGeom>
          <a:noFill/>
        </p:spPr>
        <p:txBody>
          <a:bodyPr wrap="square" anchor="t" lIns="0" rIns="0" tIns="0" bIns="0">
            <a:spAutoFit/>
          </a:bodyPr>
          <a:lstStyle/>
          <a:p>
            <a:pPr algn="l">
              <a:lnSpc>
                <a:spcPct val="100000"/>
              </a:lnSpc>
              <a:spcBef>
                <a:spcPts val="0"/>
              </a:spcBef>
              <a:spcAft>
                <a:spcPts val="0"/>
              </a:spcAft>
            </a:pPr>
            <a:r>
              <a:rPr sz="1450" b="1" i="0">
                <a:solidFill>
                  <a:srgbClr val="0E2A47"/>
                </a:solidFill>
                <a:latin typeface="Calibri"/>
              </a:rPr>
              <a:t>Un seul dirigeant moteur suffit</a:t>
            </a:r>
          </a:p>
        </p:txBody>
      </p:sp>
      <p:sp>
        <p:nvSpPr>
          <p:cNvPr id="19" name="TextBox 18"/>
          <p:cNvSpPr txBox="1"/>
          <p:nvPr/>
        </p:nvSpPr>
        <p:spPr>
          <a:xfrm>
            <a:off x="6876288" y="2130552"/>
            <a:ext cx="4389120" cy="5029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55607A"/>
                </a:solidFill>
                <a:latin typeface="Calibri"/>
              </a:rPr>
              <a:t>Il n'est pas nécessaire de convaincre tout l'encadrement pour enclencher la dynamique.</a:t>
            </a:r>
          </a:p>
        </p:txBody>
      </p:sp>
      <p:sp>
        <p:nvSpPr>
          <p:cNvPr id="20" name="Rounded Rectangle 19"/>
          <p:cNvSpPr/>
          <p:nvPr/>
        </p:nvSpPr>
        <p:spPr>
          <a:xfrm>
            <a:off x="685800" y="2798064"/>
            <a:ext cx="5257800" cy="1024128"/>
          </a:xfrm>
          <a:prstGeom prst="roundRect">
            <a:avLst>
              <a:gd name="adj" fmla="val 4500"/>
            </a:avLst>
          </a:prstGeom>
          <a:solidFill>
            <a:srgbClr val="FFFFFF"/>
          </a:solidFill>
          <a:ln w="12700">
            <a:solidFill>
              <a:srgbClr val="D7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85800" y="2798064"/>
            <a:ext cx="457200" cy="1024128"/>
          </a:xfrm>
          <a:prstGeom prst="round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14400" y="2798064"/>
            <a:ext cx="228600" cy="1024128"/>
          </a:xfrm>
          <a:prstGeom prst="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7512" y="3090672"/>
            <a:ext cx="457200" cy="457200"/>
          </a:xfrm>
          <a:prstGeom prst="rect">
            <a:avLst/>
          </a:prstGeom>
          <a:noFill/>
        </p:spPr>
        <p:txBody>
          <a:bodyPr wrap="square" anchor="t" lIns="0" rIns="0" tIns="0" bIns="0">
            <a:spAutoFit/>
          </a:bodyPr>
          <a:lstStyle/>
          <a:p>
            <a:pPr algn="ctr">
              <a:lnSpc>
                <a:spcPct val="100000"/>
              </a:lnSpc>
              <a:spcBef>
                <a:spcPts val="0"/>
              </a:spcBef>
              <a:spcAft>
                <a:spcPts val="0"/>
              </a:spcAft>
            </a:pPr>
            <a:r>
              <a:rPr sz="2200" b="1" i="0">
                <a:solidFill>
                  <a:srgbClr val="E4A11B"/>
                </a:solidFill>
                <a:latin typeface="Calibri"/>
              </a:rPr>
              <a:t>3</a:t>
            </a:r>
          </a:p>
        </p:txBody>
      </p:sp>
      <p:sp>
        <p:nvSpPr>
          <p:cNvPr id="24" name="TextBox 23"/>
          <p:cNvSpPr txBox="1"/>
          <p:nvPr/>
        </p:nvSpPr>
        <p:spPr>
          <a:xfrm>
            <a:off x="1344168" y="2944368"/>
            <a:ext cx="4434840" cy="365760"/>
          </a:xfrm>
          <a:prstGeom prst="rect">
            <a:avLst/>
          </a:prstGeom>
          <a:noFill/>
        </p:spPr>
        <p:txBody>
          <a:bodyPr wrap="square" anchor="t" lIns="0" rIns="0" tIns="0" bIns="0">
            <a:spAutoFit/>
          </a:bodyPr>
          <a:lstStyle/>
          <a:p>
            <a:pPr algn="l">
              <a:lnSpc>
                <a:spcPct val="100000"/>
              </a:lnSpc>
              <a:spcBef>
                <a:spcPts val="0"/>
              </a:spcBef>
              <a:spcAft>
                <a:spcPts val="0"/>
              </a:spcAft>
            </a:pPr>
            <a:r>
              <a:rPr sz="1450" b="1" i="0">
                <a:solidFill>
                  <a:srgbClr val="0E2A47"/>
                </a:solidFill>
                <a:latin typeface="Calibri"/>
              </a:rPr>
              <a:t>Le risque de perte de compétences</a:t>
            </a:r>
          </a:p>
        </p:txBody>
      </p:sp>
      <p:sp>
        <p:nvSpPr>
          <p:cNvPr id="25" name="TextBox 24"/>
          <p:cNvSpPr txBox="1"/>
          <p:nvPr/>
        </p:nvSpPr>
        <p:spPr>
          <a:xfrm>
            <a:off x="1344168" y="3300984"/>
            <a:ext cx="4389120" cy="5029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55607A"/>
                </a:solidFill>
                <a:latin typeface="Calibri"/>
              </a:rPr>
              <a:t>La sur-délégation à l'IA fait craindre une érosion du savoir-faire — frein peu documenté.</a:t>
            </a:r>
          </a:p>
        </p:txBody>
      </p:sp>
      <p:sp>
        <p:nvSpPr>
          <p:cNvPr id="26" name="Rounded Rectangle 25"/>
          <p:cNvSpPr/>
          <p:nvPr/>
        </p:nvSpPr>
        <p:spPr>
          <a:xfrm>
            <a:off x="6217920" y="2798064"/>
            <a:ext cx="5257800" cy="1024128"/>
          </a:xfrm>
          <a:prstGeom prst="roundRect">
            <a:avLst>
              <a:gd name="adj" fmla="val 4500"/>
            </a:avLst>
          </a:prstGeom>
          <a:solidFill>
            <a:srgbClr val="FFFFFF"/>
          </a:solidFill>
          <a:ln w="12700">
            <a:solidFill>
              <a:srgbClr val="D7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2798064"/>
            <a:ext cx="457200" cy="1024128"/>
          </a:xfrm>
          <a:prstGeom prst="round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446520" y="2798064"/>
            <a:ext cx="228600" cy="1024128"/>
          </a:xfrm>
          <a:prstGeom prst="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199632" y="3090672"/>
            <a:ext cx="457200" cy="457200"/>
          </a:xfrm>
          <a:prstGeom prst="rect">
            <a:avLst/>
          </a:prstGeom>
          <a:noFill/>
        </p:spPr>
        <p:txBody>
          <a:bodyPr wrap="square" anchor="t" lIns="0" rIns="0" tIns="0" bIns="0">
            <a:spAutoFit/>
          </a:bodyPr>
          <a:lstStyle/>
          <a:p>
            <a:pPr algn="ctr">
              <a:lnSpc>
                <a:spcPct val="100000"/>
              </a:lnSpc>
              <a:spcBef>
                <a:spcPts val="0"/>
              </a:spcBef>
              <a:spcAft>
                <a:spcPts val="0"/>
              </a:spcAft>
            </a:pPr>
            <a:r>
              <a:rPr sz="2200" b="1" i="0">
                <a:solidFill>
                  <a:srgbClr val="E4A11B"/>
                </a:solidFill>
                <a:latin typeface="Calibri"/>
              </a:rPr>
              <a:t>4</a:t>
            </a:r>
          </a:p>
        </p:txBody>
      </p:sp>
      <p:sp>
        <p:nvSpPr>
          <p:cNvPr id="30" name="TextBox 29"/>
          <p:cNvSpPr txBox="1"/>
          <p:nvPr/>
        </p:nvSpPr>
        <p:spPr>
          <a:xfrm>
            <a:off x="6876288" y="2944368"/>
            <a:ext cx="4434840" cy="365760"/>
          </a:xfrm>
          <a:prstGeom prst="rect">
            <a:avLst/>
          </a:prstGeom>
          <a:noFill/>
        </p:spPr>
        <p:txBody>
          <a:bodyPr wrap="square" anchor="t" lIns="0" rIns="0" tIns="0" bIns="0">
            <a:spAutoFit/>
          </a:bodyPr>
          <a:lstStyle/>
          <a:p>
            <a:pPr algn="l">
              <a:lnSpc>
                <a:spcPct val="100000"/>
              </a:lnSpc>
              <a:spcBef>
                <a:spcPts val="0"/>
              </a:spcBef>
              <a:spcAft>
                <a:spcPts val="0"/>
              </a:spcAft>
            </a:pPr>
            <a:r>
              <a:rPr sz="1450" b="1" i="0">
                <a:solidFill>
                  <a:srgbClr val="0E2A47"/>
                </a:solidFill>
                <a:latin typeface="Calibri"/>
              </a:rPr>
              <a:t>La dimension concurrentielle</a:t>
            </a:r>
          </a:p>
        </p:txBody>
      </p:sp>
      <p:sp>
        <p:nvSpPr>
          <p:cNvPr id="31" name="TextBox 30"/>
          <p:cNvSpPr txBox="1"/>
          <p:nvPr/>
        </p:nvSpPr>
        <p:spPr>
          <a:xfrm>
            <a:off x="6876288" y="3300984"/>
            <a:ext cx="4389120" cy="5029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55607A"/>
                </a:solidFill>
                <a:latin typeface="Calibri"/>
              </a:rPr>
              <a:t>Ne pas investir dans l'IA devient un désavantage compétitif pour la PME.</a:t>
            </a:r>
          </a:p>
        </p:txBody>
      </p:sp>
      <p:sp>
        <p:nvSpPr>
          <p:cNvPr id="32" name="Rounded Rectangle 31"/>
          <p:cNvSpPr/>
          <p:nvPr/>
        </p:nvSpPr>
        <p:spPr>
          <a:xfrm>
            <a:off x="685800" y="3968496"/>
            <a:ext cx="10817352" cy="1024128"/>
          </a:xfrm>
          <a:prstGeom prst="roundRect">
            <a:avLst>
              <a:gd name="adj" fmla="val 4500"/>
            </a:avLst>
          </a:prstGeom>
          <a:solidFill>
            <a:srgbClr val="FFFFFF"/>
          </a:solidFill>
          <a:ln w="12700">
            <a:solidFill>
              <a:srgbClr val="D7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685800" y="3968496"/>
            <a:ext cx="457200" cy="1024128"/>
          </a:xfrm>
          <a:prstGeom prst="round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14400" y="3968496"/>
            <a:ext cx="228600" cy="1024128"/>
          </a:xfrm>
          <a:prstGeom prst="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67512" y="4261104"/>
            <a:ext cx="457200" cy="457200"/>
          </a:xfrm>
          <a:prstGeom prst="rect">
            <a:avLst/>
          </a:prstGeom>
          <a:noFill/>
        </p:spPr>
        <p:txBody>
          <a:bodyPr wrap="square" anchor="t" lIns="0" rIns="0" tIns="0" bIns="0">
            <a:spAutoFit/>
          </a:bodyPr>
          <a:lstStyle/>
          <a:p>
            <a:pPr algn="ctr">
              <a:lnSpc>
                <a:spcPct val="100000"/>
              </a:lnSpc>
              <a:spcBef>
                <a:spcPts val="0"/>
              </a:spcBef>
              <a:spcAft>
                <a:spcPts val="0"/>
              </a:spcAft>
            </a:pPr>
            <a:r>
              <a:rPr sz="2200" b="1" i="0">
                <a:solidFill>
                  <a:srgbClr val="E4A11B"/>
                </a:solidFill>
                <a:latin typeface="Calibri"/>
              </a:rPr>
              <a:t>5</a:t>
            </a:r>
          </a:p>
        </p:txBody>
      </p:sp>
      <p:sp>
        <p:nvSpPr>
          <p:cNvPr id="36" name="TextBox 35"/>
          <p:cNvSpPr txBox="1"/>
          <p:nvPr/>
        </p:nvSpPr>
        <p:spPr>
          <a:xfrm>
            <a:off x="1344168" y="4114800"/>
            <a:ext cx="9994392" cy="365760"/>
          </a:xfrm>
          <a:prstGeom prst="rect">
            <a:avLst/>
          </a:prstGeom>
          <a:noFill/>
        </p:spPr>
        <p:txBody>
          <a:bodyPr wrap="square" anchor="t" lIns="0" rIns="0" tIns="0" bIns="0">
            <a:spAutoFit/>
          </a:bodyPr>
          <a:lstStyle/>
          <a:p>
            <a:pPr algn="l">
              <a:lnSpc>
                <a:spcPct val="100000"/>
              </a:lnSpc>
              <a:spcBef>
                <a:spcPts val="0"/>
              </a:spcBef>
              <a:spcAft>
                <a:spcPts val="0"/>
              </a:spcAft>
            </a:pPr>
            <a:r>
              <a:rPr sz="1450" b="1" i="0">
                <a:solidFill>
                  <a:srgbClr val="0E2A47"/>
                </a:solidFill>
                <a:latin typeface="Calibri"/>
              </a:rPr>
              <a:t>L'« adoption sélective »</a:t>
            </a:r>
          </a:p>
        </p:txBody>
      </p:sp>
      <p:sp>
        <p:nvSpPr>
          <p:cNvPr id="37" name="TextBox 36"/>
          <p:cNvSpPr txBox="1"/>
          <p:nvPr/>
        </p:nvSpPr>
        <p:spPr>
          <a:xfrm>
            <a:off x="1344168" y="4471416"/>
            <a:ext cx="9948672" cy="5029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55607A"/>
                </a:solidFill>
                <a:latin typeface="Calibri"/>
              </a:rPr>
              <a:t>La tradition n'est pas un frein : elle est le cadre dans lequel l'adoption se construit, métier par métier.</a:t>
            </a:r>
          </a:p>
        </p:txBody>
      </p:sp>
      <p:sp>
        <p:nvSpPr>
          <p:cNvPr id="38" name="TextBox 37"/>
          <p:cNvSpPr txBox="1"/>
          <p:nvPr/>
        </p:nvSpPr>
        <p:spPr>
          <a:xfrm>
            <a:off x="685800" y="6428232"/>
            <a:ext cx="7315200" cy="32004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9AA6B8"/>
                </a:solidFill>
                <a:latin typeface="Calibri"/>
              </a:rPr>
              <a:t>Maxime LOUSTALET  ·  Soutenance de mémoire  ·  Eklore-ed School of Management  ·  2025–2026</a:t>
            </a:r>
          </a:p>
        </p:txBody>
      </p:sp>
      <p:sp>
        <p:nvSpPr>
          <p:cNvPr id="39" name="TextBox 38"/>
          <p:cNvSpPr txBox="1"/>
          <p:nvPr/>
        </p:nvSpPr>
        <p:spPr>
          <a:xfrm>
            <a:off x="10881360" y="6428232"/>
            <a:ext cx="640080" cy="320040"/>
          </a:xfrm>
          <a:prstGeom prst="rect">
            <a:avLst/>
          </a:prstGeom>
          <a:noFill/>
        </p:spPr>
        <p:txBody>
          <a:bodyPr wrap="square" anchor="t" lIns="0" rIns="0" tIns="0" bIns="0">
            <a:spAutoFit/>
          </a:bodyPr>
          <a:lstStyle/>
          <a:p>
            <a:pPr algn="r">
              <a:lnSpc>
                <a:spcPct val="100000"/>
              </a:lnSpc>
              <a:spcBef>
                <a:spcPts val="0"/>
              </a:spcBef>
              <a:spcAft>
                <a:spcPts val="0"/>
              </a:spcAft>
            </a:pPr>
            <a:r>
              <a:rPr sz="900" b="1" i="0">
                <a:solidFill>
                  <a:srgbClr val="9AA6B8"/>
                </a:solidFill>
                <a:latin typeface="Calibr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E4A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2148840"/>
            <a:ext cx="2194560" cy="54864"/>
          </a:xfrm>
          <a:prstGeom prst="rect">
            <a:avLst/>
          </a:prstGeom>
          <a:solidFill>
            <a:srgbClr val="E4A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2331720"/>
            <a:ext cx="10058400" cy="1280160"/>
          </a:xfrm>
          <a:prstGeom prst="rect">
            <a:avLst/>
          </a:prstGeom>
          <a:noFill/>
        </p:spPr>
        <p:txBody>
          <a:bodyPr wrap="square" anchor="t" lIns="0" rIns="0" tIns="0" bIns="0">
            <a:spAutoFit/>
          </a:bodyPr>
          <a:lstStyle/>
          <a:p>
            <a:pPr algn="l">
              <a:lnSpc>
                <a:spcPct val="100000"/>
              </a:lnSpc>
              <a:spcBef>
                <a:spcPts val="0"/>
              </a:spcBef>
              <a:spcAft>
                <a:spcPts val="0"/>
              </a:spcAft>
            </a:pPr>
            <a:r>
              <a:rPr sz="9200" b="1" i="0">
                <a:solidFill>
                  <a:srgbClr val="24466B"/>
                </a:solidFill>
                <a:latin typeface="Calibri"/>
              </a:rPr>
              <a:t>05</a:t>
            </a:r>
          </a:p>
        </p:txBody>
      </p:sp>
      <p:sp>
        <p:nvSpPr>
          <p:cNvPr id="6" name="TextBox 5"/>
          <p:cNvSpPr txBox="1"/>
          <p:nvPr/>
        </p:nvSpPr>
        <p:spPr>
          <a:xfrm>
            <a:off x="2743200" y="2514600"/>
            <a:ext cx="8595360" cy="1463040"/>
          </a:xfrm>
          <a:prstGeom prst="rect">
            <a:avLst/>
          </a:prstGeom>
          <a:noFill/>
        </p:spPr>
        <p:txBody>
          <a:bodyPr wrap="square" anchor="t" lIns="0" rIns="0" tIns="0" bIns="0">
            <a:spAutoFit/>
          </a:bodyPr>
          <a:lstStyle/>
          <a:p>
            <a:pPr algn="l">
              <a:lnSpc>
                <a:spcPct val="100000"/>
              </a:lnSpc>
              <a:spcBef>
                <a:spcPts val="0"/>
              </a:spcBef>
              <a:spcAft>
                <a:spcPts val="0"/>
              </a:spcAft>
            </a:pPr>
            <a:r>
              <a:rPr sz="4000" b="1" i="0">
                <a:solidFill>
                  <a:srgbClr val="FFFFFF"/>
                </a:solidFill>
                <a:latin typeface="Calibri"/>
              </a:rPr>
              <a:t>Apports &amp; préconisations</a:t>
            </a:r>
          </a:p>
        </p:txBody>
      </p:sp>
      <p:sp>
        <p:nvSpPr>
          <p:cNvPr id="7" name="TextBox 6"/>
          <p:cNvSpPr txBox="1"/>
          <p:nvPr/>
        </p:nvSpPr>
        <p:spPr>
          <a:xfrm>
            <a:off x="2788920" y="3611880"/>
            <a:ext cx="8412480" cy="731520"/>
          </a:xfrm>
          <a:prstGeom prst="rect">
            <a:avLst/>
          </a:prstGeom>
          <a:noFill/>
        </p:spPr>
        <p:txBody>
          <a:bodyPr wrap="square" anchor="t" lIns="0" rIns="0" tIns="0" bIns="0">
            <a:spAutoFit/>
          </a:bodyPr>
          <a:lstStyle/>
          <a:p>
            <a:pPr algn="l">
              <a:lnSpc>
                <a:spcPct val="100000"/>
              </a:lnSpc>
              <a:spcBef>
                <a:spcPts val="0"/>
              </a:spcBef>
              <a:spcAft>
                <a:spcPts val="0"/>
              </a:spcAft>
            </a:pPr>
            <a:r>
              <a:rPr sz="1600" b="0" i="1">
                <a:solidFill>
                  <a:srgbClr val="B8C6D8"/>
                </a:solidFill>
                <a:latin typeface="Calibri"/>
              </a:rPr>
              <a:t>Trois recommandations opérationnelles pour Arla Groupe</a:t>
            </a:r>
          </a:p>
        </p:txBody>
      </p:sp>
      <p:sp>
        <p:nvSpPr>
          <p:cNvPr id="8" name="TextBox 7"/>
          <p:cNvSpPr txBox="1"/>
          <p:nvPr/>
        </p:nvSpPr>
        <p:spPr>
          <a:xfrm>
            <a:off x="685800" y="6428232"/>
            <a:ext cx="7315200" cy="32004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A9CB5"/>
                </a:solidFill>
                <a:latin typeface="Calibri"/>
              </a:rPr>
              <a:t>Maxime LOUSTALET  ·  Soutenance de mémoire  ·  Eklore-ed School of Management  ·  2025–2026</a:t>
            </a:r>
          </a:p>
        </p:txBody>
      </p:sp>
      <p:sp>
        <p:nvSpPr>
          <p:cNvPr id="9" name="TextBox 8"/>
          <p:cNvSpPr txBox="1"/>
          <p:nvPr/>
        </p:nvSpPr>
        <p:spPr>
          <a:xfrm>
            <a:off x="10881360" y="6428232"/>
            <a:ext cx="640080" cy="320040"/>
          </a:xfrm>
          <a:prstGeom prst="rect">
            <a:avLst/>
          </a:prstGeom>
          <a:noFill/>
        </p:spPr>
        <p:txBody>
          <a:bodyPr wrap="square" anchor="t" lIns="0" rIns="0" tIns="0" bIns="0">
            <a:spAutoFit/>
          </a:bodyPr>
          <a:lstStyle/>
          <a:p>
            <a:pPr algn="r">
              <a:lnSpc>
                <a:spcPct val="100000"/>
              </a:lnSpc>
              <a:spcBef>
                <a:spcPts val="0"/>
              </a:spcBef>
              <a:spcAft>
                <a:spcPts val="0"/>
              </a:spcAft>
            </a:pPr>
            <a:r>
              <a:rPr sz="900" b="1" i="0">
                <a:solidFill>
                  <a:srgbClr val="8A9CB5"/>
                </a:solidFill>
                <a:latin typeface="Calibr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371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46304" cy="1371600"/>
          </a:xfrm>
          <a:prstGeom prst="rect">
            <a:avLst/>
          </a:prstGeom>
          <a:solidFill>
            <a:srgbClr val="E4A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310896"/>
            <a:ext cx="10515600" cy="365760"/>
          </a:xfrm>
          <a:prstGeom prst="rect">
            <a:avLst/>
          </a:prstGeom>
          <a:noFill/>
        </p:spPr>
        <p:txBody>
          <a:bodyPr wrap="square" anchor="t" lIns="0" rIns="0" tIns="0" bIns="0">
            <a:spAutoFit/>
          </a:bodyPr>
          <a:lstStyle/>
          <a:p>
            <a:pPr algn="l">
              <a:lnSpc>
                <a:spcPct val="100000"/>
              </a:lnSpc>
              <a:spcBef>
                <a:spcPts val="0"/>
              </a:spcBef>
              <a:spcAft>
                <a:spcPts val="0"/>
              </a:spcAft>
            </a:pPr>
            <a:r>
              <a:rPr sz="1250" b="1" i="0">
                <a:solidFill>
                  <a:srgbClr val="2E6E9E"/>
                </a:solidFill>
                <a:latin typeface="Calibri"/>
              </a:rPr>
              <a:t>05 · PRÉCONISATIONS MANAGÉRIALES</a:t>
            </a:r>
          </a:p>
        </p:txBody>
      </p:sp>
      <p:sp>
        <p:nvSpPr>
          <p:cNvPr id="6" name="TextBox 5"/>
          <p:cNvSpPr txBox="1"/>
          <p:nvPr/>
        </p:nvSpPr>
        <p:spPr>
          <a:xfrm>
            <a:off x="685800" y="576072"/>
            <a:ext cx="10881360" cy="640080"/>
          </a:xfrm>
          <a:prstGeom prst="rect">
            <a:avLst/>
          </a:prstGeom>
          <a:noFill/>
        </p:spPr>
        <p:txBody>
          <a:bodyPr wrap="square" anchor="t" lIns="0" rIns="0" tIns="0" bIns="0">
            <a:spAutoFit/>
          </a:bodyPr>
          <a:lstStyle/>
          <a:p>
            <a:pPr algn="l">
              <a:lnSpc>
                <a:spcPct val="100000"/>
              </a:lnSpc>
              <a:spcBef>
                <a:spcPts val="0"/>
              </a:spcBef>
              <a:spcAft>
                <a:spcPts val="0"/>
              </a:spcAft>
            </a:pPr>
            <a:r>
              <a:rPr sz="2700" b="1" i="0">
                <a:solidFill>
                  <a:srgbClr val="0E2A47"/>
                </a:solidFill>
                <a:latin typeface="Calibri"/>
              </a:rPr>
              <a:t>Trois leviers pour une intégration durable de l'IA</a:t>
            </a:r>
          </a:p>
        </p:txBody>
      </p:sp>
      <p:sp>
        <p:nvSpPr>
          <p:cNvPr id="7" name="Rectangle 6"/>
          <p:cNvSpPr/>
          <p:nvPr/>
        </p:nvSpPr>
        <p:spPr>
          <a:xfrm>
            <a:off x="713232" y="1207008"/>
            <a:ext cx="777240" cy="50292"/>
          </a:xfrm>
          <a:prstGeom prst="rect">
            <a:avLst/>
          </a:prstGeom>
          <a:solidFill>
            <a:srgbClr val="E4A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85800" y="1600200"/>
            <a:ext cx="3456432" cy="4160520"/>
          </a:xfrm>
          <a:prstGeom prst="roundRect">
            <a:avLst>
              <a:gd name="adj" fmla="val 4500"/>
            </a:avLst>
          </a:prstGeom>
          <a:solidFill>
            <a:srgbClr val="FFFFFF"/>
          </a:solidFill>
          <a:ln w="12700">
            <a:solidFill>
              <a:srgbClr val="D7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85800" y="1600200"/>
            <a:ext cx="3456432" cy="822960"/>
          </a:xfrm>
          <a:prstGeom prst="round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85800" y="2103120"/>
            <a:ext cx="3456432" cy="320040"/>
          </a:xfrm>
          <a:prstGeom prst="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6968" y="1691640"/>
            <a:ext cx="914400" cy="640080"/>
          </a:xfrm>
          <a:prstGeom prst="rect">
            <a:avLst/>
          </a:prstGeom>
          <a:noFill/>
        </p:spPr>
        <p:txBody>
          <a:bodyPr wrap="square" anchor="t" lIns="0" rIns="0" tIns="0" bIns="0">
            <a:spAutoFit/>
          </a:bodyPr>
          <a:lstStyle/>
          <a:p>
            <a:pPr algn="l">
              <a:lnSpc>
                <a:spcPct val="100000"/>
              </a:lnSpc>
              <a:spcBef>
                <a:spcPts val="0"/>
              </a:spcBef>
              <a:spcAft>
                <a:spcPts val="0"/>
              </a:spcAft>
            </a:pPr>
            <a:r>
              <a:rPr sz="3000" b="1" i="0">
                <a:solidFill>
                  <a:srgbClr val="E4A11B"/>
                </a:solidFill>
                <a:latin typeface="Calibri"/>
              </a:rPr>
              <a:t>01</a:t>
            </a:r>
          </a:p>
        </p:txBody>
      </p:sp>
      <p:sp>
        <p:nvSpPr>
          <p:cNvPr id="12" name="TextBox 11"/>
          <p:cNvSpPr txBox="1"/>
          <p:nvPr/>
        </p:nvSpPr>
        <p:spPr>
          <a:xfrm>
            <a:off x="1737360" y="1700784"/>
            <a:ext cx="2331720" cy="685800"/>
          </a:xfrm>
          <a:prstGeom prst="rect">
            <a:avLst/>
          </a:prstGeom>
          <a:noFill/>
        </p:spPr>
        <p:txBody>
          <a:bodyPr wrap="square" anchor="ctr" lIns="0" rIns="0" tIns="0" bIns="0">
            <a:spAutoFit/>
          </a:bodyPr>
          <a:lstStyle/>
          <a:p>
            <a:pPr algn="l">
              <a:lnSpc>
                <a:spcPct val="100000"/>
              </a:lnSpc>
              <a:spcBef>
                <a:spcPts val="0"/>
              </a:spcBef>
              <a:spcAft>
                <a:spcPts val="0"/>
              </a:spcAft>
            </a:pPr>
            <a:r>
              <a:rPr sz="1350" b="1" i="0">
                <a:solidFill>
                  <a:srgbClr val="FFFFFF"/>
                </a:solidFill>
                <a:latin typeface="Calibri"/>
              </a:rPr>
              <a:t>Structurer une politique commune</a:t>
            </a:r>
          </a:p>
        </p:txBody>
      </p:sp>
      <p:sp>
        <p:nvSpPr>
          <p:cNvPr id="13" name="TextBox 12"/>
          <p:cNvSpPr txBox="1"/>
          <p:nvPr/>
        </p:nvSpPr>
        <p:spPr>
          <a:xfrm>
            <a:off x="886968" y="2542032"/>
            <a:ext cx="3108960" cy="457200"/>
          </a:xfrm>
          <a:prstGeom prst="rect">
            <a:avLst/>
          </a:prstGeom>
          <a:noFill/>
        </p:spPr>
        <p:txBody>
          <a:bodyPr wrap="square" anchor="t" lIns="0" rIns="0" tIns="0" bIns="0">
            <a:spAutoFit/>
          </a:bodyPr>
          <a:lstStyle/>
          <a:p>
            <a:pPr algn="l">
              <a:lnSpc>
                <a:spcPct val="100000"/>
              </a:lnSpc>
              <a:spcBef>
                <a:spcPts val="0"/>
              </a:spcBef>
              <a:spcAft>
                <a:spcPts val="0"/>
              </a:spcAft>
            </a:pPr>
            <a:r>
              <a:rPr sz="1150" b="0" i="1">
                <a:solidFill>
                  <a:srgbClr val="2E6E9E"/>
                </a:solidFill>
                <a:latin typeface="Calibri"/>
              </a:rPr>
              <a:t>pilotée par un référent IA interne</a:t>
            </a:r>
          </a:p>
        </p:txBody>
      </p:sp>
      <p:sp>
        <p:nvSpPr>
          <p:cNvPr id="14" name="TextBox 13"/>
          <p:cNvSpPr txBox="1"/>
          <p:nvPr/>
        </p:nvSpPr>
        <p:spPr>
          <a:xfrm>
            <a:off x="886968" y="3108960"/>
            <a:ext cx="3108960" cy="1920240"/>
          </a:xfrm>
          <a:prstGeom prst="rect">
            <a:avLst/>
          </a:prstGeom>
          <a:noFill/>
        </p:spPr>
        <p:txBody>
          <a:bodyPr wrap="square" lIns="0" rIns="0" tIns="0" bIns="0">
            <a:spAutoFit/>
          </a:bodyPr>
          <a:lstStyle/>
          <a:p>
            <a:pPr>
              <a:lnSpc>
                <a:spcPct val="106000"/>
              </a:lnSpc>
              <a:spcBef>
                <a:spcPts val="0"/>
              </a:spcBef>
              <a:spcAft>
                <a:spcPts val="900"/>
              </a:spcAft>
            </a:pPr>
            <a:r>
              <a:rPr sz="1200" b="1">
                <a:solidFill>
                  <a:srgbClr val="E4A11B"/>
                </a:solidFill>
                <a:latin typeface="Calibri"/>
              </a:rPr>
              <a:t>▪  </a:t>
            </a:r>
            <a:r>
              <a:rPr sz="1200">
                <a:solidFill>
                  <a:srgbClr val="1A2033"/>
                </a:solidFill>
                <a:latin typeface="Calibri"/>
              </a:rPr>
              <a:t>1–2 outils communs à tous</a:t>
            </a:r>
          </a:p>
          <a:p>
            <a:pPr>
              <a:lnSpc>
                <a:spcPct val="106000"/>
              </a:lnSpc>
              <a:spcBef>
                <a:spcPts val="0"/>
              </a:spcBef>
              <a:spcAft>
                <a:spcPts val="900"/>
              </a:spcAft>
            </a:pPr>
            <a:r>
              <a:rPr sz="1200" b="1">
                <a:solidFill>
                  <a:srgbClr val="E4A11B"/>
                </a:solidFill>
                <a:latin typeface="Calibri"/>
              </a:rPr>
              <a:t>▪  </a:t>
            </a:r>
            <a:r>
              <a:rPr sz="1200">
                <a:solidFill>
                  <a:srgbClr val="1A2033"/>
                </a:solidFill>
                <a:latin typeface="Calibri"/>
              </a:rPr>
              <a:t>Un coordinateur IA (informaticien déjà recruté)</a:t>
            </a:r>
          </a:p>
          <a:p>
            <a:pPr>
              <a:lnSpc>
                <a:spcPct val="106000"/>
              </a:lnSpc>
              <a:spcBef>
                <a:spcPts val="0"/>
              </a:spcBef>
              <a:spcAft>
                <a:spcPts val="900"/>
              </a:spcAft>
            </a:pPr>
            <a:r>
              <a:rPr sz="1200" b="1">
                <a:solidFill>
                  <a:srgbClr val="E4A11B"/>
                </a:solidFill>
                <a:latin typeface="Calibri"/>
              </a:rPr>
              <a:t>▪  </a:t>
            </a:r>
            <a:r>
              <a:rPr sz="1200">
                <a:solidFill>
                  <a:srgbClr val="1A2033"/>
                </a:solidFill>
                <a:latin typeface="Calibri"/>
              </a:rPr>
              <a:t>Des règles claires de confidentialité</a:t>
            </a:r>
          </a:p>
        </p:txBody>
      </p:sp>
      <p:sp>
        <p:nvSpPr>
          <p:cNvPr id="15" name="Rectangle 14"/>
          <p:cNvSpPr/>
          <p:nvPr/>
        </p:nvSpPr>
        <p:spPr>
          <a:xfrm>
            <a:off x="685800" y="5230368"/>
            <a:ext cx="3456432" cy="530352"/>
          </a:xfrm>
          <a:prstGeom prst="rect">
            <a:avLst/>
          </a:prstGeom>
          <a:solidFill>
            <a:srgbClr val="ED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86968" y="5303520"/>
            <a:ext cx="3108960" cy="411480"/>
          </a:xfrm>
          <a:prstGeom prst="rect">
            <a:avLst/>
          </a:prstGeom>
          <a:noFill/>
        </p:spPr>
        <p:txBody>
          <a:bodyPr wrap="square" anchor="ctr" lIns="0" rIns="0" tIns="0" bIns="0">
            <a:spAutoFit/>
          </a:bodyPr>
          <a:lstStyle/>
          <a:p>
            <a:pPr algn="l">
              <a:lnSpc>
                <a:spcPct val="100000"/>
              </a:lnSpc>
              <a:spcBef>
                <a:spcPts val="0"/>
              </a:spcBef>
              <a:spcAft>
                <a:spcPts val="0"/>
              </a:spcAft>
            </a:pPr>
            <a:r>
              <a:rPr sz="1050" b="1" i="1">
                <a:solidFill>
                  <a:srgbClr val="C6860E"/>
                </a:solidFill>
                <a:latin typeface="Calibri"/>
              </a:rPr>
              <a:t>Répond au frein : absence de cadre commun</a:t>
            </a:r>
          </a:p>
        </p:txBody>
      </p:sp>
      <p:sp>
        <p:nvSpPr>
          <p:cNvPr id="17" name="Rounded Rectangle 16"/>
          <p:cNvSpPr/>
          <p:nvPr/>
        </p:nvSpPr>
        <p:spPr>
          <a:xfrm>
            <a:off x="4416552" y="1600200"/>
            <a:ext cx="3456432" cy="4160520"/>
          </a:xfrm>
          <a:prstGeom prst="roundRect">
            <a:avLst>
              <a:gd name="adj" fmla="val 4500"/>
            </a:avLst>
          </a:prstGeom>
          <a:solidFill>
            <a:srgbClr val="FFFFFF"/>
          </a:solidFill>
          <a:ln w="12700">
            <a:solidFill>
              <a:srgbClr val="D7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416552" y="1600200"/>
            <a:ext cx="3456432" cy="822960"/>
          </a:xfrm>
          <a:prstGeom prst="round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416552" y="2103120"/>
            <a:ext cx="3456432" cy="320040"/>
          </a:xfrm>
          <a:prstGeom prst="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617720" y="1691640"/>
            <a:ext cx="914400" cy="640080"/>
          </a:xfrm>
          <a:prstGeom prst="rect">
            <a:avLst/>
          </a:prstGeom>
          <a:noFill/>
        </p:spPr>
        <p:txBody>
          <a:bodyPr wrap="square" anchor="t" lIns="0" rIns="0" tIns="0" bIns="0">
            <a:spAutoFit/>
          </a:bodyPr>
          <a:lstStyle/>
          <a:p>
            <a:pPr algn="l">
              <a:lnSpc>
                <a:spcPct val="100000"/>
              </a:lnSpc>
              <a:spcBef>
                <a:spcPts val="0"/>
              </a:spcBef>
              <a:spcAft>
                <a:spcPts val="0"/>
              </a:spcAft>
            </a:pPr>
            <a:r>
              <a:rPr sz="3000" b="1" i="0">
                <a:solidFill>
                  <a:srgbClr val="E4A11B"/>
                </a:solidFill>
                <a:latin typeface="Calibri"/>
              </a:rPr>
              <a:t>02</a:t>
            </a:r>
          </a:p>
        </p:txBody>
      </p:sp>
      <p:sp>
        <p:nvSpPr>
          <p:cNvPr id="21" name="TextBox 20"/>
          <p:cNvSpPr txBox="1"/>
          <p:nvPr/>
        </p:nvSpPr>
        <p:spPr>
          <a:xfrm>
            <a:off x="5468112" y="1700784"/>
            <a:ext cx="2331720" cy="685800"/>
          </a:xfrm>
          <a:prstGeom prst="rect">
            <a:avLst/>
          </a:prstGeom>
          <a:noFill/>
        </p:spPr>
        <p:txBody>
          <a:bodyPr wrap="square" anchor="ctr" lIns="0" rIns="0" tIns="0" bIns="0">
            <a:spAutoFit/>
          </a:bodyPr>
          <a:lstStyle/>
          <a:p>
            <a:pPr algn="l">
              <a:lnSpc>
                <a:spcPct val="100000"/>
              </a:lnSpc>
              <a:spcBef>
                <a:spcPts val="0"/>
              </a:spcBef>
              <a:spcAft>
                <a:spcPts val="0"/>
              </a:spcAft>
            </a:pPr>
            <a:r>
              <a:rPr sz="1350" b="1" i="0">
                <a:solidFill>
                  <a:srgbClr val="FFFFFF"/>
                </a:solidFill>
                <a:latin typeface="Calibri"/>
              </a:rPr>
              <a:t>Déployer une formation différenciée</a:t>
            </a:r>
          </a:p>
        </p:txBody>
      </p:sp>
      <p:sp>
        <p:nvSpPr>
          <p:cNvPr id="22" name="TextBox 21"/>
          <p:cNvSpPr txBox="1"/>
          <p:nvPr/>
        </p:nvSpPr>
        <p:spPr>
          <a:xfrm>
            <a:off x="4617720" y="2542032"/>
            <a:ext cx="3108960" cy="457200"/>
          </a:xfrm>
          <a:prstGeom prst="rect">
            <a:avLst/>
          </a:prstGeom>
          <a:noFill/>
        </p:spPr>
        <p:txBody>
          <a:bodyPr wrap="square" anchor="t" lIns="0" rIns="0" tIns="0" bIns="0">
            <a:spAutoFit/>
          </a:bodyPr>
          <a:lstStyle/>
          <a:p>
            <a:pPr algn="l">
              <a:lnSpc>
                <a:spcPct val="100000"/>
              </a:lnSpc>
              <a:spcBef>
                <a:spcPts val="0"/>
              </a:spcBef>
              <a:spcAft>
                <a:spcPts val="0"/>
              </a:spcAft>
            </a:pPr>
            <a:r>
              <a:rPr sz="1150" b="0" i="1">
                <a:solidFill>
                  <a:srgbClr val="2E6E9E"/>
                </a:solidFill>
                <a:latin typeface="Calibri"/>
              </a:rPr>
              <a:t>par les gains rapides et le compagnonnage</a:t>
            </a:r>
          </a:p>
        </p:txBody>
      </p:sp>
      <p:sp>
        <p:nvSpPr>
          <p:cNvPr id="23" name="TextBox 22"/>
          <p:cNvSpPr txBox="1"/>
          <p:nvPr/>
        </p:nvSpPr>
        <p:spPr>
          <a:xfrm>
            <a:off x="4617720" y="3108960"/>
            <a:ext cx="3108960" cy="1920240"/>
          </a:xfrm>
          <a:prstGeom prst="rect">
            <a:avLst/>
          </a:prstGeom>
          <a:noFill/>
        </p:spPr>
        <p:txBody>
          <a:bodyPr wrap="square" lIns="0" rIns="0" tIns="0" bIns="0">
            <a:spAutoFit/>
          </a:bodyPr>
          <a:lstStyle/>
          <a:p>
            <a:pPr>
              <a:lnSpc>
                <a:spcPct val="106000"/>
              </a:lnSpc>
              <a:spcBef>
                <a:spcPts val="0"/>
              </a:spcBef>
              <a:spcAft>
                <a:spcPts val="900"/>
              </a:spcAft>
            </a:pPr>
            <a:r>
              <a:rPr sz="1200" b="1">
                <a:solidFill>
                  <a:srgbClr val="E4A11B"/>
                </a:solidFill>
                <a:latin typeface="Calibri"/>
              </a:rPr>
              <a:t>▪  </a:t>
            </a:r>
            <a:r>
              <a:rPr sz="1200">
                <a:solidFill>
                  <a:srgbClr val="1A2033"/>
                </a:solidFill>
                <a:latin typeface="Calibri"/>
              </a:rPr>
              <a:t>Cibler d'abord les « quick wins » métier</a:t>
            </a:r>
          </a:p>
          <a:p>
            <a:pPr>
              <a:lnSpc>
                <a:spcPct val="106000"/>
              </a:lnSpc>
              <a:spcBef>
                <a:spcPts val="0"/>
              </a:spcBef>
              <a:spcAft>
                <a:spcPts val="900"/>
              </a:spcAft>
            </a:pPr>
            <a:r>
              <a:rPr sz="1200" b="1">
                <a:solidFill>
                  <a:srgbClr val="E4A11B"/>
                </a:solidFill>
                <a:latin typeface="Calibri"/>
              </a:rPr>
              <a:t>▪  </a:t>
            </a:r>
            <a:r>
              <a:rPr sz="1200">
                <a:solidFill>
                  <a:srgbClr val="1A2033"/>
                </a:solidFill>
                <a:latin typeface="Calibri"/>
              </a:rPr>
              <a:t>Former des ambassadeurs internes</a:t>
            </a:r>
          </a:p>
          <a:p>
            <a:pPr>
              <a:lnSpc>
                <a:spcPct val="106000"/>
              </a:lnSpc>
              <a:spcBef>
                <a:spcPts val="0"/>
              </a:spcBef>
              <a:spcAft>
                <a:spcPts val="900"/>
              </a:spcAft>
            </a:pPr>
            <a:r>
              <a:rPr sz="1200" b="1">
                <a:solidFill>
                  <a:srgbClr val="E4A11B"/>
                </a:solidFill>
                <a:latin typeface="Calibri"/>
              </a:rPr>
              <a:t>▪  </a:t>
            </a:r>
            <a:r>
              <a:rPr sz="1200">
                <a:solidFill>
                  <a:srgbClr val="1A2033"/>
                </a:solidFill>
                <a:latin typeface="Calibri"/>
              </a:rPr>
              <a:t>Tutorat plutôt que théorie externe</a:t>
            </a:r>
          </a:p>
        </p:txBody>
      </p:sp>
      <p:sp>
        <p:nvSpPr>
          <p:cNvPr id="24" name="Rectangle 23"/>
          <p:cNvSpPr/>
          <p:nvPr/>
        </p:nvSpPr>
        <p:spPr>
          <a:xfrm>
            <a:off x="4416552" y="5230368"/>
            <a:ext cx="3456432" cy="530352"/>
          </a:xfrm>
          <a:prstGeom prst="rect">
            <a:avLst/>
          </a:prstGeom>
          <a:solidFill>
            <a:srgbClr val="ED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617720" y="5303520"/>
            <a:ext cx="3108960" cy="411480"/>
          </a:xfrm>
          <a:prstGeom prst="rect">
            <a:avLst/>
          </a:prstGeom>
          <a:noFill/>
        </p:spPr>
        <p:txBody>
          <a:bodyPr wrap="square" anchor="ctr" lIns="0" rIns="0" tIns="0" bIns="0">
            <a:spAutoFit/>
          </a:bodyPr>
          <a:lstStyle/>
          <a:p>
            <a:pPr algn="l">
              <a:lnSpc>
                <a:spcPct val="100000"/>
              </a:lnSpc>
              <a:spcBef>
                <a:spcPts val="0"/>
              </a:spcBef>
              <a:spcAft>
                <a:spcPts val="0"/>
              </a:spcAft>
            </a:pPr>
            <a:r>
              <a:rPr sz="1050" b="1" i="1">
                <a:solidFill>
                  <a:srgbClr val="C6860E"/>
                </a:solidFill>
                <a:latin typeface="Calibri"/>
              </a:rPr>
              <a:t>Répond au frein : formation &amp; compétences</a:t>
            </a:r>
          </a:p>
        </p:txBody>
      </p:sp>
      <p:sp>
        <p:nvSpPr>
          <p:cNvPr id="26" name="Rounded Rectangle 25"/>
          <p:cNvSpPr/>
          <p:nvPr/>
        </p:nvSpPr>
        <p:spPr>
          <a:xfrm>
            <a:off x="8147304" y="1600200"/>
            <a:ext cx="3456432" cy="4160520"/>
          </a:xfrm>
          <a:prstGeom prst="roundRect">
            <a:avLst>
              <a:gd name="adj" fmla="val 4500"/>
            </a:avLst>
          </a:prstGeom>
          <a:solidFill>
            <a:srgbClr val="FFFFFF"/>
          </a:solidFill>
          <a:ln w="12700">
            <a:solidFill>
              <a:srgbClr val="D7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8147304" y="1600200"/>
            <a:ext cx="3456432" cy="822960"/>
          </a:xfrm>
          <a:prstGeom prst="round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147304" y="2103120"/>
            <a:ext cx="3456432" cy="320040"/>
          </a:xfrm>
          <a:prstGeom prst="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348472" y="1691640"/>
            <a:ext cx="914400" cy="640080"/>
          </a:xfrm>
          <a:prstGeom prst="rect">
            <a:avLst/>
          </a:prstGeom>
          <a:noFill/>
        </p:spPr>
        <p:txBody>
          <a:bodyPr wrap="square" anchor="t" lIns="0" rIns="0" tIns="0" bIns="0">
            <a:spAutoFit/>
          </a:bodyPr>
          <a:lstStyle/>
          <a:p>
            <a:pPr algn="l">
              <a:lnSpc>
                <a:spcPct val="100000"/>
              </a:lnSpc>
              <a:spcBef>
                <a:spcPts val="0"/>
              </a:spcBef>
              <a:spcAft>
                <a:spcPts val="0"/>
              </a:spcAft>
            </a:pPr>
            <a:r>
              <a:rPr sz="3000" b="1" i="0">
                <a:solidFill>
                  <a:srgbClr val="E4A11B"/>
                </a:solidFill>
                <a:latin typeface="Calibri"/>
              </a:rPr>
              <a:t>03</a:t>
            </a:r>
          </a:p>
        </p:txBody>
      </p:sp>
      <p:sp>
        <p:nvSpPr>
          <p:cNvPr id="30" name="TextBox 29"/>
          <p:cNvSpPr txBox="1"/>
          <p:nvPr/>
        </p:nvSpPr>
        <p:spPr>
          <a:xfrm>
            <a:off x="9198864" y="1700784"/>
            <a:ext cx="2331720" cy="685800"/>
          </a:xfrm>
          <a:prstGeom prst="rect">
            <a:avLst/>
          </a:prstGeom>
          <a:noFill/>
        </p:spPr>
        <p:txBody>
          <a:bodyPr wrap="square" anchor="ctr" lIns="0" rIns="0" tIns="0" bIns="0">
            <a:spAutoFit/>
          </a:bodyPr>
          <a:lstStyle/>
          <a:p>
            <a:pPr algn="l">
              <a:lnSpc>
                <a:spcPct val="100000"/>
              </a:lnSpc>
              <a:spcBef>
                <a:spcPts val="0"/>
              </a:spcBef>
              <a:spcAft>
                <a:spcPts val="0"/>
              </a:spcAft>
            </a:pPr>
            <a:r>
              <a:rPr sz="1350" b="1" i="0">
                <a:solidFill>
                  <a:srgbClr val="FFFFFF"/>
                </a:solidFill>
                <a:latin typeface="Calibri"/>
              </a:rPr>
              <a:t>Adopter une démarche participative</a:t>
            </a:r>
          </a:p>
        </p:txBody>
      </p:sp>
      <p:sp>
        <p:nvSpPr>
          <p:cNvPr id="31" name="TextBox 30"/>
          <p:cNvSpPr txBox="1"/>
          <p:nvPr/>
        </p:nvSpPr>
        <p:spPr>
          <a:xfrm>
            <a:off x="8348472" y="2542032"/>
            <a:ext cx="3108960" cy="457200"/>
          </a:xfrm>
          <a:prstGeom prst="rect">
            <a:avLst/>
          </a:prstGeom>
          <a:noFill/>
        </p:spPr>
        <p:txBody>
          <a:bodyPr wrap="square" anchor="t" lIns="0" rIns="0" tIns="0" bIns="0">
            <a:spAutoFit/>
          </a:bodyPr>
          <a:lstStyle/>
          <a:p>
            <a:pPr algn="l">
              <a:lnSpc>
                <a:spcPct val="100000"/>
              </a:lnSpc>
              <a:spcBef>
                <a:spcPts val="0"/>
              </a:spcBef>
              <a:spcAft>
                <a:spcPts val="0"/>
              </a:spcAft>
            </a:pPr>
            <a:r>
              <a:rPr sz="1150" b="0" i="1">
                <a:solidFill>
                  <a:srgbClr val="2E6E9E"/>
                </a:solidFill>
                <a:latin typeface="Calibri"/>
              </a:rPr>
              <a:t>portée par la direction, co-construite</a:t>
            </a:r>
          </a:p>
        </p:txBody>
      </p:sp>
      <p:sp>
        <p:nvSpPr>
          <p:cNvPr id="32" name="TextBox 31"/>
          <p:cNvSpPr txBox="1"/>
          <p:nvPr/>
        </p:nvSpPr>
        <p:spPr>
          <a:xfrm>
            <a:off x="8348472" y="3108960"/>
            <a:ext cx="3108960" cy="1920240"/>
          </a:xfrm>
          <a:prstGeom prst="rect">
            <a:avLst/>
          </a:prstGeom>
          <a:noFill/>
        </p:spPr>
        <p:txBody>
          <a:bodyPr wrap="square" lIns="0" rIns="0" tIns="0" bIns="0">
            <a:spAutoFit/>
          </a:bodyPr>
          <a:lstStyle/>
          <a:p>
            <a:pPr>
              <a:lnSpc>
                <a:spcPct val="106000"/>
              </a:lnSpc>
              <a:spcBef>
                <a:spcPts val="0"/>
              </a:spcBef>
              <a:spcAft>
                <a:spcPts val="900"/>
              </a:spcAft>
            </a:pPr>
            <a:r>
              <a:rPr sz="1200" b="1">
                <a:solidFill>
                  <a:srgbClr val="E4A11B"/>
                </a:solidFill>
                <a:latin typeface="Calibri"/>
              </a:rPr>
              <a:t>▪  </a:t>
            </a:r>
            <a:r>
              <a:rPr sz="1200">
                <a:solidFill>
                  <a:srgbClr val="1A2033"/>
                </a:solidFill>
                <a:latin typeface="Calibri"/>
              </a:rPr>
              <a:t>Vision claire portée par le dirigeant</a:t>
            </a:r>
          </a:p>
          <a:p>
            <a:pPr>
              <a:lnSpc>
                <a:spcPct val="106000"/>
              </a:lnSpc>
              <a:spcBef>
                <a:spcPts val="0"/>
              </a:spcBef>
              <a:spcAft>
                <a:spcPts val="900"/>
              </a:spcAft>
            </a:pPr>
            <a:r>
              <a:rPr sz="1200" b="1">
                <a:solidFill>
                  <a:srgbClr val="E4A11B"/>
                </a:solidFill>
                <a:latin typeface="Calibri"/>
              </a:rPr>
              <a:t>▪  </a:t>
            </a:r>
            <a:r>
              <a:rPr sz="1200">
                <a:solidFill>
                  <a:srgbClr val="1A2033"/>
                </a:solidFill>
                <a:latin typeface="Calibri"/>
              </a:rPr>
              <a:t>Espace de dialogue avec les équipes</a:t>
            </a:r>
          </a:p>
          <a:p>
            <a:pPr>
              <a:lnSpc>
                <a:spcPct val="106000"/>
              </a:lnSpc>
              <a:spcBef>
                <a:spcPts val="0"/>
              </a:spcBef>
              <a:spcAft>
                <a:spcPts val="900"/>
              </a:spcAft>
            </a:pPr>
            <a:r>
              <a:rPr sz="1200" b="1">
                <a:solidFill>
                  <a:srgbClr val="E4A11B"/>
                </a:solidFill>
                <a:latin typeface="Calibri"/>
              </a:rPr>
              <a:t>▪  </a:t>
            </a:r>
            <a:r>
              <a:rPr sz="1200">
                <a:solidFill>
                  <a:srgbClr val="1A2033"/>
                </a:solidFill>
                <a:latin typeface="Calibri"/>
              </a:rPr>
              <a:t>Respect des identités métier</a:t>
            </a:r>
          </a:p>
        </p:txBody>
      </p:sp>
      <p:sp>
        <p:nvSpPr>
          <p:cNvPr id="33" name="Rectangle 32"/>
          <p:cNvSpPr/>
          <p:nvPr/>
        </p:nvSpPr>
        <p:spPr>
          <a:xfrm>
            <a:off x="8147304" y="5230368"/>
            <a:ext cx="3456432" cy="530352"/>
          </a:xfrm>
          <a:prstGeom prst="rect">
            <a:avLst/>
          </a:prstGeom>
          <a:solidFill>
            <a:srgbClr val="ED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348472" y="5303520"/>
            <a:ext cx="3108960" cy="411480"/>
          </a:xfrm>
          <a:prstGeom prst="rect">
            <a:avLst/>
          </a:prstGeom>
          <a:noFill/>
        </p:spPr>
        <p:txBody>
          <a:bodyPr wrap="square" anchor="ctr" lIns="0" rIns="0" tIns="0" bIns="0">
            <a:spAutoFit/>
          </a:bodyPr>
          <a:lstStyle/>
          <a:p>
            <a:pPr algn="l">
              <a:lnSpc>
                <a:spcPct val="100000"/>
              </a:lnSpc>
              <a:spcBef>
                <a:spcPts val="0"/>
              </a:spcBef>
              <a:spcAft>
                <a:spcPts val="0"/>
              </a:spcAft>
            </a:pPr>
            <a:r>
              <a:rPr sz="1050" b="1" i="1">
                <a:solidFill>
                  <a:srgbClr val="C6860E"/>
                </a:solidFill>
                <a:latin typeface="Calibri"/>
              </a:rPr>
              <a:t>Répond au frein : tension top-down / adhésion</a:t>
            </a:r>
          </a:p>
        </p:txBody>
      </p:sp>
      <p:sp>
        <p:nvSpPr>
          <p:cNvPr id="35" name="TextBox 34"/>
          <p:cNvSpPr txBox="1"/>
          <p:nvPr/>
        </p:nvSpPr>
        <p:spPr>
          <a:xfrm>
            <a:off x="685800" y="6428232"/>
            <a:ext cx="7315200" cy="32004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9AA6B8"/>
                </a:solidFill>
                <a:latin typeface="Calibri"/>
              </a:rPr>
              <a:t>Maxime LOUSTALET  ·  Soutenance de mémoire  ·  Eklore-ed School of Management  ·  2025–2026</a:t>
            </a:r>
          </a:p>
        </p:txBody>
      </p:sp>
      <p:sp>
        <p:nvSpPr>
          <p:cNvPr id="36" name="TextBox 35"/>
          <p:cNvSpPr txBox="1"/>
          <p:nvPr/>
        </p:nvSpPr>
        <p:spPr>
          <a:xfrm>
            <a:off x="10881360" y="6428232"/>
            <a:ext cx="640080" cy="320040"/>
          </a:xfrm>
          <a:prstGeom prst="rect">
            <a:avLst/>
          </a:prstGeom>
          <a:noFill/>
        </p:spPr>
        <p:txBody>
          <a:bodyPr wrap="square" anchor="t" lIns="0" rIns="0" tIns="0" bIns="0">
            <a:spAutoFit/>
          </a:bodyPr>
          <a:lstStyle/>
          <a:p>
            <a:pPr algn="r">
              <a:lnSpc>
                <a:spcPct val="100000"/>
              </a:lnSpc>
              <a:spcBef>
                <a:spcPts val="0"/>
              </a:spcBef>
              <a:spcAft>
                <a:spcPts val="0"/>
              </a:spcAft>
            </a:pPr>
            <a:r>
              <a:rPr sz="900" b="1" i="0">
                <a:solidFill>
                  <a:srgbClr val="9AA6B8"/>
                </a:solidFill>
                <a:latin typeface="Calibri"/>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371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46304" cy="1371600"/>
          </a:xfrm>
          <a:prstGeom prst="rect">
            <a:avLst/>
          </a:prstGeom>
          <a:solidFill>
            <a:srgbClr val="E4A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310896"/>
            <a:ext cx="10515600" cy="365760"/>
          </a:xfrm>
          <a:prstGeom prst="rect">
            <a:avLst/>
          </a:prstGeom>
          <a:noFill/>
        </p:spPr>
        <p:txBody>
          <a:bodyPr wrap="square" anchor="t" lIns="0" rIns="0" tIns="0" bIns="0">
            <a:spAutoFit/>
          </a:bodyPr>
          <a:lstStyle/>
          <a:p>
            <a:pPr algn="l">
              <a:lnSpc>
                <a:spcPct val="100000"/>
              </a:lnSpc>
              <a:spcBef>
                <a:spcPts val="0"/>
              </a:spcBef>
              <a:spcAft>
                <a:spcPts val="0"/>
              </a:spcAft>
            </a:pPr>
            <a:r>
              <a:rPr sz="1250" b="1" i="0">
                <a:solidFill>
                  <a:srgbClr val="2E6E9E"/>
                </a:solidFill>
                <a:latin typeface="Calibri"/>
              </a:rPr>
              <a:t>05 · APPORT DANS MA VIE PROFESSIONNELLE</a:t>
            </a:r>
          </a:p>
        </p:txBody>
      </p:sp>
      <p:sp>
        <p:nvSpPr>
          <p:cNvPr id="6" name="TextBox 5"/>
          <p:cNvSpPr txBox="1"/>
          <p:nvPr/>
        </p:nvSpPr>
        <p:spPr>
          <a:xfrm>
            <a:off x="685800" y="576072"/>
            <a:ext cx="10881360" cy="640080"/>
          </a:xfrm>
          <a:prstGeom prst="rect">
            <a:avLst/>
          </a:prstGeom>
          <a:noFill/>
        </p:spPr>
        <p:txBody>
          <a:bodyPr wrap="square" anchor="t" lIns="0" rIns="0" tIns="0" bIns="0">
            <a:spAutoFit/>
          </a:bodyPr>
          <a:lstStyle/>
          <a:p>
            <a:pPr algn="l">
              <a:lnSpc>
                <a:spcPct val="100000"/>
              </a:lnSpc>
              <a:spcBef>
                <a:spcPts val="0"/>
              </a:spcBef>
              <a:spcAft>
                <a:spcPts val="0"/>
              </a:spcAft>
            </a:pPr>
            <a:r>
              <a:rPr sz="2700" b="1" i="0">
                <a:solidFill>
                  <a:srgbClr val="0E2A47"/>
                </a:solidFill>
                <a:latin typeface="Calibri"/>
              </a:rPr>
              <a:t>Ce que ce mémoire m'apporte, et apporte à l'entreprise</a:t>
            </a:r>
          </a:p>
        </p:txBody>
      </p:sp>
      <p:sp>
        <p:nvSpPr>
          <p:cNvPr id="7" name="Rectangle 6"/>
          <p:cNvSpPr/>
          <p:nvPr/>
        </p:nvSpPr>
        <p:spPr>
          <a:xfrm>
            <a:off x="713232" y="1207008"/>
            <a:ext cx="777240" cy="50292"/>
          </a:xfrm>
          <a:prstGeom prst="rect">
            <a:avLst/>
          </a:prstGeom>
          <a:solidFill>
            <a:srgbClr val="E4A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85800" y="1691640"/>
            <a:ext cx="5257800" cy="1874519"/>
          </a:xfrm>
          <a:prstGeom prst="roundRect">
            <a:avLst>
              <a:gd name="adj" fmla="val 4500"/>
            </a:avLst>
          </a:prstGeom>
          <a:solidFill>
            <a:srgbClr val="FFFFFF"/>
          </a:solidFill>
          <a:ln w="12700">
            <a:solidFill>
              <a:srgbClr val="D7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1691640"/>
            <a:ext cx="128016" cy="1874519"/>
          </a:xfrm>
          <a:prstGeom prst="rect">
            <a:avLst/>
          </a:prstGeom>
          <a:solidFill>
            <a:srgbClr val="E4A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1947672"/>
            <a:ext cx="4754880" cy="54864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0E2A47"/>
                </a:solidFill>
                <a:latin typeface="Calibri"/>
              </a:rPr>
              <a:t>Une posture de conduite du changement</a:t>
            </a:r>
          </a:p>
        </p:txBody>
      </p:sp>
      <p:sp>
        <p:nvSpPr>
          <p:cNvPr id="11" name="TextBox 10"/>
          <p:cNvSpPr txBox="1"/>
          <p:nvPr/>
        </p:nvSpPr>
        <p:spPr>
          <a:xfrm>
            <a:off x="1005840" y="2560320"/>
            <a:ext cx="4754880" cy="914400"/>
          </a:xfrm>
          <a:prstGeom prst="rect">
            <a:avLst/>
          </a:prstGeom>
          <a:noFill/>
        </p:spPr>
        <p:txBody>
          <a:bodyPr wrap="square" anchor="t" lIns="0" rIns="0" tIns="0" bIns="0">
            <a:spAutoFit/>
          </a:bodyPr>
          <a:lstStyle/>
          <a:p>
            <a:pPr algn="l">
              <a:lnSpc>
                <a:spcPct val="105000"/>
              </a:lnSpc>
              <a:spcBef>
                <a:spcPts val="0"/>
              </a:spcBef>
              <a:spcAft>
                <a:spcPts val="0"/>
              </a:spcAft>
            </a:pPr>
            <a:r>
              <a:rPr sz="1250" b="0" i="0">
                <a:solidFill>
                  <a:srgbClr val="55607A"/>
                </a:solidFill>
                <a:latin typeface="Calibri"/>
              </a:rPr>
              <a:t>Comprendre qu'une techno ne s'impose pas : elle s'accompagne, s'explique et se co-construit.</a:t>
            </a:r>
          </a:p>
        </p:txBody>
      </p:sp>
      <p:sp>
        <p:nvSpPr>
          <p:cNvPr id="12" name="Rounded Rectangle 11"/>
          <p:cNvSpPr/>
          <p:nvPr/>
        </p:nvSpPr>
        <p:spPr>
          <a:xfrm>
            <a:off x="685800" y="3840480"/>
            <a:ext cx="5257800" cy="1874519"/>
          </a:xfrm>
          <a:prstGeom prst="roundRect">
            <a:avLst>
              <a:gd name="adj" fmla="val 4500"/>
            </a:avLst>
          </a:prstGeom>
          <a:solidFill>
            <a:srgbClr val="FFFFFF"/>
          </a:solidFill>
          <a:ln w="12700">
            <a:solidFill>
              <a:srgbClr val="D7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85800" y="3840480"/>
            <a:ext cx="128016" cy="1874519"/>
          </a:xfrm>
          <a:prstGeom prst="rect">
            <a:avLst/>
          </a:prstGeom>
          <a:solidFill>
            <a:srgbClr val="E4A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4096512"/>
            <a:ext cx="4754880" cy="54864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0E2A47"/>
                </a:solidFill>
                <a:latin typeface="Calibri"/>
              </a:rPr>
              <a:t>Des compétences d'analyse</a:t>
            </a:r>
          </a:p>
        </p:txBody>
      </p:sp>
      <p:sp>
        <p:nvSpPr>
          <p:cNvPr id="15" name="TextBox 14"/>
          <p:cNvSpPr txBox="1"/>
          <p:nvPr/>
        </p:nvSpPr>
        <p:spPr>
          <a:xfrm>
            <a:off x="1005840" y="4709160"/>
            <a:ext cx="4754880" cy="914400"/>
          </a:xfrm>
          <a:prstGeom prst="rect">
            <a:avLst/>
          </a:prstGeom>
          <a:noFill/>
        </p:spPr>
        <p:txBody>
          <a:bodyPr wrap="square" anchor="t" lIns="0" rIns="0" tIns="0" bIns="0">
            <a:spAutoFit/>
          </a:bodyPr>
          <a:lstStyle/>
          <a:p>
            <a:pPr algn="l">
              <a:lnSpc>
                <a:spcPct val="105000"/>
              </a:lnSpc>
              <a:spcBef>
                <a:spcPts val="0"/>
              </a:spcBef>
              <a:spcAft>
                <a:spcPts val="0"/>
              </a:spcAft>
            </a:pPr>
            <a:r>
              <a:rPr sz="1250" b="0" i="0">
                <a:solidFill>
                  <a:srgbClr val="55607A"/>
                </a:solidFill>
                <a:latin typeface="Calibri"/>
              </a:rPr>
              <a:t>Mener des entretiens, écouter, structurer des verbatims, relier théorie et terrain.</a:t>
            </a:r>
          </a:p>
        </p:txBody>
      </p:sp>
      <p:sp>
        <p:nvSpPr>
          <p:cNvPr id="16" name="Rounded Rectangle 15"/>
          <p:cNvSpPr/>
          <p:nvPr/>
        </p:nvSpPr>
        <p:spPr>
          <a:xfrm>
            <a:off x="6217920" y="1691640"/>
            <a:ext cx="5257800" cy="1874519"/>
          </a:xfrm>
          <a:prstGeom prst="roundRect">
            <a:avLst>
              <a:gd name="adj" fmla="val 4500"/>
            </a:avLst>
          </a:prstGeom>
          <a:solidFill>
            <a:srgbClr val="FFFFFF"/>
          </a:solidFill>
          <a:ln w="12700">
            <a:solidFill>
              <a:srgbClr val="D7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17920" y="1691640"/>
            <a:ext cx="128016" cy="1874519"/>
          </a:xfrm>
          <a:prstGeom prst="rect">
            <a:avLst/>
          </a:prstGeom>
          <a:solidFill>
            <a:srgbClr val="2E6E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37959" y="1947672"/>
            <a:ext cx="4754880" cy="54864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0E2A47"/>
                </a:solidFill>
                <a:latin typeface="Calibri"/>
              </a:rPr>
              <a:t>Un livrable directement actionnable</a:t>
            </a:r>
          </a:p>
        </p:txBody>
      </p:sp>
      <p:sp>
        <p:nvSpPr>
          <p:cNvPr id="19" name="TextBox 18"/>
          <p:cNvSpPr txBox="1"/>
          <p:nvPr/>
        </p:nvSpPr>
        <p:spPr>
          <a:xfrm>
            <a:off x="6537959" y="2560320"/>
            <a:ext cx="4754880" cy="914400"/>
          </a:xfrm>
          <a:prstGeom prst="rect">
            <a:avLst/>
          </a:prstGeom>
          <a:noFill/>
        </p:spPr>
        <p:txBody>
          <a:bodyPr wrap="square" anchor="t" lIns="0" rIns="0" tIns="0" bIns="0">
            <a:spAutoFit/>
          </a:bodyPr>
          <a:lstStyle/>
          <a:p>
            <a:pPr algn="l">
              <a:lnSpc>
                <a:spcPct val="105000"/>
              </a:lnSpc>
              <a:spcBef>
                <a:spcPts val="0"/>
              </a:spcBef>
              <a:spcAft>
                <a:spcPts val="0"/>
              </a:spcAft>
            </a:pPr>
            <a:r>
              <a:rPr sz="1250" b="0" i="0">
                <a:solidFill>
                  <a:srgbClr val="55607A"/>
                </a:solidFill>
                <a:latin typeface="Calibri"/>
              </a:rPr>
              <a:t>Un plan en 3 préconisations que je peux porter concrètement chez Arla Groupe, mon entreprise d'alternance.</a:t>
            </a:r>
          </a:p>
        </p:txBody>
      </p:sp>
      <p:sp>
        <p:nvSpPr>
          <p:cNvPr id="20" name="Rounded Rectangle 19"/>
          <p:cNvSpPr/>
          <p:nvPr/>
        </p:nvSpPr>
        <p:spPr>
          <a:xfrm>
            <a:off x="6217920" y="3840480"/>
            <a:ext cx="5257800" cy="1874519"/>
          </a:xfrm>
          <a:prstGeom prst="roundRect">
            <a:avLst>
              <a:gd name="adj" fmla="val 4500"/>
            </a:avLst>
          </a:prstGeom>
          <a:solidFill>
            <a:srgbClr val="FFFFFF"/>
          </a:solidFill>
          <a:ln w="12700">
            <a:solidFill>
              <a:srgbClr val="D7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7920" y="3840480"/>
            <a:ext cx="128016" cy="1874519"/>
          </a:xfrm>
          <a:prstGeom prst="rect">
            <a:avLst/>
          </a:prstGeom>
          <a:solidFill>
            <a:srgbClr val="2E6E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37959" y="4096512"/>
            <a:ext cx="4754880" cy="54864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0E2A47"/>
                </a:solidFill>
                <a:latin typeface="Calibri"/>
              </a:rPr>
              <a:t>Une vision stratégique du numérique</a:t>
            </a:r>
          </a:p>
        </p:txBody>
      </p:sp>
      <p:sp>
        <p:nvSpPr>
          <p:cNvPr id="23" name="TextBox 22"/>
          <p:cNvSpPr txBox="1"/>
          <p:nvPr/>
        </p:nvSpPr>
        <p:spPr>
          <a:xfrm>
            <a:off x="6537959" y="4709160"/>
            <a:ext cx="4754880" cy="914400"/>
          </a:xfrm>
          <a:prstGeom prst="rect">
            <a:avLst/>
          </a:prstGeom>
          <a:noFill/>
        </p:spPr>
        <p:txBody>
          <a:bodyPr wrap="square" anchor="t" lIns="0" rIns="0" tIns="0" bIns="0">
            <a:spAutoFit/>
          </a:bodyPr>
          <a:lstStyle/>
          <a:p>
            <a:pPr algn="l">
              <a:lnSpc>
                <a:spcPct val="105000"/>
              </a:lnSpc>
              <a:spcBef>
                <a:spcPts val="0"/>
              </a:spcBef>
              <a:spcAft>
                <a:spcPts val="0"/>
              </a:spcAft>
            </a:pPr>
            <a:r>
              <a:rPr sz="1250" b="0" i="0">
                <a:solidFill>
                  <a:srgbClr val="55607A"/>
                </a:solidFill>
                <a:latin typeface="Calibri"/>
              </a:rPr>
              <a:t>Un atout pour mon projet professionnel : accompagner la transformation digitale des organisations.</a:t>
            </a:r>
          </a:p>
        </p:txBody>
      </p:sp>
      <p:sp>
        <p:nvSpPr>
          <p:cNvPr id="24" name="TextBox 23"/>
          <p:cNvSpPr txBox="1"/>
          <p:nvPr/>
        </p:nvSpPr>
        <p:spPr>
          <a:xfrm>
            <a:off x="685800" y="6428232"/>
            <a:ext cx="7315200" cy="32004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9AA6B8"/>
                </a:solidFill>
                <a:latin typeface="Calibri"/>
              </a:rPr>
              <a:t>Maxime LOUSTALET  ·  Soutenance de mémoire  ·  Eklore-ed School of Management  ·  2025–2026</a:t>
            </a:r>
          </a:p>
        </p:txBody>
      </p:sp>
      <p:sp>
        <p:nvSpPr>
          <p:cNvPr id="25" name="TextBox 24"/>
          <p:cNvSpPr txBox="1"/>
          <p:nvPr/>
        </p:nvSpPr>
        <p:spPr>
          <a:xfrm>
            <a:off x="10881360" y="6428232"/>
            <a:ext cx="640080" cy="320040"/>
          </a:xfrm>
          <a:prstGeom prst="rect">
            <a:avLst/>
          </a:prstGeom>
          <a:noFill/>
        </p:spPr>
        <p:txBody>
          <a:bodyPr wrap="square" anchor="t" lIns="0" rIns="0" tIns="0" bIns="0">
            <a:spAutoFit/>
          </a:bodyPr>
          <a:lstStyle/>
          <a:p>
            <a:pPr algn="r">
              <a:lnSpc>
                <a:spcPct val="100000"/>
              </a:lnSpc>
              <a:spcBef>
                <a:spcPts val="0"/>
              </a:spcBef>
              <a:spcAft>
                <a:spcPts val="0"/>
              </a:spcAft>
            </a:pPr>
            <a:r>
              <a:rPr sz="900" b="1" i="0">
                <a:solidFill>
                  <a:srgbClr val="9AA6B8"/>
                </a:solidFill>
                <a:latin typeface="Calibri"/>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371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46304" cy="1371600"/>
          </a:xfrm>
          <a:prstGeom prst="rect">
            <a:avLst/>
          </a:prstGeom>
          <a:solidFill>
            <a:srgbClr val="E4A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310896"/>
            <a:ext cx="10515600" cy="365760"/>
          </a:xfrm>
          <a:prstGeom prst="rect">
            <a:avLst/>
          </a:prstGeom>
          <a:noFill/>
        </p:spPr>
        <p:txBody>
          <a:bodyPr wrap="square" anchor="t" lIns="0" rIns="0" tIns="0" bIns="0">
            <a:spAutoFit/>
          </a:bodyPr>
          <a:lstStyle/>
          <a:p>
            <a:pPr algn="l">
              <a:lnSpc>
                <a:spcPct val="100000"/>
              </a:lnSpc>
              <a:spcBef>
                <a:spcPts val="0"/>
              </a:spcBef>
              <a:spcAft>
                <a:spcPts val="0"/>
              </a:spcAft>
            </a:pPr>
            <a:r>
              <a:rPr sz="1250" b="1" i="0">
                <a:solidFill>
                  <a:srgbClr val="2E6E9E"/>
                </a:solidFill>
                <a:latin typeface="Calibri"/>
              </a:rPr>
              <a:t>06 · CONCLUSION &amp; PERSPECTIVES</a:t>
            </a:r>
          </a:p>
        </p:txBody>
      </p:sp>
      <p:sp>
        <p:nvSpPr>
          <p:cNvPr id="6" name="TextBox 5"/>
          <p:cNvSpPr txBox="1"/>
          <p:nvPr/>
        </p:nvSpPr>
        <p:spPr>
          <a:xfrm>
            <a:off x="685800" y="576072"/>
            <a:ext cx="10881360" cy="640080"/>
          </a:xfrm>
          <a:prstGeom prst="rect">
            <a:avLst/>
          </a:prstGeom>
          <a:noFill/>
        </p:spPr>
        <p:txBody>
          <a:bodyPr wrap="square" anchor="t" lIns="0" rIns="0" tIns="0" bIns="0">
            <a:spAutoFit/>
          </a:bodyPr>
          <a:lstStyle/>
          <a:p>
            <a:pPr algn="l">
              <a:lnSpc>
                <a:spcPct val="100000"/>
              </a:lnSpc>
              <a:spcBef>
                <a:spcPts val="0"/>
              </a:spcBef>
              <a:spcAft>
                <a:spcPts val="0"/>
              </a:spcAft>
            </a:pPr>
            <a:r>
              <a:rPr sz="2700" b="1" i="0">
                <a:solidFill>
                  <a:srgbClr val="0E2A47"/>
                </a:solidFill>
                <a:latin typeface="Calibri"/>
              </a:rPr>
              <a:t>Ce qu'il faut retenir</a:t>
            </a:r>
          </a:p>
        </p:txBody>
      </p:sp>
      <p:sp>
        <p:nvSpPr>
          <p:cNvPr id="7" name="Rectangle 6"/>
          <p:cNvSpPr/>
          <p:nvPr/>
        </p:nvSpPr>
        <p:spPr>
          <a:xfrm>
            <a:off x="713232" y="1207008"/>
            <a:ext cx="777240" cy="50292"/>
          </a:xfrm>
          <a:prstGeom prst="rect">
            <a:avLst/>
          </a:prstGeom>
          <a:solidFill>
            <a:srgbClr val="E4A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85800" y="1572768"/>
            <a:ext cx="10817352" cy="1234440"/>
          </a:xfrm>
          <a:prstGeom prst="roundRect">
            <a:avLst>
              <a:gd name="adj" fmla="val 4500"/>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1572768"/>
            <a:ext cx="128016" cy="1234440"/>
          </a:xfrm>
          <a:prstGeom prst="rect">
            <a:avLst/>
          </a:prstGeom>
          <a:solidFill>
            <a:srgbClr val="E4A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1700784"/>
            <a:ext cx="2194560" cy="365760"/>
          </a:xfrm>
          <a:prstGeom prst="rect">
            <a:avLst/>
          </a:prstGeom>
          <a:noFill/>
        </p:spPr>
        <p:txBody>
          <a:bodyPr wrap="square" anchor="t" lIns="0" rIns="0" tIns="0" bIns="0">
            <a:spAutoFit/>
          </a:bodyPr>
          <a:lstStyle/>
          <a:p>
            <a:pPr algn="l">
              <a:lnSpc>
                <a:spcPct val="100000"/>
              </a:lnSpc>
              <a:spcBef>
                <a:spcPts val="0"/>
              </a:spcBef>
              <a:spcAft>
                <a:spcPts val="0"/>
              </a:spcAft>
            </a:pPr>
            <a:r>
              <a:rPr sz="1250" b="1" i="0">
                <a:solidFill>
                  <a:srgbClr val="E4A11B"/>
                </a:solidFill>
                <a:latin typeface="Calibri"/>
              </a:rPr>
              <a:t>LA RÉPONSE</a:t>
            </a:r>
          </a:p>
        </p:txBody>
      </p:sp>
      <p:sp>
        <p:nvSpPr>
          <p:cNvPr id="11" name="TextBox 10"/>
          <p:cNvSpPr txBox="1"/>
          <p:nvPr/>
        </p:nvSpPr>
        <p:spPr>
          <a:xfrm>
            <a:off x="1005840" y="2048256"/>
            <a:ext cx="10241280" cy="731520"/>
          </a:xfrm>
          <a:prstGeom prst="rect">
            <a:avLst/>
          </a:prstGeom>
          <a:noFill/>
        </p:spPr>
        <p:txBody>
          <a:bodyPr wrap="square" anchor="t" lIns="0" rIns="0" tIns="0" bIns="0">
            <a:spAutoFit/>
          </a:bodyPr>
          <a:lstStyle/>
          <a:p>
            <a:pPr algn="l">
              <a:lnSpc>
                <a:spcPct val="105000"/>
              </a:lnSpc>
              <a:spcBef>
                <a:spcPts val="0"/>
              </a:spcBef>
              <a:spcAft>
                <a:spcPts val="0"/>
              </a:spcAft>
            </a:pPr>
            <a:r>
              <a:rPr sz="1350" b="0" i="0">
                <a:solidFill>
                  <a:srgbClr val="FFFFFF"/>
                </a:solidFill>
                <a:latin typeface="Calibri"/>
              </a:rPr>
              <a:t>L'adoption de l'IA en PME dépend autant de facteurs humains qu'organisationnels. Les spécificités de la PME — dirigeant, proximité, traditions — ne sont pas un frein insurmontable, mais le </a:t>
            </a:r>
            <a:r>
              <a:rPr sz="1350" b="1" i="0">
                <a:solidFill>
                  <a:srgbClr val="FFFFFF"/>
                </a:solidFill>
                <a:latin typeface="Calibri"/>
              </a:rPr>
              <a:t>cadre à prendre en compte</a:t>
            </a:r>
            <a:r>
              <a:rPr sz="1350" b="0" i="0">
                <a:solidFill>
                  <a:srgbClr val="FFFFFF"/>
                </a:solidFill>
                <a:latin typeface="Calibri"/>
              </a:rPr>
              <a:t> pour réussir l'intégration.</a:t>
            </a:r>
          </a:p>
        </p:txBody>
      </p:sp>
      <p:sp>
        <p:nvSpPr>
          <p:cNvPr id="12" name="Rounded Rectangle 11"/>
          <p:cNvSpPr/>
          <p:nvPr/>
        </p:nvSpPr>
        <p:spPr>
          <a:xfrm>
            <a:off x="685800" y="2971800"/>
            <a:ext cx="3456432" cy="2880360"/>
          </a:xfrm>
          <a:prstGeom prst="roundRect">
            <a:avLst>
              <a:gd name="adj" fmla="val 45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127248"/>
            <a:ext cx="3108960" cy="365760"/>
          </a:xfrm>
          <a:prstGeom prst="rect">
            <a:avLst/>
          </a:prstGeom>
          <a:noFill/>
        </p:spPr>
        <p:txBody>
          <a:bodyPr wrap="square" anchor="t" lIns="0" rIns="0" tIns="0" bIns="0">
            <a:spAutoFit/>
          </a:bodyPr>
          <a:lstStyle/>
          <a:p>
            <a:pPr algn="l">
              <a:lnSpc>
                <a:spcPct val="100000"/>
              </a:lnSpc>
              <a:spcBef>
                <a:spcPts val="0"/>
              </a:spcBef>
              <a:spcAft>
                <a:spcPts val="0"/>
              </a:spcAft>
            </a:pPr>
            <a:r>
              <a:rPr sz="1250" b="1" i="0">
                <a:solidFill>
                  <a:srgbClr val="0E2A47"/>
                </a:solidFill>
                <a:latin typeface="Calibri"/>
              </a:rPr>
              <a:t>FACTEURS CLÉS</a:t>
            </a:r>
          </a:p>
        </p:txBody>
      </p:sp>
      <p:sp>
        <p:nvSpPr>
          <p:cNvPr id="14" name="TextBox 13"/>
          <p:cNvSpPr txBox="1"/>
          <p:nvPr/>
        </p:nvSpPr>
        <p:spPr>
          <a:xfrm>
            <a:off x="914400" y="3566160"/>
            <a:ext cx="3108960" cy="2194560"/>
          </a:xfrm>
          <a:prstGeom prst="rect">
            <a:avLst/>
          </a:prstGeom>
          <a:noFill/>
        </p:spPr>
        <p:txBody>
          <a:bodyPr wrap="square" lIns="0" rIns="0" tIns="0" bIns="0">
            <a:spAutoFit/>
          </a:bodyPr>
          <a:lstStyle/>
          <a:p>
            <a:pPr>
              <a:lnSpc>
                <a:spcPct val="106000"/>
              </a:lnSpc>
              <a:spcBef>
                <a:spcPts val="0"/>
              </a:spcBef>
              <a:spcAft>
                <a:spcPts val="800"/>
              </a:spcAft>
            </a:pPr>
            <a:r>
              <a:rPr sz="1250" b="1">
                <a:solidFill>
                  <a:srgbClr val="E4A11B"/>
                </a:solidFill>
                <a:latin typeface="Calibri"/>
              </a:rPr>
              <a:t>▪  </a:t>
            </a:r>
            <a:r>
              <a:rPr sz="1250">
                <a:solidFill>
                  <a:srgbClr val="1A2033"/>
                </a:solidFill>
                <a:latin typeface="Calibri"/>
              </a:rPr>
              <a:t>Rôle du dirigeant</a:t>
            </a:r>
          </a:p>
          <a:p>
            <a:pPr>
              <a:lnSpc>
                <a:spcPct val="106000"/>
              </a:lnSpc>
              <a:spcBef>
                <a:spcPts val="0"/>
              </a:spcBef>
              <a:spcAft>
                <a:spcPts val="800"/>
              </a:spcAft>
            </a:pPr>
            <a:r>
              <a:rPr sz="1250" b="1">
                <a:solidFill>
                  <a:srgbClr val="E4A11B"/>
                </a:solidFill>
                <a:latin typeface="Calibri"/>
              </a:rPr>
              <a:t>▪  </a:t>
            </a:r>
            <a:r>
              <a:rPr sz="1250">
                <a:solidFill>
                  <a:srgbClr val="1A2033"/>
                </a:solidFill>
                <a:latin typeface="Calibri"/>
              </a:rPr>
              <a:t>Proximité entre salariés</a:t>
            </a:r>
          </a:p>
          <a:p>
            <a:pPr>
              <a:lnSpc>
                <a:spcPct val="106000"/>
              </a:lnSpc>
              <a:spcBef>
                <a:spcPts val="0"/>
              </a:spcBef>
              <a:spcAft>
                <a:spcPts val="800"/>
              </a:spcAft>
            </a:pPr>
            <a:r>
              <a:rPr sz="1250" b="1">
                <a:solidFill>
                  <a:srgbClr val="E4A11B"/>
                </a:solidFill>
                <a:latin typeface="Calibri"/>
              </a:rPr>
              <a:t>▪  </a:t>
            </a:r>
            <a:r>
              <a:rPr sz="1250">
                <a:solidFill>
                  <a:srgbClr val="1A2033"/>
                </a:solidFill>
                <a:latin typeface="Calibri"/>
              </a:rPr>
              <a:t>Contraintes financières</a:t>
            </a:r>
          </a:p>
          <a:p>
            <a:pPr>
              <a:lnSpc>
                <a:spcPct val="106000"/>
              </a:lnSpc>
              <a:spcBef>
                <a:spcPts val="0"/>
              </a:spcBef>
              <a:spcAft>
                <a:spcPts val="800"/>
              </a:spcAft>
            </a:pPr>
            <a:r>
              <a:rPr sz="1250" b="1">
                <a:solidFill>
                  <a:srgbClr val="E4A11B"/>
                </a:solidFill>
                <a:latin typeface="Calibri"/>
              </a:rPr>
              <a:t>▪  </a:t>
            </a:r>
            <a:r>
              <a:rPr sz="1250">
                <a:solidFill>
                  <a:srgbClr val="1A2033"/>
                </a:solidFill>
                <a:latin typeface="Calibri"/>
              </a:rPr>
              <a:t>Identités professionnelles</a:t>
            </a:r>
          </a:p>
        </p:txBody>
      </p:sp>
      <p:sp>
        <p:nvSpPr>
          <p:cNvPr id="15" name="Rounded Rectangle 14"/>
          <p:cNvSpPr/>
          <p:nvPr/>
        </p:nvSpPr>
        <p:spPr>
          <a:xfrm>
            <a:off x="4370832" y="2971800"/>
            <a:ext cx="3456432" cy="2880360"/>
          </a:xfrm>
          <a:prstGeom prst="roundRect">
            <a:avLst>
              <a:gd name="adj" fmla="val 45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99432" y="3127248"/>
            <a:ext cx="3108960" cy="365760"/>
          </a:xfrm>
          <a:prstGeom prst="rect">
            <a:avLst/>
          </a:prstGeom>
          <a:noFill/>
        </p:spPr>
        <p:txBody>
          <a:bodyPr wrap="square" anchor="t" lIns="0" rIns="0" tIns="0" bIns="0">
            <a:spAutoFit/>
          </a:bodyPr>
          <a:lstStyle/>
          <a:p>
            <a:pPr algn="l">
              <a:lnSpc>
                <a:spcPct val="100000"/>
              </a:lnSpc>
              <a:spcBef>
                <a:spcPts val="0"/>
              </a:spcBef>
              <a:spcAft>
                <a:spcPts val="0"/>
              </a:spcAft>
            </a:pPr>
            <a:r>
              <a:rPr sz="1250" b="1" i="0">
                <a:solidFill>
                  <a:srgbClr val="A84530"/>
                </a:solidFill>
                <a:latin typeface="Calibri"/>
              </a:rPr>
              <a:t>LIMITES</a:t>
            </a:r>
          </a:p>
        </p:txBody>
      </p:sp>
      <p:sp>
        <p:nvSpPr>
          <p:cNvPr id="17" name="TextBox 16"/>
          <p:cNvSpPr txBox="1"/>
          <p:nvPr/>
        </p:nvSpPr>
        <p:spPr>
          <a:xfrm>
            <a:off x="4599432" y="3566160"/>
            <a:ext cx="3108960" cy="2194560"/>
          </a:xfrm>
          <a:prstGeom prst="rect">
            <a:avLst/>
          </a:prstGeom>
          <a:noFill/>
        </p:spPr>
        <p:txBody>
          <a:bodyPr wrap="square" lIns="0" rIns="0" tIns="0" bIns="0">
            <a:spAutoFit/>
          </a:bodyPr>
          <a:lstStyle/>
          <a:p>
            <a:pPr>
              <a:lnSpc>
                <a:spcPct val="106000"/>
              </a:lnSpc>
              <a:spcBef>
                <a:spcPts val="0"/>
              </a:spcBef>
              <a:spcAft>
                <a:spcPts val="800"/>
              </a:spcAft>
            </a:pPr>
            <a:r>
              <a:rPr sz="1250" b="1">
                <a:solidFill>
                  <a:srgbClr val="C0533B"/>
                </a:solidFill>
                <a:latin typeface="Calibri"/>
              </a:rPr>
              <a:t>▪  </a:t>
            </a:r>
            <a:r>
              <a:rPr sz="1250">
                <a:solidFill>
                  <a:srgbClr val="1A2033"/>
                </a:solidFill>
                <a:latin typeface="Calibri"/>
              </a:rPr>
              <a:t>8 entretiens, une seule PME</a:t>
            </a:r>
          </a:p>
          <a:p>
            <a:pPr>
              <a:lnSpc>
                <a:spcPct val="106000"/>
              </a:lnSpc>
              <a:spcBef>
                <a:spcPts val="0"/>
              </a:spcBef>
              <a:spcAft>
                <a:spcPts val="800"/>
              </a:spcAft>
            </a:pPr>
            <a:r>
              <a:rPr sz="1250" b="1">
                <a:solidFill>
                  <a:srgbClr val="C0533B"/>
                </a:solidFill>
                <a:latin typeface="Calibri"/>
              </a:rPr>
              <a:t>▪  </a:t>
            </a:r>
            <a:r>
              <a:rPr sz="1250">
                <a:solidFill>
                  <a:srgbClr val="1A2033"/>
                </a:solidFill>
                <a:latin typeface="Calibri"/>
              </a:rPr>
              <a:t>Résultats non généralisables</a:t>
            </a:r>
          </a:p>
          <a:p>
            <a:pPr>
              <a:lnSpc>
                <a:spcPct val="106000"/>
              </a:lnSpc>
              <a:spcBef>
                <a:spcPts val="0"/>
              </a:spcBef>
              <a:spcAft>
                <a:spcPts val="800"/>
              </a:spcAft>
            </a:pPr>
            <a:r>
              <a:rPr sz="1250" b="1">
                <a:solidFill>
                  <a:srgbClr val="C0533B"/>
                </a:solidFill>
                <a:latin typeface="Calibri"/>
              </a:rPr>
              <a:t>▪  </a:t>
            </a:r>
            <a:r>
              <a:rPr sz="1250">
                <a:solidFill>
                  <a:srgbClr val="1A2033"/>
                </a:solidFill>
                <a:latin typeface="Calibri"/>
              </a:rPr>
              <a:t>Part de subjectivité</a:t>
            </a:r>
          </a:p>
          <a:p>
            <a:pPr>
              <a:lnSpc>
                <a:spcPct val="106000"/>
              </a:lnSpc>
              <a:spcBef>
                <a:spcPts val="0"/>
              </a:spcBef>
              <a:spcAft>
                <a:spcPts val="800"/>
              </a:spcAft>
            </a:pPr>
            <a:r>
              <a:rPr sz="1250" b="1">
                <a:solidFill>
                  <a:srgbClr val="C0533B"/>
                </a:solidFill>
                <a:latin typeface="Calibri"/>
              </a:rPr>
              <a:t>▪  </a:t>
            </a:r>
            <a:r>
              <a:rPr sz="1250">
                <a:solidFill>
                  <a:srgbClr val="1A2033"/>
                </a:solidFill>
                <a:latin typeface="Calibri"/>
              </a:rPr>
              <a:t>Instantané dans le temps</a:t>
            </a:r>
          </a:p>
        </p:txBody>
      </p:sp>
      <p:sp>
        <p:nvSpPr>
          <p:cNvPr id="18" name="Rounded Rectangle 17"/>
          <p:cNvSpPr/>
          <p:nvPr/>
        </p:nvSpPr>
        <p:spPr>
          <a:xfrm>
            <a:off x="8046720" y="2971800"/>
            <a:ext cx="3456432" cy="2880360"/>
          </a:xfrm>
          <a:prstGeom prst="roundRect">
            <a:avLst>
              <a:gd name="adj" fmla="val 4500"/>
            </a:avLst>
          </a:prstGeom>
          <a:solidFill>
            <a:srgbClr val="EC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75320" y="3127248"/>
            <a:ext cx="3108960" cy="365760"/>
          </a:xfrm>
          <a:prstGeom prst="rect">
            <a:avLst/>
          </a:prstGeom>
          <a:noFill/>
        </p:spPr>
        <p:txBody>
          <a:bodyPr wrap="square" anchor="t" lIns="0" rIns="0" tIns="0" bIns="0">
            <a:spAutoFit/>
          </a:bodyPr>
          <a:lstStyle/>
          <a:p>
            <a:pPr algn="l">
              <a:lnSpc>
                <a:spcPct val="100000"/>
              </a:lnSpc>
              <a:spcBef>
                <a:spcPts val="0"/>
              </a:spcBef>
              <a:spcAft>
                <a:spcPts val="0"/>
              </a:spcAft>
            </a:pPr>
            <a:r>
              <a:rPr sz="1250" b="1" i="0">
                <a:solidFill>
                  <a:srgbClr val="257448"/>
                </a:solidFill>
                <a:latin typeface="Calibri"/>
              </a:rPr>
              <a:t>OUVERTURE</a:t>
            </a:r>
          </a:p>
        </p:txBody>
      </p:sp>
      <p:sp>
        <p:nvSpPr>
          <p:cNvPr id="20" name="TextBox 19"/>
          <p:cNvSpPr txBox="1"/>
          <p:nvPr/>
        </p:nvSpPr>
        <p:spPr>
          <a:xfrm>
            <a:off x="8275320" y="3566160"/>
            <a:ext cx="3063240" cy="2194560"/>
          </a:xfrm>
          <a:prstGeom prst="rect">
            <a:avLst/>
          </a:prstGeom>
          <a:noFill/>
        </p:spPr>
        <p:txBody>
          <a:bodyPr wrap="square" anchor="t" lIns="0" rIns="0" tIns="0" bIns="0">
            <a:spAutoFit/>
          </a:bodyPr>
          <a:lstStyle/>
          <a:p>
            <a:pPr algn="l">
              <a:lnSpc>
                <a:spcPct val="108000"/>
              </a:lnSpc>
              <a:spcBef>
                <a:spcPts val="0"/>
              </a:spcBef>
              <a:spcAft>
                <a:spcPts val="0"/>
              </a:spcAft>
            </a:pPr>
            <a:r>
              <a:rPr sz="1250" b="0" i="0">
                <a:solidFill>
                  <a:srgbClr val="1A2033"/>
                </a:solidFill>
                <a:latin typeface="Calibri"/>
              </a:rPr>
              <a:t>Prolonger par une étude </a:t>
            </a:r>
            <a:r>
              <a:rPr sz="1250" b="1" i="0">
                <a:solidFill>
                  <a:srgbClr val="1A2033"/>
                </a:solidFill>
                <a:latin typeface="Calibri"/>
              </a:rPr>
              <a:t>quantitative</a:t>
            </a:r>
            <a:r>
              <a:rPr sz="1250" b="0" i="0">
                <a:solidFill>
                  <a:srgbClr val="55607A"/>
                </a:solidFill>
                <a:latin typeface="Calibri"/>
              </a:rPr>
              <a:t> auprès de tous les salariés, pour hiérarchiser les freins et prioriser les préconisations selon les besoins réels de l'entreprise.</a:t>
            </a:r>
          </a:p>
        </p:txBody>
      </p:sp>
      <p:sp>
        <p:nvSpPr>
          <p:cNvPr id="21" name="TextBox 20"/>
          <p:cNvSpPr txBox="1"/>
          <p:nvPr/>
        </p:nvSpPr>
        <p:spPr>
          <a:xfrm>
            <a:off x="685800" y="6428232"/>
            <a:ext cx="7315200" cy="32004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9AA6B8"/>
                </a:solidFill>
                <a:latin typeface="Calibri"/>
              </a:rPr>
              <a:t>Maxime LOUSTALET  ·  Soutenance de mémoire  ·  Eklore-ed School of Management  ·  2025–2026</a:t>
            </a:r>
          </a:p>
        </p:txBody>
      </p:sp>
      <p:sp>
        <p:nvSpPr>
          <p:cNvPr id="22" name="TextBox 21"/>
          <p:cNvSpPr txBox="1"/>
          <p:nvPr/>
        </p:nvSpPr>
        <p:spPr>
          <a:xfrm>
            <a:off x="10881360" y="6428232"/>
            <a:ext cx="640080" cy="320040"/>
          </a:xfrm>
          <a:prstGeom prst="rect">
            <a:avLst/>
          </a:prstGeom>
          <a:noFill/>
        </p:spPr>
        <p:txBody>
          <a:bodyPr wrap="square" anchor="t" lIns="0" rIns="0" tIns="0" bIns="0">
            <a:spAutoFit/>
          </a:bodyPr>
          <a:lstStyle/>
          <a:p>
            <a:pPr algn="r">
              <a:lnSpc>
                <a:spcPct val="100000"/>
              </a:lnSpc>
              <a:spcBef>
                <a:spcPts val="0"/>
              </a:spcBef>
              <a:spcAft>
                <a:spcPts val="0"/>
              </a:spcAft>
            </a:pPr>
            <a:r>
              <a:rPr sz="900" b="1" i="0">
                <a:solidFill>
                  <a:srgbClr val="9AA6B8"/>
                </a:solidFill>
                <a:latin typeface="Calibri"/>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56032"/>
          </a:xfrm>
          <a:prstGeom prst="rect">
            <a:avLst/>
          </a:prstGeom>
          <a:solidFill>
            <a:srgbClr val="E4A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91695" cy="256032"/>
          </a:xfrm>
          <a:prstGeom prst="rect">
            <a:avLst/>
          </a:prstGeom>
          <a:solidFill>
            <a:srgbClr val="E4A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331720"/>
            <a:ext cx="10515600" cy="1097280"/>
          </a:xfrm>
          <a:prstGeom prst="rect">
            <a:avLst/>
          </a:prstGeom>
          <a:noFill/>
        </p:spPr>
        <p:txBody>
          <a:bodyPr wrap="square" anchor="t" lIns="0" rIns="0" tIns="0" bIns="0">
            <a:spAutoFit/>
          </a:bodyPr>
          <a:lstStyle/>
          <a:p>
            <a:pPr algn="l">
              <a:lnSpc>
                <a:spcPct val="100000"/>
              </a:lnSpc>
              <a:spcBef>
                <a:spcPts val="0"/>
              </a:spcBef>
              <a:spcAft>
                <a:spcPts val="0"/>
              </a:spcAft>
            </a:pPr>
            <a:r>
              <a:rPr sz="4000" b="1" i="0">
                <a:solidFill>
                  <a:srgbClr val="FFFFFF"/>
                </a:solidFill>
                <a:latin typeface="Calibri"/>
              </a:rPr>
              <a:t>Merci de votre attention</a:t>
            </a:r>
          </a:p>
        </p:txBody>
      </p:sp>
      <p:sp>
        <p:nvSpPr>
          <p:cNvPr id="6" name="TextBox 5"/>
          <p:cNvSpPr txBox="1"/>
          <p:nvPr/>
        </p:nvSpPr>
        <p:spPr>
          <a:xfrm>
            <a:off x="822960" y="3429000"/>
            <a:ext cx="10515600" cy="640080"/>
          </a:xfrm>
          <a:prstGeom prst="rect">
            <a:avLst/>
          </a:prstGeom>
          <a:noFill/>
        </p:spPr>
        <p:txBody>
          <a:bodyPr wrap="square" anchor="t" lIns="0" rIns="0" tIns="0" bIns="0">
            <a:spAutoFit/>
          </a:bodyPr>
          <a:lstStyle/>
          <a:p>
            <a:pPr algn="l">
              <a:lnSpc>
                <a:spcPct val="100000"/>
              </a:lnSpc>
              <a:spcBef>
                <a:spcPts val="0"/>
              </a:spcBef>
              <a:spcAft>
                <a:spcPts val="0"/>
              </a:spcAft>
            </a:pPr>
            <a:r>
              <a:rPr sz="1700" b="0" i="1">
                <a:solidFill>
                  <a:srgbClr val="C6D3E2"/>
                </a:solidFill>
                <a:latin typeface="Calibri"/>
              </a:rPr>
              <a:t>Je suis à votre disposition pour échanger et répondre à vos questions.</a:t>
            </a:r>
          </a:p>
        </p:txBody>
      </p:sp>
      <p:sp>
        <p:nvSpPr>
          <p:cNvPr id="7" name="Rectangle 6"/>
          <p:cNvSpPr/>
          <p:nvPr/>
        </p:nvSpPr>
        <p:spPr>
          <a:xfrm>
            <a:off x="850392" y="3246120"/>
            <a:ext cx="2011680" cy="45720"/>
          </a:xfrm>
          <a:prstGeom prst="rect">
            <a:avLst/>
          </a:prstGeom>
          <a:solidFill>
            <a:srgbClr val="E4A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4937760"/>
            <a:ext cx="10515600" cy="45720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FFFFF"/>
                </a:solidFill>
                <a:latin typeface="Calibri"/>
              </a:rPr>
              <a:t>Maxime LOUSTALET</a:t>
            </a:r>
            <a:r>
              <a:rPr sz="1500" b="0" i="0">
                <a:solidFill>
                  <a:srgbClr val="9FB0C4"/>
                </a:solidFill>
                <a:latin typeface="Calibri"/>
              </a:rPr>
              <a:t>   ·   L'intégration de l'IA dans les PME — le cas d'Arla Groupe</a:t>
            </a:r>
          </a:p>
        </p:txBody>
      </p:sp>
      <p:sp>
        <p:nvSpPr>
          <p:cNvPr id="9" name="TextBox 8"/>
          <p:cNvSpPr txBox="1"/>
          <p:nvPr/>
        </p:nvSpPr>
        <p:spPr>
          <a:xfrm>
            <a:off x="822960" y="5349240"/>
            <a:ext cx="10515600" cy="457200"/>
          </a:xfrm>
          <a:prstGeom prst="rect">
            <a:avLst/>
          </a:prstGeom>
          <a:noFill/>
        </p:spPr>
        <p:txBody>
          <a:bodyPr wrap="square" anchor="t" lIns="0" rIns="0" tIns="0" bIns="0">
            <a:spAutoFit/>
          </a:bodyPr>
          <a:lstStyle/>
          <a:p>
            <a:pPr algn="l">
              <a:lnSpc>
                <a:spcPct val="100000"/>
              </a:lnSpc>
              <a:spcBef>
                <a:spcPts val="0"/>
              </a:spcBef>
              <a:spcAft>
                <a:spcPts val="0"/>
              </a:spcAft>
            </a:pPr>
            <a:r>
              <a:rPr sz="1250" b="0" i="0">
                <a:solidFill>
                  <a:srgbClr val="7F92AC"/>
                </a:solidFill>
                <a:latin typeface="Calibri"/>
              </a:rPr>
              <a:t>Directeur de recherche : Victor COMBES   ·   Eklore-ed School of Management   ·   2025–2026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